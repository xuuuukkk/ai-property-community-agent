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8" Type="http://schemas.openxmlformats.org/officeDocument/2006/relationships/tableStyles" Target="tableStyles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'1280px', height: '720px', position: 'relative', overflow: 'hidden', background: '#172133' }}&gt;&#10;  &lt;img src=&quot;assets/hero_community.png&quot; style={{ position: 'absolute', inset: 0, width: '100%', height: '100%', objectFit: 'cover' }} /&gt;&#10;  &lt;div style={{ position: 'absolute', inset: 0, background: 'linear-gradient(90deg, rgba(23,33,51,0.9) 0%, rgba(23,33,51,0.55) 45%, rgba(23,33,51,0.05) 100%)' }} /&gt;&#10;  &lt;div style={{ position: 'absolute', left: 64, top: 0, height: '100%', display: 'flex', flexDirection: 'column', justifyContent: 'center', width: 820, color: '#FBFCFA' }}&gt;&#10;    &lt;div style={{ display: 'flex', alignItems: 'center', gap: 16, marginBottom: 28 }}&gt;&#10;      &lt;span style={{ color: '#BD9B56', fontSize: 36, lineHeight: 1 }}&gt;◆&lt;/span&gt;&#10;      &lt;span style={{ fontSize: 17, letterSpacing: '0.3em', color: '#BD9B56' }}&gt;YUNXI GARDEN&lt;/span&gt;&#10;    &lt;/div&gt;&#10;    &lt;h1 style={{ fontSize: 60, fontWeight: 'bold', margin: 0, lineHeight: 1.2, color: '#FBFCFA' }}&gt;AI 物业社区智能体&lt;/h1&gt;&#10;    &lt;p style={{ fontSize: 24, marginTop: 26, color: '#FBFCFA', opacity: 0.88, lineHeight: 1.5 }}&gt;基于 LLM + Agent + RAG 的 AI Native 物业社区管理平台&lt;/p&gt;&#10;    &lt;div style={{ width: 88, height: 3, background: '#BD9B56', marginTop: 40 }} /&gt;&#10;    &lt;p style={{ fontSize: 14, marginTop: 24, color: '#BD9B56', letterSpacing: '0.18em' }}&gt;SCHOOL PROJECT · 2026&lt;/p&gt;&#10;  &lt;/div&gt;&#10;  &lt;div style={{ position: 'absolute', left: 64, bottom: 28, color: '#BD9B56', fontSize: 13, letterSpacing: '0.12em' }}&gt;云溪花园 · 智慧社区&lt;/div&gt;&#10;  &lt;div style={{ position: 'absolute', right: 28, bottom: 28, color: 'rgba(189,155,86,0.75)', fontSize: 13 }}&gt;01 / 15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72133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72133">
                  <a:alpha val="90000"/>
                </a:srgbClr>
              </a:gs>
              <a:gs pos="45000">
                <a:srgbClr val="172133">
                  <a:alpha val="55000"/>
                </a:srgbClr>
              </a:gs>
              <a:gs pos="100000">
                <a:srgbClr val="172133">
                  <a:alpha val="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2095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700">
                <a:solidFill>
                  <a:srgbClr val="BD9B56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20574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D9B56"/>
                </a:solidFill>
                <a:latin typeface="Microsoft YaHei"/>
                <a:ea typeface="Microsoft YaHei"/>
              </a:rPr>
              <a:t>YUNXI GARDEN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628900"/>
            <a:ext cx="7810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500" b="1">
                <a:solidFill>
                  <a:srgbClr val="FBFCFA"/>
                </a:solidFill>
                <a:latin typeface="Microsoft YaHei"/>
                <a:ea typeface="Microsoft YaHei"/>
              </a:rPr>
              <a:t>AI </a:t>
            </a:r>
            <a:r>
              <a:rPr lang="zh-CN" sz="4500" b="1">
                <a:solidFill>
                  <a:srgbClr val="FBFCFA"/>
                </a:solidFill>
                <a:latin typeface="Microsoft YaHei"/>
                <a:ea typeface="Microsoft YaHei"/>
              </a:rPr>
              <a:t>物业社区智能体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505325"/>
            <a:ext cx="838200" cy="28575"/>
          </a:xfrm>
          <a:prstGeom prst="rect">
            <a:avLst/>
          </a:prstGeom>
          <a:solidFill>
            <a:srgbClr val="BD9B5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762500"/>
            <a:ext cx="781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D9B56"/>
                </a:solidFill>
                <a:latin typeface="Microsoft YaHei"/>
                <a:ea typeface="Microsoft YaHei"/>
              </a:rPr>
              <a:t>SCHOOL PROJECT · 2026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705225"/>
            <a:ext cx="7810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FBFCFA">
                    <a:alpha val="88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-US" sz="1800">
                <a:solidFill>
                  <a:srgbClr val="FBFCFA">
                    <a:alpha val="88000"/>
                  </a:srgbClr>
                </a:solidFill>
                <a:latin typeface="Microsoft YaHei"/>
                <a:ea typeface="Microsoft YaHei"/>
              </a:rPr>
              <a:t> LLM + Agent + RAG </a:t>
            </a:r>
            <a:r>
              <a:rPr lang="zh-CN" sz="1800">
                <a:solidFill>
                  <a:srgbClr val="FBFCFA">
                    <a:alpha val="88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1800">
                <a:solidFill>
                  <a:srgbClr val="FBFCFA">
                    <a:alpha val="88000"/>
                  </a:srgbClr>
                </a:solidFill>
                <a:latin typeface="Microsoft YaHei"/>
                <a:ea typeface="Microsoft YaHei"/>
              </a:rPr>
              <a:t> AI Native </a:t>
            </a:r>
            <a:r>
              <a:rPr lang="zh-CN" sz="1800">
                <a:solidFill>
                  <a:srgbClr val="FBFCFA">
                    <a:alpha val="88000"/>
                  </a:srgbClr>
                </a:solidFill>
                <a:latin typeface="Microsoft YaHei"/>
                <a:ea typeface="Microsoft YaHei"/>
              </a:rPr>
              <a:t>物业社区管理平台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506200" y="64389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D9B56">
                    <a:alpha val="75000"/>
                  </a:srgbClr>
                </a:solidFill>
                <a:latin typeface="Microsoft YaHei"/>
                <a:ea typeface="Microsoft YaHei"/>
              </a:rPr>
              <a:t>01 / 15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4, letterSpacing: '0.3em', marginBottom: 10 }}&gt;CONTENTS&lt;/div&gt;&#10;    &lt;h2 style={{ fontSize: 34, fontWeight: 'bold', color: '#172133', margin: 0 }}&gt;目录&lt;/h2&gt;&#10;    &lt;div style={{ width: 64, height: 3, background: '#BD9B56', marginTop: 16 }} /&gt;&#10;  &lt;/div&gt;&#10;  &lt;div style={{ flex: 1, display: 'flex', alignItems: 'center' }}&gt;&#10;    &lt;div style={{ width: '100%', display: 'flex', flexDirection: 'column', gap: 20 }}&gt;&#10;      &lt;div style={{ display: 'flex', alignItems: 'center', gap: 28, paddingBottom: 18, borderBottom: '1px solid rgba(34,57,94,0.12)' }}&gt;&#10;        &lt;span style={{ color: '#BD9B56', fontSize: 40, fontWeight: 'bold', lineHeight: 1, minWidth: 72, fontFamily: 'Inter, sans-serif' }}&gt;01&lt;/span&gt;&#10;        &lt;div style={{ flex: 1 }}&gt;&#10;          &lt;div style={{ fontSize: 22, fontWeight: 'bold', color: '#172133' }}&gt;项目背景与规模&lt;/div&gt;&#10;          &lt;div style={{ fontSize: 14, color: '#6b7075', marginTop: 6 }}&gt;传统物业痛点 · 虚拟社区「云溪花园」数据资产&lt;/div&gt;&#10;        &lt;/div&gt;&#10;      &lt;/div&gt;&#10;      &lt;div style={{ display: 'flex', alignItems: 'center', gap: 28, paddingBottom: 18, borderBottom: '1px solid rgba(34,57,94,0.12)' }}&gt;&#10;        &lt;span style={{ color: '#BD9B56', fontSize: 40, fontWeight: 'bold', lineHeight: 1, minWidth: 72, fontFamily: 'Inter, sans-serif' }}&gt;02&lt;/span&gt;&#10;        &lt;div style={{ flex: 1 }}&gt;&#10;          &lt;div style={{ fontSize: 22, fontWeight: 'bold', color: '#172133' }}&gt;技术构建过程&lt;/div&gt;&#10;          &lt;div style={{ fontSize: 14, color: '#6b7075', marginTop: 6 }}&gt;数据库设计 → 后端 → 前端 → AI Agent → RAG 知识库&lt;/div&gt;&#10;        &lt;/div&gt;&#10;      &lt;/div&gt;&#10;      &lt;div style={{ display: 'flex', alignItems: 'center', gap: 28, paddingBottom: 18, borderBottom: '1px solid rgba(34,57,94,0.12)' }}&gt;&#10;        &lt;span style={{ color: '#BD9B56', fontSize: 40, fontWeight: 'bold', lineHeight: 1, minWidth: 72, fontFamily: 'Inter, sans-serif' }}&gt;03&lt;/span&gt;&#10;        &lt;div style={{ flex: 1 }}&gt;&#10;          &lt;div style={{ fontSize: 22, fontWeight: 'bold', color: '#172133' }}&gt;成果与验证&lt;/div&gt;&#10;          &lt;div style={{ fontSize: 14, color: '#6b7075', marginTop: 6 }}&gt;三条功能闭环 · 量化评估指标&lt;/div&gt;&#10;        &lt;/div&gt;&#10;      &lt;/div&gt;&#10;      &lt;div style={{ display: 'flex', alignItems: 'center', gap: 28 }}&gt;&#10;        &lt;span style={{ color: '#BD9B56', fontSize: 40, fontWeight: 'bold', lineHeight: 1, minWidth: 72, fontFamily: 'Inter, sans-serif' }}&gt;04&lt;/span&gt;&#10;        &lt;div style={{ flex: 1 }}&gt;&#10;          &lt;div style={{ fontSize: 22, fontWeight: 'bold', color: '#172133' }}&gt;总结与展望&lt;/div&gt;&#10;          &lt;div style={{ fontSize: 14, color: '#6b7075', marginTop: 6 }}&gt;项目价值 · 在线演示入口&lt;/div&gt;&#10;        &lt;/div&gt;&#10;      &lt;/div&gt;&#10;    &lt;/div&gt;&#10;  &lt;/div&gt;&#10;  &lt;div style={{ flexShrink: 0, height: 44, display: 'flex', alignItems: 'flex-end', justifyContent: 'space-between' }}&gt;&#10;    &lt;span style={{ color: '#BD9B56', fontSize: 12, letterSpacing: '0.1em' }}&gt;云溪花园 · 智慧社区&lt;/span&gt;&#10;    &lt;span style={{ color: '#a09b8c', fontSize: 12 }}&gt;02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6381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72133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1181100"/>
            <a:ext cx="609600" cy="28575"/>
          </a:xfrm>
          <a:prstGeom prst="rect">
            <a:avLst/>
          </a:prstGeom>
          <a:solidFill>
            <a:srgbClr val="BD9B56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09600" y="2124075"/>
            <a:ext cx="10972800" cy="666750"/>
          </a:xfrm>
          <a:custGeom>
            <a:pathLst>
              <a:path w="1152" h="70">
                <a:moveTo>
                  <a:pt x="0" y="69"/>
                </a:moveTo>
                <a:lnTo>
                  <a:pt x="1152" y="69"/>
                </a:lnTo>
                <a:lnTo>
                  <a:pt x="115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22395E">
              <a:alpha val="12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685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D9B56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562100" y="2124075"/>
            <a:ext cx="1002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72133"/>
                </a:solidFill>
                <a:latin typeface="Microsoft YaHei"/>
                <a:ea typeface="Microsoft YaHei"/>
              </a:rPr>
              <a:t>项目背景与规模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562100" y="2438400"/>
            <a:ext cx="1002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传统物业痛点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虚拟社区「云溪花园」数据资产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2971800"/>
            <a:ext cx="10972800" cy="666750"/>
          </a:xfrm>
          <a:custGeom>
            <a:pathLst>
              <a:path w="1152" h="70">
                <a:moveTo>
                  <a:pt x="0" y="69"/>
                </a:moveTo>
                <a:lnTo>
                  <a:pt x="1152" y="69"/>
                </a:lnTo>
                <a:lnTo>
                  <a:pt x="115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22395E">
              <a:alpha val="12000"/>
            </a:srgbClr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2981325"/>
            <a:ext cx="685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D9B56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562100" y="2971800"/>
            <a:ext cx="1002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72133"/>
                </a:solidFill>
                <a:latin typeface="Microsoft YaHei"/>
                <a:ea typeface="Microsoft YaHei"/>
              </a:rPr>
              <a:t>技术构建过程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562100" y="3286125"/>
            <a:ext cx="1002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数据库设计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后端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→ AI Agent → RAG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3819525"/>
            <a:ext cx="10972800" cy="666750"/>
          </a:xfrm>
          <a:custGeom>
            <a:pathLst>
              <a:path w="1152" h="70">
                <a:moveTo>
                  <a:pt x="0" y="69"/>
                </a:moveTo>
                <a:lnTo>
                  <a:pt x="1152" y="69"/>
                </a:lnTo>
                <a:lnTo>
                  <a:pt x="115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22395E">
              <a:alpha val="12000"/>
            </a:srgbClr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3829050"/>
            <a:ext cx="685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D9B56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562100" y="3819525"/>
            <a:ext cx="1002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72133"/>
                </a:solidFill>
                <a:latin typeface="Microsoft YaHei"/>
                <a:ea typeface="Microsoft YaHei"/>
              </a:rPr>
              <a:t>成果与验证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562100" y="4133850"/>
            <a:ext cx="1002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三条功能闭环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量化评估指标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4676775"/>
            <a:ext cx="685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D9B56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562100" y="4667250"/>
            <a:ext cx="1002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72133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562100" y="4981575"/>
            <a:ext cx="1002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项目价值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在线演示入口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12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1 · 项目背景&lt;/div&gt;&#10;    &lt;h2 style={{ fontSize: 30, fontWeight: 'bold', color: '#172133', margin: 0, lineHeight: 1.3 }}&gt;传统物业的三重困境&lt;/h2&gt;&#10;    &lt;div style={{ fontSize: 14, color: '#6b7075', marginTop: 8 }}&gt;业务、数据、知识「三张皮」，需要用 AI 重新缝合&lt;/div&gt;&#10;  &lt;/div&gt;&#10;  &lt;div style={{ flex: 1, display: 'flex', alignItems: 'center' }}&gt;&#10;    &lt;div style={{ width: '100%', display: 'flex', flexDirection: 'column', gap: 18 }}&gt;&#10;      &lt;div style={{ display: 'flex', gap: 20, background: '#fff', borderRadius: 10, padding: '20px 24px', boxShadow: '0 4px 16px rgba(23,33,51,0.06)', borderLeft: '4px solid #BD9B56' }}&gt;&#10;        &lt;span style={{ color: '#BD9B56', fontSize: 22, lineHeight: 1.2, flexShrink: 0 }}&gt;!&lt;/span&gt;&#10;        &lt;div&gt;&#10;          &lt;div style={{ fontSize: 17, fontWeight: 'bold', color: '#172133', marginBottom: 6 }}&gt;信息孤岛&lt;/div&gt;&#10;          &lt;p style={{ fontSize: 14, color: '#5F5E5A', margin: 0, lineHeight: 1.6 }}&gt;业主报修、费用缴纳、巡检记录分散在多个系统，彼此不打通，物业无法掌握完整的社区运行状态，业主也看不到工单的处理进度。&lt;/p&gt;&#10;        &lt;/div&gt;&#10;      &lt;/div&gt;&#10;      &lt;div style={{ display: 'flex', gap: 20, background: '#fff', borderRadius: 10, padding: '20px 24px', boxShadow: '0 4px 16px rgba(23,33,51,0.06)', borderLeft: '4px solid #BD9B56' }}&gt;&#10;        &lt;span style={{ color: '#BD9B56', fontSize: 22, lineHeight: 1.2, flexShrink: 0 }}&gt;!&lt;/span&gt;&#10;        &lt;div&gt;&#10;          &lt;div style={{ fontSize: 17, fontWeight: 'bold', color: '#172133', marginBottom: 6 }}&gt;响应迟缓&lt;/div&gt;&#10;          &lt;p style={{ fontSize: 14, color: '#5F5E5A', margin: 0, lineHeight: 1.6 }}&gt;传统报修依赖电话和微信群，客服人工登记后再手动派单，从「业主报修」到「师傅上门」平均要数小时甚至隔天，响应效率低。&lt;/p&gt;&#10;        &lt;/div&gt;&#10;      &lt;/div&gt;&#10;      &lt;div style={{ display: 'flex', gap: 20, background: '#fff', borderRadius: 10, padding: '20px 24px', boxShadow: '0 4px 16px rgba(23,33,51,0.06)', borderLeft: '4px solid #BD9B56' }}&gt;&#10;        &lt;span style={{ color: '#BD9B56', fontSize: 22, lineHeight: 1.2, flexShrink: 0 }}&gt;!&lt;/span&gt;&#10;        &lt;div&gt;&#10;          &lt;div style={{ fontSize: 17, fontWeight: 'bold', color: '#172133', marginBottom: 6 }}&gt;隐性知识散落&lt;/div&gt;&#10;          &lt;p style={{ fontSize: 14, color: '#5F5E5A', margin: 0, lineHeight: 1.6 }}&gt;装修施工时间、停车规则、宠物管理等规定，往往只存在于物业员工的个人经验里，新人上岗难以快速掌握，业主咨询也得不到统一准确的答案。&lt;/p&gt;&#10;        &lt;/div&gt;&#10;      &lt;/div&gt;&#10;    &lt;/div&gt;&#10;  &lt;/div&gt;&#10;  &lt;div style={{ flexShrink: 0, height: 44, display: 'flex', alignItems: 'flex-end', justifyContent: 'space-between' }}&gt;&#10;    &lt;span style={{ color: '#BD9B56', fontSize: 12, letterSpacing: '0.1em' }}&gt;云溪花园 · 智慧社区&lt;/span&gt;&#10;    &lt;span style={{ color: '#a09b8c', fontSize: 12 }}&gt;03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01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项目背景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传统物业的三重困境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11334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业务、数据、知识「三张皮」，需要用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重新缝合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47700" y="2162175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47700" y="2162175"/>
            <a:ext cx="10972800" cy="895350"/>
          </a:xfrm>
          <a:custGeom>
            <a:pathLst>
              <a:path w="1152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76300" y="2352675"/>
            <a:ext cx="66675" cy="5143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>
                <a:solidFill>
                  <a:srgbClr val="BD9B56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33475" y="2352675"/>
            <a:ext cx="773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信息孤岛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33475" y="2609850"/>
            <a:ext cx="7734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业主报修、费用缴纳、巡检记录分散在多个系统，彼此不打通，物业无法掌握完整的社区运行状态，业主也看不到工单的处理进度。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47700" y="3228975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647700" y="3228975"/>
            <a:ext cx="10972800" cy="895350"/>
          </a:xfrm>
          <a:custGeom>
            <a:pathLst>
              <a:path w="1152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76300" y="3419475"/>
            <a:ext cx="66675" cy="5143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>
                <a:solidFill>
                  <a:srgbClr val="BD9B56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33475" y="3419475"/>
            <a:ext cx="7600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响应迟缓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33475" y="3676650"/>
            <a:ext cx="76009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传统报修依赖电话和微信群，客服人工登记后再手动派单，从「业主报修」到「师傅上门」平均要数小时甚至隔天，响应效率低。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47700" y="4295775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47700" y="4295775"/>
            <a:ext cx="10972800" cy="895350"/>
          </a:xfrm>
          <a:custGeom>
            <a:pathLst>
              <a:path w="1152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76300" y="4486275"/>
            <a:ext cx="66675" cy="5143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>
                <a:solidFill>
                  <a:srgbClr val="BD9B56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33475" y="4486275"/>
            <a:ext cx="853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隐性知识散落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33475" y="4743450"/>
            <a:ext cx="8534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装修施工时间、停车规则、宠物管理等规定，往往只存在于物业员工的个人经验里，新人上岗难以快速掌握，业主咨询也得不到统一准确的答案。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 style={{ width: '1280px', height: '720px', background: '#FBFCFA', position: 'relative', padding: '32px 64px', boxSizing: 'border-box', display: 'flex', flexDirection: 'column' }}&gt;&#10;  &lt;div style={{ flexShrink: 0 }}&gt;&#10;    &lt;div style={{ color: '#BD9B56', fontSize: 13, letterSpacing: '0.25em', marginBottom: 6 }}&gt;01 · 项目目标&lt;/div&gt;&#10;    &lt;h2 style={{ fontSize: 30, fontWeight: 'bold', color: '#172133', margin: 0, lineHeight: 1.3 }}&gt;本项目要验证的四件事&lt;/h2&gt;&#10;  &lt;/div&gt;&#10;  &lt;div style={{ flex: 1, display: 'flex', alignItems: 'center', minHeight: 0 }}&gt;&#10;    &lt;div style={{ width: '100%', display: 'grid', gridTemplateColumns: '1fr 1fr', gap: 16 }}&gt;&#10;      &lt;div style={{ background: '#fff', borderRadius: 10, padding: '18px 22px', boxShadow: '0 4px 16px rgba(23,33,51,0.06)', borderTop: '3px solid #BD9B56' }}&gt;&#10;        &lt;div style={{ fontSize: 17, fontWeight: 'bold', color: '#172133', marginBottom: 6 }}&gt;1.  AI 能否理解业务意图&lt;/div&gt;&#10;        &lt;p style={{ fontSize: 14, color: '#5F5E5A', margin: 0, lineHeight: 1.55 }}&gt;用户说一句「厨房漏水了」，系统能否准确识别为报修需求，而非闲聊或误判。&lt;/p&gt;&#10;      &lt;/div&gt;&#10;      &lt;div style={{ background: '#fff', borderRadius: 10, padding: '18px 22px', boxShadow: '0 4px 16px rgba(23,33,51,0.06)', borderTop: '3px solid #BD9B56' }}&gt;&#10;        &lt;div style={{ fontSize: 17, fontWeight: 'bold', color: '#172133', marginBottom: 6 }}&gt;2.  Agent 能否调用业务工具&lt;/div&gt;&#10;        &lt;p style={{ fontSize: 14, color: '#5F5E5A', margin: 0, lineHeight: 1.55 }}&gt;识别意图后，能否自动创建工单、查询费用、检索知识，而不是停留在「回答」层面。&lt;/p&gt;&#10;      &lt;/div&gt;&#10;      &lt;div style={{ background: '#fff', borderRadius: 10, padding: '18px 22px', boxShadow: '0 4px 16px rgba(23,33,51,0.06)', borderTop: '3px solid #BD9B56' }}&gt;&#10;        &lt;div style={{ fontSize: 17, fontWeight: 'bold', color: '#172133', marginBottom: 6 }}&gt;3.  能否跑通业务闭环&lt;/div&gt;&#10;        &lt;p style={{ fontSize: 14, color: '#5F5E5A', margin: 0, lineHeight: 1.55 }}&gt;从报修到派单到完成，AI 是否真正参与了业务流程，而非只在前端加了一个聊天窗口。&lt;/p&gt;&#10;      &lt;/div&gt;&#10;      &lt;div style={{ background: '#fff', borderRadius: 10, padding: '18px 22px', boxShadow: '0 4px 16px rgba(23,33,51,0.06)', borderTop: '3px solid #BD9B56' }}&gt;&#10;        &lt;div style={{ fontSize: 17, fontWeight: 'bold', color: '#172133', marginBottom: 6 }}&gt;4.  RAG 能否准确回答&lt;/div&gt;&#10;        &lt;p style={{ fontSize: 14, color: '#5F5E5A', margin: 0, lineHeight: 1.55 }}&gt;对「装修几点施工」这类制度问题，能否检索到正确依据并给出准确、有出处的答案。&lt;/p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04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01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项目目标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本项目要验证的四件事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1600200"/>
            <a:ext cx="109728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609600" y="1600200"/>
            <a:ext cx="10972800" cy="885825"/>
          </a:xfrm>
          <a:custGeom>
            <a:pathLst>
              <a:path w="1152" h="93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177165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72133"/>
                </a:solidFill>
                <a:latin typeface="Microsoft YaHei"/>
                <a:ea typeface="Microsoft YaHei"/>
              </a:rPr>
              <a:t>1.  AI </a:t>
            </a: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能否理解业务意图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19150" y="2028825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用户说一句「厨房漏水了」，系统能否准确识别为报修需求，而非闲聊或误判。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9600" y="2638425"/>
            <a:ext cx="109728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609600" y="2638425"/>
            <a:ext cx="10972800" cy="885825"/>
          </a:xfrm>
          <a:custGeom>
            <a:pathLst>
              <a:path w="1152" h="93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19150" y="2809875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72133"/>
                </a:solidFill>
                <a:latin typeface="Microsoft YaHei"/>
                <a:ea typeface="Microsoft YaHei"/>
              </a:rPr>
              <a:t>2.  Agent </a:t>
            </a: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能否调用业务工具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9150" y="3067050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识别意图后，能否自动创建工单、查询费用、检索知识，而不是停留在「回答」层面。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3676650"/>
            <a:ext cx="109728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09600" y="3676650"/>
            <a:ext cx="10972800" cy="885825"/>
          </a:xfrm>
          <a:custGeom>
            <a:pathLst>
              <a:path w="1152" h="93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19150" y="384810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72133"/>
                </a:solidFill>
                <a:latin typeface="Microsoft YaHei"/>
                <a:ea typeface="Microsoft YaHei"/>
              </a:rPr>
              <a:t>3.  </a:t>
            </a: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能否跑通业务闭环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从报修到派单到完成，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是否真正参与了业务流程，而非只在前端加了一个聊天窗口。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4714875"/>
            <a:ext cx="109728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4714875"/>
            <a:ext cx="10972800" cy="885825"/>
          </a:xfrm>
          <a:custGeom>
            <a:pathLst>
              <a:path w="1152" h="93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19150" y="4886325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72133"/>
                </a:solidFill>
                <a:latin typeface="Microsoft YaHei"/>
                <a:ea typeface="Microsoft YaHei"/>
              </a:rPr>
              <a:t>4.  RAG </a:t>
            </a: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能否准确回答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19150" y="5143500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对「装修几点施工」这类制度问题，能否检索到正确依据并给出准确、有出处的答案。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918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style={{ width: '1280px', height: '720px', background: '#FBFCFA', position: 'relative', padding: '34px 64px', boxSizing: 'border-box', display: 'flex', flexDirection: 'column' }}&gt;&#10;  &lt;div style={{ flexShrink: 0 }}&gt;&#10;    &lt;div style={{ color: '#BD9B56', fontSize: 13, letterSpacing: '0.25em', marginBottom: 6 }}&gt;01 · 项目规模&lt;/div&gt;&#10;    &lt;h2 style={{ fontSize: 30, fontWeight: 'bold', color: '#172133', margin: 0, lineHeight: 1.3 }}&gt;虚拟社区数据资产：云溪花园&lt;/h2&gt;&#10;    &lt;div style={{ fontSize: 14, color: '#6b7075', marginTop: 6 }}&gt;为验证 AI 能力，构建了一个高仿真的数字化社区——不是几条演示假数据，而是覆盖完整业务场景的仿真数据&lt;/div&gt;&#10;  &lt;/div&gt;&#10;  &lt;div style={{ flex: 1, display: 'flex', alignItems: 'center', justifyContent: 'center' }}&gt;&#10;    &lt;div style={{ width: '100%', display: 'flex', gap: 18 }}&gt;&#10;      &lt;div style={{ flex: 1, background: '#fff', borderRadius: 12, padding: '24px 16px', textAlign: 'center', boxShadow: '0 6px 24px rgba(23,33,51,0.08)', borderTop: '4px solid #BD9B56' }}&gt;&#10;        &lt;div style={{ fontSize: 12, color: '#BD9B56', letterSpacing: '0.2em', marginBottom: 12 }}&gt;空间规模&lt;/div&gt;&#10;        &lt;div style={{ fontSize: 40, fontWeight: 'bold', color: '#172133', lineHeight: 1, fontFamily: 'Inter, sans-serif' }}&gt;8 栋&lt;/div&gt;&#10;        &lt;div style={{ fontSize: 13, color: '#5F5E5A', marginTop: 12, lineHeight: 1.6 }}&gt;1664 套房源&lt;br/&gt;入住约 1200 户&lt;/div&gt;&#10;      &lt;/div&gt;&#10;      &lt;div style={{ flex: 1, background: '#fff', borderRadius: 12, padding: '24px 16px', textAlign: 'center', boxShadow: '0 6px 24px rgba(23,33,51,0.08)', borderTop: '4px solid #BD9B56' }}&gt;&#10;        &lt;div style={{ fontSize: 12, color: '#BD9B56', letterSpacing: '0.2em', marginBottom: 12 }}&gt;用户体系&lt;/div&gt;&#10;        &lt;div style={{ fontSize: 40, fontWeight: 'bold', color: '#172133', lineHeight: 1, fontFamily: 'Inter, sans-serif' }}&gt;275&lt;/div&gt;&#10;        &lt;div style={{ fontSize: 13, color: '#5F5E5A', marginTop: 12, lineHeight: 1.6 }}&gt;200 业主 + 75 物业&lt;br/&gt;10 管理 / 15 维修 / 50 一线&lt;/div&gt;&#10;      &lt;/div&gt;&#10;      &lt;div style={{ flex: 1, background: '#fff', borderRadius: 12, padding: '24px 16px', textAlign: 'center', boxShadow: '0 6px 24px rgba(23,33,51,0.08)', borderTop: '4px solid #BD9B56' }}&gt;&#10;        &lt;div style={{ fontSize: 12, color: '#BD9B56', letterSpacing: '0.2em', marginBottom: 12 }}&gt;业务数据&lt;/div&gt;&#10;        &lt;div style={{ fontSize: 40, fontWeight: 'bold', color: '#172133', lineHeight: 1, fontFamily: 'Inter, sans-serif' }}&gt;746&lt;/div&gt;&#10;        &lt;div style={{ fontSize: 13, color: '#5F5E5A', marginTop: 12, lineHeight: 1.6 }}&gt;账单 + 50 工单 + 24 公告&lt;br/&gt;4 类费用 · 6 类工单&lt;/div&gt;&#10;      &lt;/div&gt;&#10;      &lt;div style={{ flex: 1, background: 'linear-gradient(135deg, #172133 0%, #22395E 100%)', borderRadius: 12, padding: '24px 16px', textAlign: 'center', boxShadow: '0 6px 24px rgba(23,33,51,0.18)', borderTop: '4px solid #BD9B56' }}&gt;&#10;        &lt;div style={{ fontSize: 12, color: '#BD9B56', letterSpacing: '0.2em', marginBottom: 12 }}&gt;知识库&lt;/div&gt;&#10;        &lt;div style={{ fontSize: 40, fontWeight: 'bold', color: '#FBFCFA', lineHeight: 1, fontFamily: 'Inter, sans-serif' }}&gt;22&lt;/div&gt;&#10;        &lt;div style={{ fontSize: 13, color: 'rgba(251,252,250,0.85)', marginTop: 12, lineHeight: 1.6 }}&gt;知识文档 → 99 切片&lt;br/&gt;7 个分类 · pgvector&lt;/div&gt;&#10;      &lt;/div&gt;&#10;    &lt;/div&gt;&#10;  &lt;/div&gt;&#10;  &lt;div style={{ flexShrink: 0, background: 'rgba(189,155,86,0.10)', borderLeft: '4px solid #BD9B56', borderRadius: '0 8px 8px 0', padding: '12px 20px', marginBottom: 6 }}&gt;&#10;    &lt;p style={{ fontSize: 13, color: '#172133', margin: 0, lineHeight: 1.6 }}&gt;&lt;span style={{ color: '#BD9B56', fontWeight: 'bold' }}&gt;数据可复现：&lt;/span&gt;全部数据来自 &lt;span style={{ fontFamily: 'Inter, sans-serif' }}&gt;data/seed/&lt;/span&gt; 目录 8 个 SQL 种子文件，一键导入即可复现整套社区，保证演示效果真实、可验证。&lt;/p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05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01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项目规模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虚拟社区数据资产：云溪花园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10382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为验证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能力，构建了一个高仿真的数字化社区——不是几条演示假数据，而是覆盖完整业务场景的仿真数据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2790825"/>
            <a:ext cx="261937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09600" y="2790825"/>
            <a:ext cx="2619375" cy="1323975"/>
          </a:xfrm>
          <a:custGeom>
            <a:pathLst>
              <a:path w="275" h="139">
                <a:moveTo>
                  <a:pt x="264" y="0"/>
                </a:moveTo>
                <a:cubicBezTo>
                  <a:pt x="269" y="0"/>
                  <a:pt x="274" y="4"/>
                  <a:pt x="275" y="10"/>
                </a:cubicBezTo>
                <a:cubicBezTo>
                  <a:pt x="274" y="6"/>
                  <a:pt x="271" y="4"/>
                  <a:pt x="26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62000" y="3019425"/>
            <a:ext cx="23145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空间规模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3276600"/>
            <a:ext cx="2314575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000">
                <a:solidFill>
                  <a:srgbClr val="172133"/>
                </a:solidFill>
                <a:latin typeface="Inter"/>
                <a:ea typeface="Inter"/>
              </a:rPr>
              <a:t>8 </a:t>
            </a:r>
            <a:r>
              <a:rPr lang="zh-CN" sz="3000">
                <a:solidFill>
                  <a:srgbClr val="172133"/>
                </a:solidFill>
                <a:latin typeface="Inter"/>
                <a:ea typeface="Inter"/>
              </a:rPr>
              <a:t>栋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62000" y="3848100"/>
            <a:ext cx="2314575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400425" y="2790825"/>
            <a:ext cx="2609850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3400425" y="2790825"/>
            <a:ext cx="2609850" cy="1323975"/>
          </a:xfrm>
          <a:custGeom>
            <a:pathLst>
              <a:path w="274" h="139">
                <a:moveTo>
                  <a:pt x="263" y="0"/>
                </a:moveTo>
                <a:cubicBezTo>
                  <a:pt x="268" y="0"/>
                  <a:pt x="273" y="4"/>
                  <a:pt x="274" y="10"/>
                </a:cubicBezTo>
                <a:cubicBezTo>
                  <a:pt x="273" y="6"/>
                  <a:pt x="270" y="4"/>
                  <a:pt x="26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2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552825" y="3019425"/>
            <a:ext cx="2305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用户体系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552825" y="3276600"/>
            <a:ext cx="23050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000">
                <a:solidFill>
                  <a:srgbClr val="172133"/>
                </a:solidFill>
                <a:latin typeface="Inter"/>
                <a:ea typeface="Inter"/>
              </a:rPr>
              <a:t>275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552825" y="3848100"/>
            <a:ext cx="230505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181725" y="2790825"/>
            <a:ext cx="261937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6181725" y="2790825"/>
            <a:ext cx="2619375" cy="1323975"/>
          </a:xfrm>
          <a:custGeom>
            <a:pathLst>
              <a:path w="275" h="139">
                <a:moveTo>
                  <a:pt x="264" y="0"/>
                </a:moveTo>
                <a:cubicBezTo>
                  <a:pt x="269" y="0"/>
                  <a:pt x="274" y="4"/>
                  <a:pt x="275" y="10"/>
                </a:cubicBezTo>
                <a:cubicBezTo>
                  <a:pt x="274" y="6"/>
                  <a:pt x="271" y="4"/>
                  <a:pt x="26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334125" y="3019425"/>
            <a:ext cx="23145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业务数据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334125" y="3276600"/>
            <a:ext cx="2314575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000">
                <a:solidFill>
                  <a:srgbClr val="172133"/>
                </a:solidFill>
                <a:latin typeface="Inter"/>
                <a:ea typeface="Inter"/>
              </a:rPr>
              <a:t>746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334125" y="3848100"/>
            <a:ext cx="2314575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972550" y="2790825"/>
            <a:ext cx="2609850" cy="1323975"/>
          </a:xfrm>
          <a:prstGeom prst="roundRect">
            <a:avLst>
              <a:gd name="adj" fmla="val 8633"/>
            </a:avLst>
          </a:prstGeom>
          <a:gradFill>
            <a:gsLst>
              <a:gs pos="0">
                <a:srgbClr val="172133"/>
              </a:gs>
              <a:gs pos="100000">
                <a:srgbClr val="22395E"/>
              </a:gs>
            </a:gsLst>
            <a:lin ang="2700000" scaled="1"/>
          </a:gradFill>
          <a:ln/>
          <a:effectLst>
            <a:outerShdw blurRad="228600" dist="57150" dir="5400000">
              <a:srgbClr val="17213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8972550" y="2790825"/>
            <a:ext cx="2609850" cy="1323975"/>
          </a:xfrm>
          <a:custGeom>
            <a:pathLst>
              <a:path w="274" h="139">
                <a:moveTo>
                  <a:pt x="263" y="0"/>
                </a:moveTo>
                <a:cubicBezTo>
                  <a:pt x="268" y="0"/>
                  <a:pt x="273" y="4"/>
                  <a:pt x="274" y="10"/>
                </a:cubicBezTo>
                <a:cubicBezTo>
                  <a:pt x="273" y="6"/>
                  <a:pt x="270" y="4"/>
                  <a:pt x="26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2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9124950" y="3019425"/>
            <a:ext cx="2305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124950" y="3276600"/>
            <a:ext cx="23050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000">
                <a:solidFill>
                  <a:srgbClr val="FBFCFA"/>
                </a:solidFill>
                <a:latin typeface="Inter"/>
                <a:ea typeface="Inter"/>
              </a:rPr>
              <a:t>22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124950" y="3848100"/>
            <a:ext cx="230505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47700" y="5629275"/>
            <a:ext cx="10972800" cy="466725"/>
          </a:xfrm>
          <a:custGeom>
            <a:pathLst>
              <a:path w="1152" h="49">
                <a:moveTo>
                  <a:pt x="0" y="0"/>
                </a:moveTo>
                <a:lnTo>
                  <a:pt x="1144" y="0"/>
                </a:lnTo>
                <a:cubicBezTo>
                  <a:pt x="1148" y="0"/>
                  <a:pt x="1152" y="4"/>
                  <a:pt x="1152" y="8"/>
                </a:cubicBezTo>
                <a:lnTo>
                  <a:pt x="1152" y="41"/>
                </a:lnTo>
                <a:cubicBezTo>
                  <a:pt x="1152" y="45"/>
                  <a:pt x="1148" y="49"/>
                  <a:pt x="1144" y="49"/>
                </a:cubicBezTo>
                <a:lnTo>
                  <a:pt x="0" y="49"/>
                </a:lnTo>
                <a:lnTo>
                  <a:pt x="0" y="4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D9B56">
              <a:alpha val="10000"/>
            </a:srgbClr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47700" y="5629275"/>
            <a:ext cx="10972800" cy="466725"/>
          </a:xfrm>
          <a:custGeom>
            <a:pathLst>
              <a:path w="1152" h="49">
                <a:moveTo>
                  <a:pt x="4" y="49"/>
                </a:moveTo>
                <a:lnTo>
                  <a:pt x="0" y="49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38200" y="5743575"/>
            <a:ext cx="105537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BD9B56"/>
                </a:solidFill>
                <a:latin typeface="Microsoft YaHei"/>
                <a:ea typeface="Microsoft YaHei"/>
              </a:rPr>
              <a:t>数据可复现：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全部数据来自</a:t>
            </a: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 </a:t>
            </a: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data/seed/</a:t>
            </a: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目录</a:t>
            </a: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 8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 SQL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种子文件，一键导入即可复现整套社区，保证演示效果真实、可验证。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91875" y="63912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6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2 · 技术构建过程&lt;/div&gt;&#10;    &lt;h2 style={{ fontSize: 30, fontWeight: 'bold', color: '#172133', margin: 0, lineHeight: 1.3 }}&gt;技术架构：六层分离的 AI Native 系统&lt;/h2&gt;&#10;  &lt;/div&gt;&#10;  &lt;div style={{ flex: 1, display: 'flex', alignItems: 'center', gap: 32 }}&gt;&#10;    &lt;div style={{ flex: '0 0 620px', background: '#fff', borderRadius: 12, padding: '22px 24px', boxShadow: '0 6px 24px rgba(23,33,51,0.08)' }}&gt;&#10;      &lt;svg width=&quot;572&quot; height=&quot;470&quot; viewBox=&quot;0 0 572 470&quot;&gt;&#10;        &lt;defs&gt;&#10;          &lt;marker id=&quot;ar6&quot; viewBox=&quot;0 0 10 10&quot; refX=&quot;9&quot; refY=&quot;5&quot; markerWidth=&quot;6&quot; markerHeight=&quot;6&quot; orient=&quot;auto&quot;&gt;&#10;            &lt;path d=&quot;M0 0L10 5L0 10z&quot; fill=&quot;#22395E&quot; /&gt;&#10;          &lt;/marker&gt;&#10;        &lt;/defs&gt;&#10;        &lt;g fontFamily=&quot;Inter, sans-serif&quot;&gt;&#10;          &lt;rect x=&quot;36&quot; y=&quot;18&quot; width=&quot;500&quot; height=&quot;52&quot; rx=&quot;6&quot; fill=&quot;#F5F8F8&quot; stroke=&quot;#22395E&quot; strokeWidth=&quot;1.5&quot; /&gt;&#10;          &lt;text x=&quot;286&quot; y=&quot;49&quot; textAnchor=&quot;middle&quot; fontSize=&quot;14&quot; fontWeight=&quot;bold&quot; fill=&quot;#172133&quot;&gt;客户端 · 业主 / 物业 / 维修 三端&lt;/text&gt;&#10;          &lt;line x1=&quot;286&quot; y1=&quot;70&quot; x2=&quot;286&quot; y2=&quot;92&quot; stroke=&quot;#22395E&quot; strokeWidth=&quot;1.2&quot; markerEnd=&quot;url(#ar6)&quot; /&gt;&#10;          &lt;rect x=&quot;36&quot; y=&quot;96&quot; width=&quot;500&quot; height=&quot;48&quot; rx=&quot;6&quot; fill=&quot;#F5F8F8&quot; stroke=&quot;#22395E&quot; strokeWidth=&quot;1.5&quot; /&gt;&#10;          &lt;text x=&quot;286&quot; y=&quot;125&quot; textAnchor=&quot;middle&quot; fontSize=&quot;14&quot; fontWeight=&quot;bold&quot; fill=&quot;#172133&quot;&gt;API 网关 · FastAPI&lt;/text&gt;&#10;          &lt;line x1=&quot;286&quot; y1=&quot;144&quot; x2=&quot;286&quot; y2=&quot;166&quot; stroke=&quot;#22395E&quot; strokeWidth=&quot;1.2&quot; markerEnd=&quot;url(#ar6)&quot; /&gt;&#10;          &lt;rect x=&quot;36&quot; y=&quot;170&quot; width=&quot;500&quot; height=&quot;70&quot; rx=&quot;6&quot; fill=&quot;rgba(34,57,94,0.08)&quot; stroke=&quot;#22395E&quot; strokeWidth=&quot;2&quot; /&gt;&#10;          &lt;text x=&quot;64&quot; y=&quot;196&quot; fontSize=&quot;13&quot; fontWeight=&quot;bold&quot; fill=&quot;#BD9B56&quot;&gt;AI Agent 层&lt;/text&gt;&#10;          &lt;text x=&quot;286&quot; y=&quot;218&quot; textAnchor=&quot;middle&quot; fontSize=&quot;14&quot; fontWeight=&quot;bold&quot; fill=&quot;#172133&quot;&gt;Router Agent + 领域 Agent + 工具调用&lt;/text&gt;&#10;          &lt;line x1=&quot;286&quot; y1=&quot;240&quot; x2=&quot;286&quot; y2=&quot;262&quot; stroke=&quot;#22395E&quot; strokeWidth=&quot;1.2&quot; markerEnd=&quot;url(#ar6)&quot; /&gt;&#10;          &lt;rect x=&quot;36&quot; y=&quot;266&quot; width=&quot;500&quot; height=&quot;56&quot; rx=&quot;6&quot; fill=&quot;rgba(189,155,86,0.08)&quot; stroke=&quot;#BD9B56&quot; strokeWidth=&quot;1.5&quot; /&gt;&#10;          &lt;text x=&quot;64&quot; y=&quot;290&quot; fontSize=&quot;13&quot; fontWeight=&quot;bold&quot; fill=&quot;#BD9B56&quot;&gt;业务服务层&lt;/text&gt;&#10;          &lt;text x=&quot;286&quot; y=&quot;312&quot; textAnchor=&quot;middle&quot; fontSize=&quot;14&quot; fontWeight=&quot;bold&quot; fill=&quot;#172133&quot;&gt;工单 · 费用 · 巡检 · 通知 · 反馈 · 知识库&lt;/text&gt;&#10;          &lt;line x1=&quot;286&quot; y1=&quot;322&quot; x2=&quot;286&quot; y2=&quot;344&quot; stroke=&quot;#22395E&quot; strokeWidth=&quot;1.2&quot; markerEnd=&quot;url(#ar6)&quot; /&gt;&#10;          &lt;rect x=&quot;36&quot; y=&quot;348&quot; width=&quot;240&quot; height=&quot;60&quot; rx=&quot;6&quot; fill=&quot;#F5F8F8&quot; stroke=&quot;#22395E&quot; strokeWidth=&quot;1.5&quot; /&gt;&#10;          &lt;text x=&quot;156&quot; y=&quot;374&quot; textAnchor=&quot;middle&quot; fontSize=&quot;13&quot; fontWeight=&quot;bold&quot; fill=&quot;#BD9B56&quot;&gt;PostgreSQL + pgvector&lt;/text&gt;&#10;          &lt;text x=&quot;156&quot; y=&quot;394&quot; textAnchor=&quot;middle&quot; fontSize=&quot;11&quot; fill=&quot;#5F5E5A&quot;&gt;事务数据 + 向量检索&lt;/text&gt;&#10;          &lt;rect x=&quot;296&quot; y=&quot;348&quot; width=&quot;240&quot; height=&quot;60&quot; rx=&quot;6&quot; fill=&quot;#F5F8F8&quot; stroke=&quot;#22395E&quot; strokeWidth=&quot;1.5&quot; /&gt;&#10;          &lt;text x=&quot;416&quot; y=&quot;374&quot; textAnchor=&quot;middle&quot; fontSize=&quot;13&quot; fontWeight=&quot;bold&quot; fill=&quot;#BD9B56&quot;&gt;Redis + 智谱 GLM&lt;/text&gt;&#10;          &lt;text x=&quot;416&quot; y=&quot;394&quot; textAnchor=&quot;middle&quot; fontSize=&quot;11&quot; fill=&quot;#5F5E5A&quot;&gt;缓存 · LLM · embedding&lt;/text&gt;&#10;        &lt;/g&gt;&#10;      &lt;/svg&gt;&#10;    &lt;/div&gt;&#10;    &lt;div style={{ flex: 1, display: 'flex', flexDirection: 'column', gap: 18 }}&gt;&#10;      &lt;div&gt;&#10;        &lt;div style={{ fontSize: 14, color: '#BD9B56', fontWeight: 'bold', letterSpacing: '0.1em', marginBottom: 6 }}&gt;1.  Agent 与业务解耦&lt;/div&gt;&#10;        &lt;p style={{ fontSize: 14, color: '#5F5E5A', margin: 0, lineHeight: 1.65 }}&gt;AI Agent 只负责理解意图、编排工具，不直接操作数据库，严守 Agent → Tool → Service → Repository → Database 分层，杜绝 LLM 直连 SQL 的风险。&lt;/p&gt;&#10;      &lt;/div&gt;&#10;      &lt;div&gt;&#10;        &lt;div style={{ fontSize: 14, color: '#BD9B56', fontWeight: 'bold', letterSpacing: '0.1em', marginBottom: 6 }}&gt;2.  pgvector 一库双角色&lt;/div&gt;&#10;        &lt;p style={{ fontSize: 14, color: '#5F5E5A', margin: 0, lineHeight: 1.65 }}&gt;PostgreSQL 同时承载业务数据（工单、费用）和向量数据（知识切片），无需额外向量数据库，降低部署与运维复杂度。&lt;/p&gt;&#10;      &lt;/div&gt;&#10;      &lt;div&gt;&#10;        &lt;div style={{ fontSize: 14, color: '#BD9B56', fontWeight: 'bold', letterSpacing: '0.1em', marginBottom: 6 }}&gt;3.  可观测可评估&lt;/div&gt;&#10;        &lt;p style={{ fontSize: 14, color: '#5F5E5A', margin: 0, lineHeight: 1.65 }}&gt;每次 AI 对话的意图、工具调用、结果全程记录，可回放、可追踪，支撑后续的量化评估与持续迭代。&lt;/p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06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02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技术构建过程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技术架构：六层分离的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 AI Native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09600" y="1133475"/>
            <a:ext cx="5905500" cy="4895850"/>
          </a:xfrm>
          <a:prstGeom prst="roundRect">
            <a:avLst>
              <a:gd name="adj" fmla="val 2335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2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343025"/>
            <a:ext cx="5448300" cy="4476750"/>
          </a:xfrm>
          <a:prstGeom prst="rect">
            <a:avLst/>
          </a:pr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819900" y="227647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1.  Agent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与业务解耦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819900" y="2495550"/>
            <a:ext cx="4762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AI Agent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只负责理解意图、编排工具，不直接操作数据库，严守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Agent → Tool → Service → Repository → Database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分层，杜绝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LLM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直连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SQL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的风险。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19900" y="320040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2.  pgvector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一库双角色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819900" y="3419475"/>
            <a:ext cx="4762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PostgreSQL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同时承载业务数据（工单、费用）和向量数据（知识切片），无需额外向量数据库，降低部署与运维复杂度。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819900" y="412432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3. 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可观测可评估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819900" y="4343400"/>
            <a:ext cx="4762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每次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对话的意图、工具调用、结果全程记录，可回放、可追踪，支撑后续的量化评估与持续迭代。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0" name="" descr="&lt;Slide style={{ width: '1280px', height: '720px', background: '#FBFCFA', position: 'relative', padding: '32px 64px', boxSizing: 'border-box', display: 'flex', flexDirection: 'column' }}&gt;&#10;  &lt;div style={{ flexShrink: 0 }}&gt;&#10;    &lt;div style={{ color: '#BD9B56', fontSize: 13, letterSpacing: '0.25em', marginBottom: 6 }}&gt;02 · 技术构建过程&lt;/div&gt;&#10;    &lt;h2 style={{ fontSize: 30, fontWeight: 'bold', color: '#172133', margin: 0, lineHeight: 1.3 }}&gt;数据库设计：15+ 张表承载整个社区&lt;/h2&gt;&#10;    &lt;div style={{ fontSize: 14, color: '#6b7075', marginTop: 6 }}&gt;数据库是系统地基，通过外键建立完整 ER 关系，覆盖社区到知识库的全部实体&lt;/div&gt;&#10;  &lt;/div&gt;&#10;  &lt;div style={{ flex: 1, display: 'flex', alignItems: 'center', minHeight: 0, gap: 28 }}&gt;&#10;    &lt;div style={{ flex: '0 0 320px', background: 'linear-gradient(135deg, #172133 0%, #22395E 100%)', borderRadius: 12, padding: '24px 24px', color: '#FBFCFA' }}&gt;&#10;      &lt;div style={{ color: '#BD9B56', fontSize: 12, letterSpacing: '0.25em', marginBottom: 12 }}&gt;CORE ENTITIES&lt;/div&gt;&#10;      &lt;div style={{ fontSize: 14, color: 'rgba(251,252,250,0.9)', lineHeight: 1.9 }}&gt;&#10;        community 社区&lt;br/&gt;&#10;        building 楼栋（8）&lt;br/&gt;&#10;        house 房屋（1664）&lt;br/&gt;&#10;        user 用户（275）&lt;br/&gt;&#10;        house_binding 房屋绑定&lt;br/&gt;&#10;        worker 物业人员（75）&lt;br/&gt;&#10;        repair_order 工单&lt;br/&gt;&#10;        fee_bill 账单（746）&lt;br/&gt;&#10;        notice 公告（24）&lt;br/&gt;&#10;        conversation / message&lt;br/&gt;&#10;        agent_trace 追踪&lt;br/&gt;&#10;        &lt;span style={{ color: '#BD9B56' }}&gt;knowledge_document / chunk&lt;/span&gt;&#10;      &lt;/div&gt;&#10;    &lt;/div&gt;&#10;    &lt;div style={{ flex: 1, background: '#fff', borderRadius: 12, padding: '20px 22px', boxShadow: '0 6px 24px rgba(23,33,51,0.08)' }}&gt;&#10;      &lt;svg width=&quot;560&quot; height=&quot;470&quot; viewBox=&quot;0 0 560 470&quot;&gt;&#10;        &lt;g fontFamily=&quot;Inter, sans-serif&quot;&gt;&#10;          &lt;rect x=&quot;14&quot; y=&quot;14&quot; width=&quot;150&quot; height=&quot;50&quot; rx=&quot;6&quot; fill=&quot;rgba(34,57,94,0.08)&quot; stroke=&quot;#22395E&quot; strokeWidth=&quot;1.5&quot; /&gt;&#10;          &lt;text x=&quot;89&quot; y=&quot;44&quot; textAnchor=&quot;middle&quot; fontSize=&quot;14&quot; fontWeight=&quot;bold&quot; fill=&quot;#172133&quot;&gt;community&lt;/text&gt;&#10;          &lt;line x1=&quot;164&quot; y1=&quot;39&quot; x2=&quot;206&quot; y2=&quot;39&quot; stroke=&quot;#BD9B56&quot; strokeWidth=&quot;1.5&quot; /&gt;&#10;          &lt;rect x=&quot;210&quot; y=&quot;14&quot; width=&quot;150&quot; height=&quot;50&quot; rx=&quot;6&quot; fill=&quot;rgba(34,57,94,0.08)&quot; stroke=&quot;#22395E&quot; strokeWidth=&quot;1.5&quot; /&gt;&#10;          &lt;text x=&quot;285&quot; y=&quot;44&quot; textAnchor=&quot;middle&quot; fontSize=&quot;14&quot; fontWeight=&quot;bold&quot; fill=&quot;#172133&quot;&gt;building ×8&lt;/text&gt;&#10;          &lt;line x1=&quot;360&quot; y1=&quot;39&quot; x2=&quot;402&quot; y2=&quot;39&quot; stroke=&quot;#BD9B56&quot; strokeWidth=&quot;1.5&quot; /&gt;&#10;          &lt;rect x=&quot;406&quot; y=&quot;14&quot; width=&quot;150&quot; height=&quot;50&quot; rx=&quot;6&quot; fill=&quot;rgba(34,57,94,0.08)&quot; stroke=&quot;#22395E&quot; strokeWidth=&quot;1.5&quot; /&gt;&#10;          &lt;text x=&quot;481&quot; y=&quot;44&quot; textAnchor=&quot;middle&quot; fontSize=&quot;14&quot; fontWeight=&quot;bold&quot; fill=&quot;#172133&quot;&gt;house ×1664&lt;/text&gt;&#10;          &lt;line x1=&quot;285&quot; y1=&quot;64&quot; x2=&quot;285&quot; y2=&quot;104&quot; stroke=&quot;#BD9B56&quot; strokeWidth=&quot;1.5&quot; /&gt;&#10;          &lt;rect x=&quot;210&quot; y=&quot;108&quot; width=&quot;150&quot; height=&quot;50&quot; rx=&quot;6&quot; fill=&quot;rgba(189,155,86,0.10)&quot; stroke=&quot;#BD9B56&quot; strokeWidth=&quot;1.5&quot; /&gt;&#10;          &lt;text x=&quot;285&quot; y=&quot;138&quot; textAnchor=&quot;middle&quot; fontSize=&quot;14&quot; fontWeight=&quot;bold&quot; fill=&quot;#172133&quot;&gt;user ×275&lt;/text&gt;&#10;          &lt;line x1=&quot;210&quot; y1=&quot;133&quot; x2=&quot;164&quot; y2=&quot;133&quot; stroke=&quot;#BD9B56&quot; strokeWidth=&quot;1.5&quot; /&gt;&#10;          &lt;rect x=&quot;14&quot; y=&quot;108&quot; width=&quot;150&quot; height=&quot;50&quot; rx=&quot;6&quot; fill=&quot;rgba(189,155,86,0.10)&quot; stroke=&quot;#BD9B56&quot; strokeWidth=&quot;1.5&quot; /&gt;&#10;          &lt;text x=&quot;89&quot; y=&quot;138&quot; textAnchor=&quot;middle&quot; fontSize=&quot;14&quot; fontWeight=&quot;bold&quot; fill=&quot;#172133&quot;&gt;house_binding&lt;/text&gt;&#10;          &lt;line x1=&quot;285&quot; y1=&quot;158&quot; x2=&quot;285&quot; y2=&quot;198&quot; stroke=&quot;#BD9B56&quot; strokeWidth=&quot;1.5&quot; /&gt;&#10;          &lt;rect x=&quot;210&quot; y=&quot;202&quot; width=&quot;150&quot; height=&quot;50&quot; rx=&quot;6&quot; fill=&quot;rgba(34,57,94,0.08)&quot; stroke=&quot;#22395E&quot; strokeWidth=&quot;1.5&quot; /&gt;&#10;          &lt;text x=&quot;285&quot; y=&quot;232&quot; textAnchor=&quot;middle&quot; fontSize=&quot;14&quot; fontWeight=&quot;bold&quot; fill=&quot;#172133&quot;&gt;worker ×75&lt;/text&gt;&#10;          &lt;line x1=&quot;285&quot; y1=&quot;252&quot; x2=&quot;285&quot; y2=&quot;292&quot; stroke=&quot;#BD9B56&quot; strokeWidth=&quot;1.5&quot; /&gt;&#10;          &lt;rect x=&quot;160&quot; y=&quot;296&quot; width=&quot;130&quot; height=&quot;50&quot; rx=&quot;6&quot; fill=&quot;rgba(34,57,94,0.08)&quot; stroke=&quot;#22395E&quot; strokeWidth=&quot;1.5&quot; /&gt;&#10;          &lt;text x=&quot;225&quot; y=&quot;326&quot; textAnchor=&quot;middle&quot; fontSize=&quot;13&quot; fontWeight=&quot;bold&quot; fill=&quot;#172133&quot;&gt;repair_order&lt;/text&gt;&#10;          &lt;rect x=&quot;306&quot; y=&quot;296&quot; width=&quot;130&quot; height=&quot;50&quot; rx=&quot;6&quot; fill=&quot;rgba(34,57,94,0.08)&quot; stroke=&quot;#22395E&quot; strokeWidth=&quot;1.5&quot; /&gt;&#10;          &lt;text x=&quot;371&quot; y=&quot;326&quot; textAnchor=&quot;middle&quot; fontSize=&quot;13&quot; fontWeight=&quot;bold&quot; fill=&quot;#172133&quot;&gt;fee_bill ×746&lt;/text&gt;&#10;          &lt;line x1=&quot;225&quot; y1=&quot;346&quot; x2=&quot;225&quot; y2=&quot;386&quot; stroke=&quot;#BD9B56&quot; strokeWidth=&quot;1.5&quot; /&gt;&#10;          &lt;rect x=&quot;160&quot; y=&quot;390&quot; width=&quot;130&quot; height=&quot;50&quot; rx=&quot;6&quot; fill=&quot;rgba(34,57,94,0.08)&quot; stroke=&quot;#22395E&quot; strokeWidth=&quot;1.5&quot; /&gt;&#10;          &lt;text x=&quot;225&quot; y=&quot;420&quot; textAnchor=&quot;middle&quot; fontSize=&quot;13&quot; fontWeight=&quot;bold&quot; fill=&quot;#172133&quot;&gt;notice ×24&lt;/text&gt;&#10;          &lt;rect x=&quot;306&quot; y=&quot;390&quot; width=&quot;130&quot; height=&quot;50&quot; rx=&quot;6&quot; fill=&quot;#172133&quot; stroke=&quot;#BD9B56&quot; strokeWidth=&quot;1.5&quot; /&gt;&#10;          &lt;text x=&quot;371&quot; y=&quot;416&quot; textAnchor=&quot;middle&quot; fontSize=&quot;12&quot; fontWeight=&quot;bold&quot; fill=&quot;#BD9B56&quot;&gt;knowledge&lt;/text&gt;&#10;          &lt;text x=&quot;371&quot; y=&quot;434&quot; textAnchor=&quot;middle&quot; fontSize=&quot;10&quot; fill=&quot;#FBFCFA&quot;&gt;document + chunk&lt;/text&gt;&#10;        &lt;/g&gt;&#10;      &lt;/svg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07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02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技术构建过程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数据库设计：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15+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张表承载整个社区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10191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数据库是系统地基，通过外键建立完整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ER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关系，覆盖社区到知识库的全部实体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3171825"/>
            <a:ext cx="3048000" cy="1019175"/>
          </a:xfrm>
          <a:prstGeom prst="roundRect">
            <a:avLst>
              <a:gd name="adj" fmla="val 11215"/>
            </a:avLst>
          </a:prstGeom>
          <a:gradFill>
            <a:gsLst>
              <a:gs pos="0">
                <a:srgbClr val="172133"/>
              </a:gs>
              <a:gs pos="100000">
                <a:srgbClr val="22395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3400425"/>
            <a:ext cx="2590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CORE ENTITIES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38200" y="3657600"/>
            <a:ext cx="259080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BD9B56"/>
                </a:solidFill>
                <a:latin typeface="Microsoft YaHei"/>
                <a:ea typeface="Microsoft YaHei"/>
              </a:rPr>
              <a:t>knowledge_document / chunk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924300" y="1247775"/>
            <a:ext cx="7658100" cy="48577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33850" y="1438275"/>
            <a:ext cx="5334000" cy="4476750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1918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23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2 · 技术构建过程&lt;/div&gt;&#10;    &lt;h2 style={{ fontSize: 30, fontWeight: 'bold', color: '#172133', margin: 0, lineHeight: 1.3 }}&gt;后端分层 + 前端三端一体&lt;/h2&gt;&#10;  &lt;/div&gt;&#10;  &lt;div style={{ flex: 1, display: 'flex', alignItems: 'center', gap: 32 }}&gt;&#10;    &lt;div style={{ flex: 1, display: 'flex', flexDirection: 'column', gap: 16 }}&gt;&#10;      &lt;div style={{ background: '#fff', borderRadius: 10, padding: '18px 22px', boxShadow: '0 4px 16px rgba(23,33,51,0.06)' }}&gt;&#10;        &lt;div style={{ fontSize: 17, fontWeight: 'bold', color: '#172133', marginBottom: 6 }}&gt;后端：FastAPI 三层架构&lt;/div&gt;&#10;        &lt;p style={{ fontSize: 14, color: '#5F5E5A', margin: 0, lineHeight: 1.6 }}&gt;API 路由层 → Service 业务层 → Repository 数据层。业务与数据解耦，AI 逻辑不混入业务代码。&lt;/p&gt;&#10;      &lt;/div&gt;&#10;      &lt;div style={{ background: '#fff', borderRadius: 10, padding: '18px 22px', boxShadow: '0 4px 16px rgba(23,33,51,0.06)' }}&gt;&#10;        &lt;div style={{ fontSize: 17, fontWeight: 'bold', color: '#172133', marginBottom: 6 }}&gt;派单算法&lt;/div&gt;&#10;        &lt;p style={{ fontSize: 14, color: '#5F5E5A', margin: 0, lineHeight: 1.6 }}&gt;按「技能匹配 + 在岗状态 + 工号升序」自动选择维修师傅，无需人工指派，报修提交即自动派单。&lt;/p&gt;&#10;      &lt;/div&gt;&#10;      &lt;div style={{ background: '#fff', borderRadius: 10, padding: '18px 22px', boxShadow: '0 4px 16px rgba(23,33,51,0.06)' }}&gt;&#10;        &lt;div style={{ fontSize: 17, fontWeight: 'bold', color: '#172133', marginBottom: 6 }}&gt;消息通知&lt;/div&gt;&#10;        &lt;p style={{ fontSize: 14, color: '#5F5E5A', margin: 0, lineHeight: 1.6 }}&gt;派单、完成、答复、巡检异常等事件全链路实时通知相关角色，保证业务协同不遗漏。&lt;/p&gt;&#10;      &lt;/div&gt;&#10;    &lt;/div&gt;&#10;    &lt;div style={{ flex: 1, background: 'linear-gradient(135deg, #172133 0%, #22395E 100%)', borderRadius: 12, padding: '26px 26px', color: '#FBFCFA' }}&gt;&#10;      &lt;div style={{ color: '#BD9B56', fontSize: 13, letterSpacing: '0.25em', marginBottom: 18 }}&gt;FRONTEND · 三端&lt;/div&gt;&#10;      &lt;div style={{ display: 'flex', flexDirection: 'column', gap: 14 }}&gt;&#10;        &lt;div style={{ display: 'flex', alignItems: 'center', gap: 12, padding: '12px 16px', background: 'rgba(189,155,86,0.10)', borderRadius: 8 }}&gt;&#10;          &lt;span style={{ color: '#BD9B56', fontSize: 17, fontWeight: 'bold', minWidth: 64 }}&gt;业主端&lt;/span&gt;&#10;          &lt;span style={{ fontSize: 13, color: 'rgba(251,252,250,0.85)' }}&gt;AI 助手 · 报修 · 缴费 · 公告 · 问题上报&lt;/span&gt;&#10;        &lt;/div&gt;&#10;        &lt;div style={{ display: 'flex', alignItems: 'center', gap: 12, padding: '12px 16px', background: 'rgba(189,155,86,0.10)', borderRadius: 8 }}&gt;&#10;          &lt;span style={{ color: '#BD9B56', fontSize: 17, fontWeight: 'bold', minWidth: 64 }}&gt;物业端&lt;/span&gt;&#10;          &lt;span style={{ fontSize: 13, color: 'rgba(251,252,250,0.85)' }}&gt;工单管理 · 巡检 · 数据看板 · 知识审核&lt;/span&gt;&#10;        &lt;/div&gt;&#10;        &lt;div style={{ display: 'flex', alignItems: 'center', gap: 12, padding: '12px 16px', background: 'rgba(189,155,86,0.10)', borderRadius: 8 }}&gt;&#10;          &lt;span style={{ color: '#BD9B56', fontSize: 17, fontWeight: 'bold', minWidth: 64 }}&gt;维修端&lt;/span&gt;&#10;          &lt;span style={{ fontSize: 13, color: 'rgba(251,252,250,0.85)' }}&gt;接单 · 处理 · 消息 · 巡检任务&lt;/span&gt;&#10;        &lt;/div&gt;&#10;      &lt;/div&gt;&#10;      &lt;div style={{ marginTop: 20, paddingTop: 18, borderTop: '1px solid rgba(189,155,86,0.3)' }}&gt;&#10;        &lt;div style={{ fontSize: 13, color: 'rgba(251,252,250,0.8)', lineHeight: 1.7 }}&gt;&#10;          React + TypeScript + Tailwind&lt;br/&gt;JWT 鉴权 · 角色路由 · 支持 PWA 安装&lt;br/&gt;后端 113 测试 + 前端 30 测试全绿&#10;        &lt;/div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08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02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技术构建过程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后端分层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 +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前端三端一体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09600" y="1752600"/>
            <a:ext cx="5334000" cy="1114425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19150" y="1924050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后端：</a:t>
            </a:r>
            <a:r>
              <a:rPr lang="en-US" sz="1275">
                <a:solidFill>
                  <a:srgbClr val="172133"/>
                </a:solidFill>
                <a:latin typeface="Microsoft YaHei"/>
                <a:ea typeface="Microsoft YaHei"/>
              </a:rPr>
              <a:t>FastAPI </a:t>
            </a: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三层架构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19150" y="2181225"/>
            <a:ext cx="4914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API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路由层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→ Service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业务层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→ Repository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数据层。业务与数据解耦，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逻辑不混入业务代码。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3019425"/>
            <a:ext cx="5334000" cy="1114425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19150" y="3190875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派单算法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19150" y="3448050"/>
            <a:ext cx="4914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按「技能匹配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在岗状态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工号升序」自动选择维修师傅，无需人工指派，报修提交即自动派单。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4286250"/>
            <a:ext cx="5334000" cy="1114425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19150" y="4457700"/>
            <a:ext cx="491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72133"/>
                </a:solidFill>
                <a:latin typeface="Microsoft YaHei"/>
                <a:ea typeface="Microsoft YaHei"/>
              </a:rPr>
              <a:t>消息通知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19150" y="4714875"/>
            <a:ext cx="4914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派单、完成、答复、巡检异常等事件全链路实时通知相关角色，保证业务协同不遗漏。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248400" y="2209800"/>
            <a:ext cx="5334000" cy="274320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172133"/>
              </a:gs>
              <a:gs pos="100000">
                <a:srgbClr val="22395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496050" y="2457450"/>
            <a:ext cx="483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FRONTEND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三端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496050" y="2781300"/>
            <a:ext cx="4838700" cy="428625"/>
          </a:xfrm>
          <a:prstGeom prst="roundRect">
            <a:avLst>
              <a:gd name="adj" fmla="val 17778"/>
            </a:avLst>
          </a:prstGeom>
          <a:solidFill>
            <a:srgbClr val="BD9B56">
              <a:alpha val="10000"/>
            </a:srgbClr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648450" y="2895600"/>
            <a:ext cx="60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D9B56"/>
                </a:solidFill>
                <a:latin typeface="Microsoft YaHei"/>
                <a:ea typeface="Microsoft YaHei"/>
              </a:rPr>
              <a:t>业主端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372350" y="2924175"/>
            <a:ext cx="2066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报修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缴费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公告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问题上报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496050" y="3343275"/>
            <a:ext cx="4838700" cy="428625"/>
          </a:xfrm>
          <a:prstGeom prst="roundRect">
            <a:avLst>
              <a:gd name="adj" fmla="val 17778"/>
            </a:avLst>
          </a:prstGeom>
          <a:solidFill>
            <a:srgbClr val="BD9B56">
              <a:alpha val="10000"/>
            </a:srgbClr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648450" y="3457575"/>
            <a:ext cx="60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D9B56"/>
                </a:solidFill>
                <a:latin typeface="Microsoft YaHei"/>
                <a:ea typeface="Microsoft YaHei"/>
              </a:rPr>
              <a:t>物业端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372350" y="3486150"/>
            <a:ext cx="2047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工单管理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巡检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数据看板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知识审核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496050" y="3905250"/>
            <a:ext cx="4838700" cy="428625"/>
          </a:xfrm>
          <a:prstGeom prst="roundRect">
            <a:avLst>
              <a:gd name="adj" fmla="val 17778"/>
            </a:avLst>
          </a:prstGeom>
          <a:solidFill>
            <a:srgbClr val="BD9B56">
              <a:alpha val="10000"/>
            </a:srgbClr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648450" y="4019550"/>
            <a:ext cx="60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D9B56"/>
                </a:solidFill>
                <a:latin typeface="Microsoft YaHei"/>
                <a:ea typeface="Microsoft YaHei"/>
              </a:rPr>
              <a:t>维修端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372350" y="4048125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接单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处理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消息</a:t>
            </a:r>
            <a:r>
              <a:rPr lang="en-US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巡检任务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496050" y="4524375"/>
            <a:ext cx="4838700" cy="190500"/>
          </a:xfrm>
          <a:custGeom>
            <a:pathLst>
              <a:path w="508" h="20">
                <a:moveTo>
                  <a:pt x="0" y="0"/>
                </a:moveTo>
                <a:lnTo>
                  <a:pt x="508" y="0"/>
                </a:lnTo>
                <a:lnTo>
                  <a:pt x="508" y="1"/>
                </a:lnTo>
                <a:lnTo>
                  <a:pt x="0" y="1"/>
                </a:lnTo>
                <a:close/>
              </a:path>
            </a:pathLst>
          </a:custGeom>
          <a:solidFill>
            <a:srgbClr val="BD9B56">
              <a:alpha val="30000"/>
            </a:srgbClr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496050" y="4705350"/>
            <a:ext cx="48387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496050" y="4705350"/>
            <a:ext cx="48387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2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2 · 技术构建过程&lt;/div&gt;&#10;    &lt;h2 style={{ fontSize: 30, fontWeight: 'bold', color: '#172133', margin: 0, lineHeight: 1.3 }}&gt;AI Agent 架构：LangGraph 多智能体协作&lt;/h2&gt;&#10;  &lt;/div&gt;&#10;  &lt;div style={{ flex: 1, display: 'flex', alignItems: 'center', gap: 32 }}&gt;&#10;    &lt;div style={{ flex: '0 0 560px', background: '#fff', borderRadius: 12, padding: '22px 24px', boxShadow: '0 6px 24px rgba(23,33,51,0.08)' }}&gt;&#10;      &lt;svg width=&quot;512&quot; height=&quot;470&quot; viewBox=&quot;0 0 512 470&quot;&gt;&#10;        &lt;defs&gt;&#10;          &lt;marker id=&quot;ar9&quot; viewBox=&quot;0 0 10 10&quot; refX=&quot;9&quot; refY=&quot;5&quot; markerWidth=&quot;6&quot; markerHeight=&quot;6&quot; orient=&quot;auto&quot;&gt;&#10;            &lt;path d=&quot;M0 0L10 5L0 10z&quot; fill=&quot;#BD9B56&quot; /&gt;&#10;          &lt;/marker&gt;&#10;        &lt;/defs&gt;&#10;        &lt;g fontFamily=&quot;Inter, sans-serif&quot;&gt;&#10;          &lt;rect x=&quot;156&quot; y=&quot;14&quot; width=&quot;200&quot; height=&quot;50&quot; rx=&quot;8&quot; fill=&quot;rgba(34,57,94,0.08)&quot; stroke=&quot;#22395E&quot; strokeWidth=&quot;1.5&quot; /&gt;&#10;          &lt;text x=&quot;256&quot; y=&quot;36&quot; textAnchor=&quot;middle&quot; fontSize=&quot;13&quot; fontWeight=&quot;bold&quot; fill=&quot;#172133&quot;&gt;用户自然语言输入&lt;/text&gt;&#10;          &lt;text x=&quot;256&quot; y=&quot;54&quot; textAnchor=&quot;middle&quot; fontSize=&quot;11&quot; fill=&quot;#5F5E5A&quot;&gt;「我家厨房漏水了」&lt;/text&gt;&#10;          &lt;line x1=&quot;256&quot; y1=&quot;64&quot; x2=&quot;256&quot; y2=&quot;84&quot; stroke=&quot;#BD9B56&quot; strokeWidth=&quot;1.5&quot; markerEnd=&quot;url(#ar9)&quot; /&gt;&#10;          &lt;rect x=&quot;96&quot; y=&quot;88&quot; width=&quot;320&quot; height=&quot;64&quot; rx=&quot;8&quot; fill=&quot;rgba(34,57,94,0.12)&quot; stroke=&quot;#22395E&quot; strokeWidth=&quot;2&quot; /&gt;&#10;          &lt;text x=&quot;256&quot; y=&quot;114&quot; textAnchor=&quot;middle&quot; fontSize=&quot;13&quot; fontWeight=&quot;bold&quot; fill=&quot;#BD9B56&quot;&gt;Router Agent · 意图分类&lt;/text&gt;&#10;          &lt;text x=&quot;256&quot; y=&quot;136&quot; textAnchor=&quot;middle&quot; fontSize=&quot;11&quot; fill=&quot;#172133&quot;&gt;报修 / 费用 / 公告 / 知识 / 上报&lt;/text&gt;&#10;          &lt;line x1=&quot;256&quot; y1=&quot;152&quot; x2=&quot;256&quot; y2=&quot;172&quot; stroke=&quot;#BD9B56&quot; strokeWidth=&quot;1.5&quot; markerEnd=&quot;url(#ar9)&quot; /&gt;&#10;          &lt;rect x=&quot;96&quot; y=&quot;176&quot; width=&quot;320&quot; height=&quot;64&quot; rx=&quot;8&quot; fill=&quot;rgba(189,155,86,0.10)&quot; stroke=&quot;#BD9B56&quot; strokeWidth=&quot;1.5&quot; /&gt;&#10;          &lt;text x=&quot;256&quot; y=&quot;202&quot; textAnchor=&quot;middle&quot; fontSize=&quot;13&quot; fontWeight=&quot;bold&quot; fill=&quot;#172133&quot;&gt;领域 Agent + 多轮状态机&lt;/text&gt;&#10;          &lt;text x=&quot;256&quot; y=&quot;224&quot; textAnchor=&quot;middle&quot; fontSize=&quot;11&quot; fill=&quot;#5F5E5A&quot;&gt;报修缺「位置/类型」→ 主动反问补全&lt;/text&gt;&#10;          &lt;line x1=&quot;256&quot; y1=&quot;240&quot; x2=&quot;256&quot; y2=&quot;260&quot; stroke=&quot;#BD9B56&quot; strokeWidth=&quot;1.5&quot; markerEnd=&quot;url(#ar9)&quot; /&gt;&#10;          &lt;rect x=&quot;16&quot; y=&quot;264&quot; width=&quot;140&quot; height=&quot;48&quot; rx=&quot;6&quot; fill=&quot;rgba(34,57,94,0.06)&quot; stroke=&quot;#22395E&quot; strokeWidth=&quot;1.5&quot; /&gt;&#10;          &lt;text x=&quot;86&quot; y=&quot;284&quot; textAnchor=&quot;middle&quot; fontSize=&quot;12&quot; fontWeight=&quot;bold&quot; fill=&quot;#172133&quot;&gt;create_repair&lt;/text&gt;&#10;          &lt;text x=&quot;86&quot; y=&quot;302&quot; textAnchor=&quot;middle&quot; fontSize=&quot;10&quot; fill=&quot;#5F5E5A&quot;&gt;创建工单&lt;/text&gt;&#10;          &lt;rect x=&quot;176&quot; y=&quot;264&quot; width=&quot;140&quot; height=&quot;48&quot; rx=&quot;6&quot; fill=&quot;rgba(34,57,94,0.06)&quot; stroke=&quot;#22395E&quot; strokeWidth=&quot;1.5&quot; /&gt;&#10;          &lt;text x=&quot;246&quot; y=&quot;284&quot; textAnchor=&quot;middle&quot; fontSize=&quot;12&quot; fontWeight=&quot;bold&quot; fill=&quot;#172133&quot;&gt;query_fee&lt;/text&gt;&#10;          &lt;text x=&quot;246&quot; y=&quot;302&quot; textAnchor=&quot;middle&quot; fontSize=&quot;10&quot; fill=&quot;#5F5E5A&quot;&gt;查询费用&lt;/text&gt;&#10;          &lt;rect x=&quot;336&quot; y=&quot;264&quot; width=&quot;160&quot; height=&quot;48&quot; rx=&quot;6&quot; fill=&quot;rgba(34,57,94,0.06)&quot; stroke=&quot;#22395E&quot; strokeWidth=&quot;1.5&quot; /&gt;&#10;          &lt;text x=&quot;416&quot; y=&quot;284&quot; textAnchor=&quot;middle&quot; fontSize=&quot;12&quot; fontWeight=&quot;bold&quot; fill=&quot;#172133&quot;&gt;search_knowledge&lt;/text&gt;&#10;          &lt;text x=&quot;416&quot; y=&quot;302&quot; textAnchor=&quot;middle&quot; fontSize=&quot;10&quot; fill=&quot;#5F5E5A&quot;&gt;检索知识&lt;/text&gt;&#10;          &lt;line x1=&quot;256&quot; y1=&quot;260&quot; x2=&quot;256&quot; y2=&quot;288&quot; stroke=&quot;#22395E&quot; strokeWidth=&quot;1.2&quot; /&gt;&#10;          &lt;line x1=&quot;256&quot; y1=&quot;288&quot; x2=&quot;86&quot; y2=&quot;288&quot; stroke=&quot;#22395E&quot; strokeWidth=&quot;1.2&quot; /&gt;&#10;          &lt;line x1=&quot;256&quot; y1=&quot;288&quot; x2=&quot;246&quot; y2=&quot;288&quot; stroke=&quot;#22395E&quot; strokeWidth=&quot;1.2&quot; /&gt;&#10;          &lt;line x1=&quot;256&quot; y1=&quot;288&quot; x2=&quot;416&quot; y2=&quot;288&quot; stroke=&quot;#22395E&quot; strokeWidth=&quot;1.2&quot; /&gt;&#10;          &lt;line x1=&quot;86&quot; y1=&quot;312&quot; x2=&quot;86&quot; y2=&quot;332&quot; stroke=&quot;#22395E&quot; strokeWidth=&quot;1.2&quot; /&gt;&#10;          &lt;line x1=&quot;246&quot; y1=&quot;312&quot; x2=&quot;246&quot; y2=&quot;332&quot; stroke=&quot;#22395E&quot; strokeWidth=&quot;1.2&quot; /&gt;&#10;          &lt;line x1=&quot;416&quot; y1=&quot;312&quot; x2=&quot;416&quot; y2=&quot;332&quot; stroke=&quot;#22395E&quot; strokeWidth=&quot;1.2&quot; /&gt;&#10;          &lt;rect x=&quot;16&quot; y=&quot;336&quot; width=&quot;480&quot; height=&quot;42&quot; rx=&quot;6&quot; fill=&quot;#172133&quot; /&gt;&#10;          &lt;text x=&quot;256&quot; y=&quot;362&quot; textAnchor=&quot;middle&quot; fontSize=&quot;12&quot; fontWeight=&quot;bold&quot; fill=&quot;#BD9B56&quot;&gt;业务 API 层 · 工具执行 · Trace 全程记录可评估&lt;/text&gt;&#10;          &lt;text x=&quot;256&quot; y=&quot;410&quot; textAnchor=&quot;middle&quot; fontSize=&quot;12&quot; fill=&quot;#5F5E5A&quot;&gt;驱动模型：智谱 GLM-4-Flash · 编排框架：LangGraph&lt;/text&gt;&#10;        &lt;/g&gt;&#10;      &lt;/svg&gt;&#10;    &lt;/div&gt;&#10;    &lt;div style={{ flex: 1, display: 'flex', flexDirection: 'column', gap: 18 }}&gt;&#10;      &lt;div&gt;&#10;        &lt;div style={{ fontSize: 14, color: '#BD9B56', fontWeight: 'bold', letterSpacing: '0.1em', marginBottom: 6 }}&gt;1.  多轮状态机&lt;/div&gt;&#10;        &lt;p style={{ fontSize: 14, color: '#5F5E5A', margin: 0, lineHeight: 1.65 }}&gt;报修不是单轮问答——业主只说「厨房漏水」时，Agent 会主动追问房屋位置、故障类型，把信息补全后才创建工单，避免生成残缺工单。&lt;/p&gt;&#10;      &lt;/div&gt;&#10;      &lt;div&gt;&#10;        &lt;div style={{ fontSize: 14, color: '#BD9B56', fontWeight: 'bold', letterSpacing: '0.1em', marginBottom: 6 }}&gt;2.  五类意图&lt;/div&gt;&#10;        &lt;p style={{ fontSize: 14, color: '#5F5E5A', margin: 0, lineHeight: 1.65 }}&gt;报修、费用、公告、知识咨询、问题上报，自然语言直达对应业务工具，实测意图识别准确率 100%。&lt;/p&gt;&#10;      &lt;/div&gt;&#10;      &lt;div&gt;&#10;        &lt;div style={{ fontSize: 14, color: '#BD9B56', fontWeight: 'bold', letterSpacing: '0.1em', marginBottom: 6 }}&gt;3.  可观测可评估&lt;/div&gt;&#10;        &lt;p style={{ fontSize: 14, color: '#5F5E5A', margin: 0, lineHeight: 1.65 }}&gt;每次对话的意图、工具、结果全程记录 Trace，可回放、可评估，是量化评估体系的数据基础。&lt;/p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09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02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技术构建过程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AI Agent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架构：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LangGraph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多智能体协作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1133475"/>
            <a:ext cx="5334000" cy="4895850"/>
          </a:xfrm>
          <a:prstGeom prst="roundRect">
            <a:avLst>
              <a:gd name="adj" fmla="val 2335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343025"/>
            <a:ext cx="4876800" cy="4476750"/>
          </a:xfrm>
          <a:prstGeom prst="rect">
            <a:avLst/>
          </a:prstGeom>
          <a:ln/>
        </p:spPr>
      </p:pic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248400" y="227647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1. 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多轮状态机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248400" y="2495550"/>
            <a:ext cx="5334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报修不是单轮问答——业主只说「厨房漏水」时，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Agent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会主动追问房屋位置、故障类型，把信息补全后才创建工单，避免生成残缺工单。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248400" y="320040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2. 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五类意图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248400" y="3419475"/>
            <a:ext cx="5334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报修、费用、公告、知识咨询、问题上报，自然语言直达对应业务工具，实测意图识别准确率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100%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248400" y="412432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3. 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可观测可评估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248400" y="4343400"/>
            <a:ext cx="5334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每次对话的意图、工具、结果全程记录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Trace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，可回放、可评估，是量化评估体系的数据基础。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2 · 技术构建过程&lt;/div&gt;&#10;    &lt;h2 style={{ fontSize: 30, fontWeight: 'bold', color: '#172133', margin: 0, lineHeight: 1.3 }}&gt;RAG 知识库：检索物业「隐性知识」&lt;/h2&gt;&#10;    &lt;div style={{ fontSize: 14, color: '#6b7075', marginTop: 8 }}&gt;22 篇文档不是凭空编造，而是参照官方示范文本与法律规范拟定，每篇标注制定依据&lt;/div&gt;&#10;  &lt;/div&gt;&#10;  &lt;div style={{ flex: 1, display: 'flex', alignItems: 'center', gap: 28 }}&gt;&#10;    &lt;div style={{ flex: '0 0 430px', background: '#fff', borderRadius: 12, padding: '20px 22px', boxShadow: '0 6px 24px rgba(23,33,51,0.08)' }}&gt;&#10;      &lt;div style={{ fontSize: 14, color: '#BD9B56', fontWeight: 'bold', letterSpacing: '0.1em', marginBottom: 12 }}&gt;知识库目录（7 分类 22 篇）&lt;/div&gt;&#10;      &lt;div style={{ display: 'flex', flexDirection: 'column', gap: 8 }}&gt;&#10;        &lt;div style={{ display: 'flex', justifyContent: 'space-between', fontSize: 13, color: '#172133', padding: '4px 0', borderBottom: '1px solid rgba(34,57,94,0.06)' }}&gt;&lt;span&gt;community-rules 社区规约&lt;/span&gt;&lt;span style={{ color: '#5F5E5A' }}&gt;3 篇&lt;/span&gt;&lt;/div&gt;&#10;        &lt;div style={{ display: 'flex', justifyContent: 'space-between', fontSize: 13, color: '#172133', padding: '4px 0', borderBottom: '1px solid rgba(34,57,94,0.06)' }}&gt;&lt;span&gt;decoration 装修管理&lt;/span&gt;&lt;span style={{ color: '#5F5E5A' }}&gt;3 篇&lt;/span&gt;&lt;/div&gt;&#10;        &lt;div style={{ display: 'flex', justifyContent: 'space-between', fontSize: 13, color: '#172133', padding: '4px 0', borderBottom: '1px solid rgba(34,57,94,0.06)' }}&gt;&lt;span&gt;parking 停车管理&lt;/span&gt;&lt;span style={{ color: '#5F5E5A' }}&gt;3 篇&lt;/span&gt;&lt;/div&gt;&#10;        &lt;div style={{ display: 'flex', justifyContent: 'space-between', fontSize: 13, color: '#172133', padding: '4px 0', borderBottom: '1px solid rgba(34,57,94,0.06)' }}&gt;&lt;span&gt;property-service 物业服务&lt;/span&gt;&lt;span style={{ color: '#5F5E5A' }}&gt;3 篇&lt;/span&gt;&lt;/div&gt;&#10;        &lt;div style={{ display: 'flex', justifyContent: 'space-between', fontSize: 13, color: '#172133', padding: '4px 0', borderBottom: '1px solid rgba(34,57,94,0.06)' }}&gt;&lt;span&gt;emergency 应急管理&lt;/span&gt;&lt;span style={{ color: '#5F5E5A' }}&gt;3 篇&lt;/span&gt;&lt;/div&gt;&#10;        &lt;div style={{ display: 'flex', justifyContent: 'space-between', fontSize: 13, color: '#172133', padding: '4px 0', borderBottom: '1px solid rgba(34,57,94,0.06)' }}&gt;&lt;span&gt;security 安保管理&lt;/span&gt;&lt;span style={{ color: '#5F5E5A' }}&gt;3 篇&lt;/span&gt;&lt;/div&gt;&#10;        &lt;div style={{ display: 'flex', justifyContent: 'space-between', fontSize: 13, color: '#172133', padding: '4px 0' }}&gt;&lt;span&gt;faq 常见问题&lt;/span&gt;&lt;span style={{ color: '#5F5E5A' }}&gt;4 篇&lt;/span&gt;&lt;/div&gt;&#10;      &lt;/div&gt;&#10;      &lt;div style={{ marginTop: 14, padding: '12px 14px', background: 'rgba(189,155,86,0.10)', borderRadius: 8 }}&gt;&#10;        &lt;div style={{ fontSize: 12, color: '#BD9B56', fontWeight: 'bold', marginBottom: 6 }}&gt;制定依据（原文可查）&lt;/div&gt;&#10;        &lt;div style={{ fontSize: 12, color: '#5F5E5A', lineHeight: 1.7 }}&gt;&#10;          依据《民法典》《物业管理条例》《上海市住宅物业管理规定》，参照上海市住建委 2021 版住宅小区管理规约示范文本&#10;        &lt;/div&gt;&#10;      &lt;/div&gt;&#10;    &lt;/div&gt;&#10;    &lt;div style={{ flex: 1, display: 'flex', flexDirection: 'column', gap: 14 }}&gt;&#10;      &lt;div style={{ background: '#fff', borderRadius: 12, padding: '16px 20px', boxShadow: '0 4px 16px rgba(23,33,51,0.06)' }}&gt;&#10;        &lt;div style={{ fontSize: 14, color: '#BD9B56', fontWeight: 'bold', letterSpacing: '0.1em', marginBottom: 10 }}&gt;检索链路&lt;/div&gt;&#10;        &lt;div style={{ display: 'flex', alignItems: 'center', gap: 8, flexWrap: 'wrap' }}&gt;&#10;          &lt;span style={{ fontSize: 13, color: '#172133', background: 'rgba(34,57,94,0.06)', padding: '6px 12px', borderRadius: 6 }}&gt;22 文档&lt;/span&gt;&#10;          &lt;span style={{ color: '#BD9B56' }}&gt;→&lt;/span&gt;&#10;          &lt;span style={{ fontSize: 13, color: '#172133', background: 'rgba(34,57,94,0.06)', padding: '6px 12px', borderRadius: 6 }}&gt;99 切片&lt;/span&gt;&#10;          &lt;span style={{ color: '#BD9B56' }}&gt;→&lt;/span&gt;&#10;          &lt;span style={{ fontSize: 13, color: '#172133', background: 'rgba(34,57,94,0.06)', padding: '6px 12px', borderRadius: 6 }}&gt;embedding-3（1024 维）&lt;/span&gt;&#10;          &lt;span style={{ color: '#BD9B56' }}&gt;→&lt;/span&gt;&#10;          &lt;span style={{ fontSize: 13, color: '#172133', background: 'rgba(34,57,94,0.06)', padding: '6px 12px', borderRadius: 6 }}&gt;pgvector 检索 top-5&lt;/span&gt;&#10;          &lt;span style={{ color: '#BD9B56' }}&gt;→&lt;/span&gt;&#10;          &lt;span style={{ fontSize: 13, color: '#172133', background: 'rgba(34,57,94,0.06)', padding: '6px 12px', borderRadius: 6 }}&gt;GLM-4-Flash 生成答案&lt;/span&gt;&#10;        &lt;/div&gt;&#10;      &lt;/div&gt;&#10;      &lt;div style={{ background: '#fff', borderRadius: 12, padding: '16px 20px', boxShadow: '0 4px 16px rgba(23,33,51,0.06)' }}&gt;&#10;        &lt;div style={{ fontSize: 14, color: '#BD9B56', fontWeight: 'bold', letterSpacing: '0.1em', marginBottom: 8 }}&gt;实测指标&lt;/div&gt;&#10;        &lt;p style={{ fontSize: 14, color: '#5F5E5A', margin: 0, lineHeight: 1.7 }}&gt;召回 Recall@5 = &lt;span style={{ color: '#BD9B56', fontWeight: 'bold' }}&gt;100%&lt;/span&gt;（检索到的片段必含答案）· 答案准确率 &lt;span style={{ color: '#BD9B56', fontWeight: 'bold' }}&gt;100%&lt;/span&gt;&lt;/p&gt;&#10;      &lt;/div&gt;&#10;      &lt;div style={{ background: '#fff', borderRadius: 12, padding: '16px 20px', boxShadow: '0 4px 16px rgba(23,33,51,0.06)' }}&gt;&#10;        &lt;div style={{ fontSize: 14, color: '#BD9B56', fontWeight: 'bold', letterSpacing: '0.1em', marginBottom: 8 }}&gt;反馈自进化闭环&lt;/div&gt;&#10;        &lt;p style={{ fontSize: 14, color: '#5F5E5A', margin: 0, lineHeight: 1.7 }}&gt;业主对答案点赞/纠错 → 系统沉淀「知识缺口」→ 物业人工审核 → 审核通过自动写入知识库，让知识越用越准。&lt;/p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10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02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技术构建过程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RAG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知识库：检索物业「隐性知识」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11334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22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篇文档不是凭空编造，而是参照官方示范文本与法律规范拟定，每篇标注制定依据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1800225"/>
            <a:ext cx="4095750" cy="3800475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19150" y="199072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知识库目录（</a:t>
            </a: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7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分类</a:t>
            </a:r>
            <a:r>
              <a:rPr lang="en-US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 22 </a:t>
            </a: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篇）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19150" y="2266950"/>
            <a:ext cx="3676650" cy="247650"/>
          </a:xfrm>
          <a:custGeom>
            <a:pathLst>
              <a:path w="386" h="26">
                <a:moveTo>
                  <a:pt x="0" y="25"/>
                </a:moveTo>
                <a:lnTo>
                  <a:pt x="386" y="25"/>
                </a:lnTo>
                <a:lnTo>
                  <a:pt x="38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19150" y="230505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community-rules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社区规约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257675" y="23050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819150" y="2581275"/>
            <a:ext cx="3676650" cy="247650"/>
          </a:xfrm>
          <a:custGeom>
            <a:pathLst>
              <a:path w="386" h="26">
                <a:moveTo>
                  <a:pt x="0" y="25"/>
                </a:moveTo>
                <a:lnTo>
                  <a:pt x="386" y="25"/>
                </a:lnTo>
                <a:lnTo>
                  <a:pt x="38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19150" y="26193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decoration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装修管理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257675" y="2619375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19150" y="2895600"/>
            <a:ext cx="3676650" cy="247650"/>
          </a:xfrm>
          <a:custGeom>
            <a:pathLst>
              <a:path w="386" h="26">
                <a:moveTo>
                  <a:pt x="0" y="25"/>
                </a:moveTo>
                <a:lnTo>
                  <a:pt x="386" y="25"/>
                </a:lnTo>
                <a:lnTo>
                  <a:pt x="38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2933700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parking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停车管理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257675" y="29337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19150" y="3209925"/>
            <a:ext cx="3676650" cy="247650"/>
          </a:xfrm>
          <a:custGeom>
            <a:pathLst>
              <a:path w="386" h="26">
                <a:moveTo>
                  <a:pt x="0" y="25"/>
                </a:moveTo>
                <a:lnTo>
                  <a:pt x="386" y="25"/>
                </a:lnTo>
                <a:lnTo>
                  <a:pt x="38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19150" y="3248025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property-service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物业服务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257675" y="3248025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19150" y="3524250"/>
            <a:ext cx="3676650" cy="247650"/>
          </a:xfrm>
          <a:custGeom>
            <a:pathLst>
              <a:path w="386" h="26">
                <a:moveTo>
                  <a:pt x="0" y="25"/>
                </a:moveTo>
                <a:lnTo>
                  <a:pt x="386" y="25"/>
                </a:lnTo>
                <a:lnTo>
                  <a:pt x="38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19150" y="3562350"/>
            <a:ext cx="1190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emergency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应急管理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257675" y="35623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19150" y="3838575"/>
            <a:ext cx="3676650" cy="247650"/>
          </a:xfrm>
          <a:custGeom>
            <a:pathLst>
              <a:path w="386" h="26">
                <a:moveTo>
                  <a:pt x="0" y="25"/>
                </a:moveTo>
                <a:lnTo>
                  <a:pt x="386" y="25"/>
                </a:lnTo>
                <a:lnTo>
                  <a:pt x="38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19150" y="38766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security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安保管理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257675" y="3876675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19150" y="4191000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latin typeface="Microsoft YaHei"/>
                <a:ea typeface="Microsoft YaHei"/>
              </a:rPr>
              <a:t>faq </a:t>
            </a:r>
            <a:r>
              <a:rPr lang="zh-CN" sz="975">
                <a:solidFill>
                  <a:srgbClr val="172133"/>
                </a:solidFill>
                <a:latin typeface="Microsoft YaHei"/>
                <a:ea typeface="Microsoft YaHei"/>
              </a:rPr>
              <a:t>常见问题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57675" y="41910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4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19150" y="4514850"/>
            <a:ext cx="3676650" cy="895350"/>
          </a:xfrm>
          <a:prstGeom prst="roundRect">
            <a:avLst>
              <a:gd name="adj" fmla="val 8511"/>
            </a:avLst>
          </a:prstGeom>
          <a:solidFill>
            <a:srgbClr val="BD9B56">
              <a:alpha val="10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52500" y="4629150"/>
            <a:ext cx="3409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制定依据（原文可查）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52500" y="4829175"/>
            <a:ext cx="34099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依据《民法典》《物业管理条例》《上海市住宅物业管理规定》，参照上海市住建委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2021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版住宅小区管理规约示范文本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972050" y="2019300"/>
            <a:ext cx="661035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162550" y="2171700"/>
            <a:ext cx="622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检索链路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162550" y="2428875"/>
            <a:ext cx="666750" cy="266700"/>
          </a:xfrm>
          <a:prstGeom prst="roundRect">
            <a:avLst>
              <a:gd name="adj" fmla="val 21429"/>
            </a:avLst>
          </a:pr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162550" y="2428875"/>
            <a:ext cx="666750" cy="26670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22 </a:t>
            </a:r>
            <a:r>
              <a:rPr lang="zh-CN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文档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905500" y="24669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D9B5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134100" y="2428875"/>
            <a:ext cx="666750" cy="266700"/>
          </a:xfrm>
          <a:prstGeom prst="roundRect">
            <a:avLst>
              <a:gd name="adj" fmla="val 21429"/>
            </a:avLst>
          </a:pr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134100" y="2428875"/>
            <a:ext cx="666750" cy="26670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99 </a:t>
            </a:r>
            <a:r>
              <a:rPr lang="zh-CN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切片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77050" y="24669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D9B5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105650" y="2428875"/>
            <a:ext cx="1743075" cy="266700"/>
          </a:xfrm>
          <a:prstGeom prst="roundRect">
            <a:avLst>
              <a:gd name="adj" fmla="val 21429"/>
            </a:avLst>
          </a:pr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05650" y="2428875"/>
            <a:ext cx="1743075" cy="26670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embedding-3</a:t>
            </a:r>
            <a:r>
              <a:rPr lang="zh-CN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1024 </a:t>
            </a:r>
            <a:r>
              <a:rPr lang="zh-CN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维）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924925" y="24669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D9B5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9153525" y="2428875"/>
            <a:ext cx="1409700" cy="266700"/>
          </a:xfrm>
          <a:prstGeom prst="roundRect">
            <a:avLst>
              <a:gd name="adj" fmla="val 21429"/>
            </a:avLst>
          </a:pr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153525" y="2428875"/>
            <a:ext cx="1409700" cy="26670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pgvector </a:t>
            </a:r>
            <a:r>
              <a:rPr lang="zh-CN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检索</a:t>
            </a: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 top-5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639425" y="24669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D9B5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162550" y="2771775"/>
            <a:ext cx="1524000" cy="266700"/>
          </a:xfrm>
          <a:prstGeom prst="roundRect">
            <a:avLst>
              <a:gd name="adj" fmla="val 21429"/>
            </a:avLst>
          </a:prstGeom>
          <a:solidFill>
            <a:srgbClr val="22395E">
              <a:alpha val="6000"/>
            </a:srgbClr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162550" y="2771775"/>
            <a:ext cx="1524000" cy="26670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GLM-4-Flash </a:t>
            </a:r>
            <a:r>
              <a:rPr lang="zh-CN" sz="975">
                <a:solidFill>
                  <a:srgbClr val="172133"/>
                </a:solidFill>
                <a:highlight>
                  <a:srgbClr val="22395E">
                    <a:alpha val="6000"/>
                  </a:srgbClr>
                </a:highlight>
                <a:latin typeface="Microsoft YaHei"/>
                <a:ea typeface="Microsoft YaHei"/>
              </a:rPr>
              <a:t>生成答案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972050" y="3324225"/>
            <a:ext cx="66103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162550" y="3476625"/>
            <a:ext cx="622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实测指标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162550" y="3714750"/>
            <a:ext cx="622935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召回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Recall@5 = </a:t>
            </a:r>
            <a:r>
              <a:rPr lang="en-US" sz="1050" b="1">
                <a:solidFill>
                  <a:srgbClr val="BD9B56"/>
                </a:solidFill>
                <a:latin typeface="Microsoft YaHei"/>
                <a:ea typeface="Microsoft YaHei"/>
              </a:rPr>
              <a:t>100%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（检索到的片段必含答案）·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答案准确率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</a:t>
            </a:r>
            <a:r>
              <a:rPr lang="en-US" sz="1050" b="1">
                <a:solidFill>
                  <a:srgbClr val="BD9B56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972050" y="4276725"/>
            <a:ext cx="661035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162550" y="4429125"/>
            <a:ext cx="622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反馈自进化闭环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162550" y="4667250"/>
            <a:ext cx="6229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业主对答案点赞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纠错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系统沉淀「知识缺口」→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物业人工审核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审核通过自动写入知识库，让知识越用越准。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3 · 成果与验证&lt;/div&gt;&#10;    &lt;h2 style={{ fontSize: 30, fontWeight: 'bold', color: '#172133', margin: 0, lineHeight: 1.3 }}&gt;功能闭环：AI 走完完整业务流程&lt;/h2&gt;&#10;    &lt;div style={{ fontSize: 14, color: '#6b7075', marginTop: 8 }}&gt;三条闭环验证「AI 不是聊天框，而是真正参与业务」——每条都真实写入数据库、流转状态、发出通知&lt;/div&gt;&#10;  &lt;/div&gt;&#10;  &lt;div style={{ flex: 1, display: 'flex', alignItems: 'center' }}&gt;&#10;    &lt;div style={{ width: '100%', display: 'flex', gap: 18 }}&gt;&#10;      &lt;div style={{ flex: 1, background: '#fff', borderRadius: 10, padding: '18px 18px', boxShadow: '0 4px 16px rgba(23,33,51,0.06)', display: 'flex', flexDirection: 'column' }}&gt;&#10;        &lt;div style={{ display: 'flex', alignItems: 'center', gap: 8, marginBottom: 10 }}&gt;&#10;          &lt;span style={{ fontSize: 17, fontWeight: 'bold', color: '#172133' }}&gt;1.  报修闭环&lt;/span&gt;&#10;          &lt;span style={{ fontSize: 12, color: '#BD9B56', background: 'rgba(189,155,86,0.12)', padding: '2px 8px', borderRadius: 4 }}&gt;业主 → 师傅&lt;/span&gt;&#10;        &lt;/div&gt;&#10;        &lt;p style={{ fontSize: 13, color: '#5F5E5A', margin: 0, lineHeight: 1.6, marginBottom: 12 }}&gt;对话报修 → 多轮补全位置/类型 → 技能+在岗自动派单 → 师傅接单处理 → 业主确认完成，全流程真实建单、流转状态、发通知。&lt;/p&gt;&#10;        &lt;div style={{ marginTop: 'auto', height: 130, border: '2px dashed #BD9B56', borderRadius: 8, background: 'rgba(189,155,86,0.05)', display: 'flex', alignItems: 'center', justifyContent: 'center', color: '#BD9B56', fontSize: 12 }}&gt;此处放「AI 报修对话」截图&lt;/div&gt;&#10;      &lt;/div&gt;&#10;      &lt;div style={{ flex: 1, background: '#fff', borderRadius: 10, padding: '18px 18px', boxShadow: '0 4px 16px rgba(23,33,51,0.06)', display: 'flex', flexDirection: 'column' }}&gt;&#10;        &lt;div style={{ display: 'flex', alignItems: 'center', gap: 8, marginBottom: 10 }}&gt;&#10;          &lt;span style={{ fontSize: 17, fontWeight: 'bold', color: '#172133' }}&gt;2.  巡检告警&lt;/span&gt;&#10;          &lt;span style={{ fontSize: 12, color: '#BD9B56', background: 'rgba(189,155,86,0.12)', padding: '2px 8px', borderRadius: 4 }}&gt;摄像头 → 物业&lt;/span&gt;&#10;        &lt;/div&gt;&#10;        &lt;p style={{ fontSize: 13, color: '#5F5E5A', margin: 0, lineHeight: 1.6, marginBottom: 12 }}&gt;摄像头抓拍社区画面 → 视觉模型识别异常（垃圾堆积、车辆违停、消防堵塞）→ 生成巡检记录并实时通知物业负责人。&lt;/p&gt;&#10;        &lt;div style={{ marginTop: 'auto', height: 130, border: '2px dashed #BD9B56', borderRadius: 8, background: 'rgba(189,155,86,0.05)', display: 'flex', alignItems: 'center', justifyContent: 'center', color: '#BD9B56', fontSize: 12 }}&gt;此处放「巡检异常识别」截图&lt;/div&gt;&#10;      &lt;/div&gt;&#10;      &lt;div style={{ flex: 1, background: '#fff', borderRadius: 10, padding: '18px 18px', boxShadow: '0 4px 16px rgba(23,33,51,0.06)', display: 'flex', flexDirection: 'column' }}&gt;&#10;        &lt;div style={{ display: 'flex', alignItems: 'center', gap: 8, marginBottom: 10 }}&gt;&#10;          &lt;span style={{ fontSize: 17, fontWeight: 'bold', color: '#172133' }}&gt;3.  反馈自进化&lt;/span&gt;&#10;          &lt;span style={{ fontSize: 12, color: '#BD9B56', background: 'rgba(189,155,86,0.12)', padding: '2px 8px', borderRadius: 4 }}&gt;对话 → 知识库&lt;/span&gt;&#10;        &lt;/div&gt;&#10;        &lt;p style={{ fontSize: 13, color: '#5F5E5A', margin: 0, lineHeight: 1.6, marginBottom: 12 }}&gt;业主对 AI 答案点赞/纠错 → 沉淀「知识缺口」→ 物业人员人工审核 → 审核通过自动写入知识库，越用越准。&lt;/p&gt;&#10;        &lt;div style={{ marginTop: 'auto', height: 130, border: '2px dashed #BD9B56', borderRadius: 8, background: 'rgba(189,155,86,0.05)', display: 'flex', alignItems: 'center', justifyContent: 'center', color: '#BD9B56', fontSize: 12 }}&gt;此处放「知识缺口审核」截图&lt;/div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11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03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成果与验证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功能闭环：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AI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走完完整业务流程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11334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三条闭环验证「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不是聊天框，而是真正参与业务」——每条都真实写入数据库、流转状态、发出通知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2343150"/>
            <a:ext cx="35433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81050" y="2514600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72133"/>
                </a:solidFill>
                <a:latin typeface="Microsoft YaHei"/>
                <a:ea typeface="Microsoft YaHei"/>
              </a:rPr>
              <a:t>1.  </a:t>
            </a:r>
            <a:r>
              <a:rPr lang="zh-CN" sz="1275" b="1">
                <a:solidFill>
                  <a:srgbClr val="172133"/>
                </a:solidFill>
                <a:latin typeface="Microsoft YaHei"/>
                <a:ea typeface="Microsoft YaHei"/>
              </a:rPr>
              <a:t>报修闭环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1752600" y="2524125"/>
            <a:ext cx="800100" cy="180975"/>
          </a:xfrm>
          <a:prstGeom prst="roundRect">
            <a:avLst>
              <a:gd name="adj" fmla="val 21053"/>
            </a:avLst>
          </a:prstGeom>
          <a:solidFill>
            <a:srgbClr val="BD9B56">
              <a:alpha val="12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752600" y="2524125"/>
            <a:ext cx="8001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业主</a:t>
            </a:r>
            <a:r>
              <a:rPr lang="en-US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师傅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81050" y="2809875"/>
            <a:ext cx="32004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对话报修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多轮补全位置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类型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技能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+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在岗自动派单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师傅接单处理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业主确认完成，全流程真实建单、流转状态、发通知。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781050" y="3638550"/>
            <a:ext cx="3200400" cy="1238250"/>
          </a:xfrm>
          <a:prstGeom prst="roundRect">
            <a:avLst>
              <a:gd name="adj" fmla="val 6154"/>
            </a:avLst>
          </a:prstGeom>
          <a:solidFill>
            <a:srgbClr val="BD9B56">
              <a:alpha val="5000"/>
            </a:srgbClr>
          </a:solidFill>
          <a:ln w="25400">
            <a:solidFill>
              <a:srgbClr val="BD9B56"/>
            </a:solidFill>
            <a:prstDash val="dash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676400" y="4191000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此处放「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报修对话」截图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24350" y="2343150"/>
            <a:ext cx="35433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95800" y="2514600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72133"/>
                </a:solidFill>
                <a:latin typeface="Microsoft YaHei"/>
                <a:ea typeface="Microsoft YaHei"/>
              </a:rPr>
              <a:t>2.  </a:t>
            </a:r>
            <a:r>
              <a:rPr lang="zh-CN" sz="1275" b="1">
                <a:solidFill>
                  <a:srgbClr val="172133"/>
                </a:solidFill>
                <a:latin typeface="Microsoft YaHei"/>
                <a:ea typeface="Microsoft YaHei"/>
              </a:rPr>
              <a:t>巡检告警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467350" y="2524125"/>
            <a:ext cx="914400" cy="180975"/>
          </a:xfrm>
          <a:prstGeom prst="roundRect">
            <a:avLst>
              <a:gd name="adj" fmla="val 21053"/>
            </a:avLst>
          </a:prstGeom>
          <a:solidFill>
            <a:srgbClr val="BD9B56">
              <a:alpha val="12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467350" y="2524125"/>
            <a:ext cx="9144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摄像头</a:t>
            </a:r>
            <a:r>
              <a:rPr lang="en-US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物业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495800" y="2809875"/>
            <a:ext cx="32004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摄像头抓拍社区画面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视觉模型识别异常（垃圾堆积、车辆违停、消防堵塞）→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生成巡检记录并实时通知物业负责人。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495800" y="3638550"/>
            <a:ext cx="3200400" cy="1238250"/>
          </a:xfrm>
          <a:prstGeom prst="roundRect">
            <a:avLst>
              <a:gd name="adj" fmla="val 6154"/>
            </a:avLst>
          </a:prstGeom>
          <a:solidFill>
            <a:srgbClr val="BD9B56">
              <a:alpha val="5000"/>
            </a:srgbClr>
          </a:solidFill>
          <a:ln w="25400">
            <a:solidFill>
              <a:srgbClr val="BD9B56"/>
            </a:solidFill>
            <a:prstDash val="dash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53050" y="419100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此处放「巡检异常识别」截图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039100" y="2343150"/>
            <a:ext cx="35433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7213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10550" y="2514600"/>
            <a:ext cx="1057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72133"/>
                </a:solidFill>
                <a:latin typeface="Microsoft YaHei"/>
                <a:ea typeface="Microsoft YaHei"/>
              </a:rPr>
              <a:t>3.  </a:t>
            </a:r>
            <a:r>
              <a:rPr lang="zh-CN" sz="1275" b="1">
                <a:solidFill>
                  <a:srgbClr val="172133"/>
                </a:solidFill>
                <a:latin typeface="Microsoft YaHei"/>
                <a:ea typeface="Microsoft YaHei"/>
              </a:rPr>
              <a:t>反馈自进化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9344025" y="2524125"/>
            <a:ext cx="914400" cy="180975"/>
          </a:xfrm>
          <a:prstGeom prst="roundRect">
            <a:avLst>
              <a:gd name="adj" fmla="val 21053"/>
            </a:avLst>
          </a:prstGeom>
          <a:solidFill>
            <a:srgbClr val="BD9B56">
              <a:alpha val="12000"/>
            </a:srgbClr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344025" y="2524125"/>
            <a:ext cx="914400" cy="18097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对话</a:t>
            </a:r>
            <a:r>
              <a:rPr lang="en-US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BD9B56"/>
                </a:solidFill>
                <a:highlight>
                  <a:srgbClr val="BD9B56">
                    <a:alpha val="12000"/>
                  </a:srgbClr>
                </a:highlight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210550" y="2809875"/>
            <a:ext cx="3200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业主对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AI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答案点赞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纠错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沉淀「知识缺口」→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物业人员人工审核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审核通过自动写入知识库，越用越准。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210550" y="3638550"/>
            <a:ext cx="3200400" cy="1238250"/>
          </a:xfrm>
          <a:prstGeom prst="roundRect">
            <a:avLst>
              <a:gd name="adj" fmla="val 6154"/>
            </a:avLst>
          </a:prstGeom>
          <a:solidFill>
            <a:srgbClr val="BD9B56">
              <a:alpha val="5000"/>
            </a:srgbClr>
          </a:solidFill>
          <a:ln w="25400">
            <a:solidFill>
              <a:srgbClr val="BD9B56"/>
            </a:solidFill>
            <a:prstDash val="dash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067800" y="419100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此处放「知识缺口审核」截图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 '1280px', height: '720px', background: '#FBFCFA', position: 'relative', padding: '40px 64px', boxSizing: 'border-box', display: 'flex', flexDirection: 'column' }}&gt;&#10;  &lt;div style={{ flexShrink: 0 }}&gt;&#10;    &lt;div style={{ color: '#BD9B56', fontSize: 13, letterSpacing: '0.25em', marginBottom: 8 }}&gt;03 · 成果与验证&lt;/div&gt;&#10;    &lt;h2 style={{ fontSize: 30, fontWeight: 'bold', color: '#172133', margin: 0, lineHeight: 1.3 }}&gt;量化评估：用数据证明质量&lt;/h2&gt;&#10;    &lt;div style={{ fontSize: 14, color: '#6b7075', marginTop: 8 }}&gt;建立可量化的评估体系，用数据找到 bug、用数据证明修复&lt;/div&gt;&#10;  &lt;/div&gt;&#10;  &lt;div style={{ flex: 1, display: 'flex', alignItems: 'center' }}&gt;&#10;    &lt;div style={{ width: '100%', display: 'flex', gap: 20 }}&gt;&#10;      &lt;div style={{ flex: 1, background: '#fff', borderRadius: 12, padding: '28px 20px', textAlign: 'center', boxShadow: '0 6px 24px rgba(23,33,51,0.08)', borderTop: '4px solid #BD9B56' }}&gt;&#10;        &lt;div style={{ fontSize: 13, color: '#BD9B56', letterSpacing: '0.2em', marginBottom: 14 }}&gt;INTENT&lt;/div&gt;&#10;        &lt;div style={{ fontSize: 64, fontWeight: 'bold', color: '#172133', lineHeight: 1, fontFamily: 'Inter, sans-serif' }}&gt;100%&lt;/div&gt;&#10;        &lt;div style={{ fontSize: 14, color: '#5F5E5A', marginTop: 14, lineHeight: 1.5 }}&gt;意图识别准确率&lt;/div&gt;&#10;        &lt;div style={{ marginTop: 14, padding: '8px 0', borderTop: '1px solid rgba(34,57,94,0.1)' }}&gt;&#10;          &lt;span style={{ fontSize: 12, color: '#888780' }}&gt;从 83% 提升 · 修复 3 处规则盲区&lt;/span&gt;&#10;        &lt;/div&gt;&#10;      &lt;/div&gt;&#10;      &lt;div style={{ flex: 1, background: '#fff', borderRadius: 12, padding: '28px 20px', textAlign: 'center', boxShadow: '0 6px 24px rgba(23,33,51,0.08)', borderTop: '4px solid #BD9B56' }}&gt;&#10;        &lt;div style={{ fontSize: 13, color: '#BD9B56', letterSpacing: '0.2em', marginBottom: 14 }}&gt;RAG ANSWER&lt;/div&gt;&#10;        &lt;div style={{ fontSize: 64, fontWeight: 'bold', color: '#172133', lineHeight: 1, fontFamily: 'Inter, sans-serif' }}&gt;100%&lt;/div&gt;&#10;        &lt;div style={{ fontSize: 14, color: '#5F5E5A', marginTop: 14, lineHeight: 1.5 }}&gt;RAG 答案准确率&lt;/div&gt;&#10;        &lt;div style={{ marginTop: 14, padding: '8px 0', borderTop: '1px solid rgba(34,57,94,0.1)' }}&gt;&#10;          &lt;span style={{ fontSize: 12, color: '#888780' }}&gt;从 50% 提升 · 修复评估指标本身&lt;/span&gt;&#10;        &lt;/div&gt;&#10;      &lt;/div&gt;&#10;      &lt;div style={{ flex: 1, background: 'linear-gradient(135deg, #172133 0%, #22395E 100%)', borderRadius: 12, padding: '28px 20px', textAlign: 'center', boxShadow: '0 6px 24px rgba(23,33,51,0.18)', borderTop: '4px solid #BD9B56' }}&gt;&#10;        &lt;div style={{ fontSize: 13, color: '#BD9B56', letterSpacing: '0.2em', marginBottom: 14 }}&gt;TESTS · CI GREEN&lt;/div&gt;&#10;        &lt;div style={{ fontSize: 48, fontWeight: 'bold', color: '#FBFCFA', lineHeight: 1, fontFamily: 'Inter, sans-serif' }}&gt;113 + 30&lt;/div&gt;&#10;        &lt;div style={{ fontSize: 14, color: 'rgba(251,252,250,0.85)', marginTop: 14, lineHeight: 1.5 }}&gt;后端 + 前端测试全绿&lt;/div&gt;&#10;        &lt;div style={{ marginTop: 14, padding: '8px 0', borderTop: '1px solid rgba(189,155,86,0.3)' }}&gt;&#10;          &lt;span style={{ fontSize: 12, color: '#BD9B56' }}&gt;GitHub Actions 每次 push 自动跑&lt;/span&gt;&#10;        &lt;/div&gt;&#10;      &lt;/div&gt;&#10;    &lt;/div&gt;&#10;  &lt;/div&gt;&#10;  &lt;div style={{ flexShrink: 0, background: 'rgba(189,155,86,0.10)', borderLeft: '4px solid #BD9B56', borderRadius: '0 8px 8px 0', padding: '14px 22px' }}&gt;&#10;    &lt;p style={{ fontSize: 14, color: '#172133', margin: 0, lineHeight: 1.6 }}&gt;&lt;span style={{ color: '#BD9B56', fontWeight: 'bold' }}&gt;评估驱动优化：&lt;/span&gt;RAG 答案从 50% → 100% 不是换模型，而是发现「评估指标用脆弱子串匹配」的缺陷，改为「关键词覆盖度」评估，并优化答案生成 prompt——用数据找到 bug，用数据证明修复。&lt;/p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12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03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成果与验证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量化评估：用数据证明质量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11334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建立可量化的评估体系，用数据找到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bug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、用数据证明修复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2143125"/>
            <a:ext cx="3533775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09600" y="2143125"/>
            <a:ext cx="3533775" cy="2409825"/>
          </a:xfrm>
          <a:custGeom>
            <a:pathLst>
              <a:path w="371" h="253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2409825"/>
            <a:ext cx="31527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INTENT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" y="2695575"/>
            <a:ext cx="3152775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800">
                <a:solidFill>
                  <a:srgbClr val="172133"/>
                </a:solidFill>
                <a:latin typeface="Inter"/>
                <a:ea typeface="Inter"/>
              </a:rPr>
              <a:t>100%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00100" y="3562350"/>
            <a:ext cx="315277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意图识别准确率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800100" y="3943350"/>
            <a:ext cx="3152775" cy="314325"/>
          </a:xfrm>
          <a:custGeom>
            <a:pathLst>
              <a:path w="331" h="33">
                <a:moveTo>
                  <a:pt x="0" y="0"/>
                </a:moveTo>
                <a:lnTo>
                  <a:pt x="331" y="0"/>
                </a:lnTo>
                <a:lnTo>
                  <a:pt x="331" y="1"/>
                </a:lnTo>
                <a:lnTo>
                  <a:pt x="0" y="1"/>
                </a:lnTo>
                <a:close/>
              </a:path>
            </a:pathLst>
          </a:custGeom>
          <a:solidFill>
            <a:srgbClr val="22395E">
              <a:alpha val="10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" y="4029075"/>
            <a:ext cx="31527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从</a:t>
            </a:r>
            <a:r>
              <a:rPr lang="en-US" sz="900">
                <a:solidFill>
                  <a:srgbClr val="888780"/>
                </a:solidFill>
                <a:latin typeface="Microsoft YaHei"/>
                <a:ea typeface="Microsoft YaHei"/>
              </a:rPr>
              <a:t> 83% </a:t>
            </a: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提升</a:t>
            </a:r>
            <a:r>
              <a:rPr lang="en-US" sz="900">
                <a:solidFill>
                  <a:srgbClr val="8887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修复</a:t>
            </a:r>
            <a:r>
              <a:rPr lang="en-US" sz="900">
                <a:solidFill>
                  <a:srgbClr val="888780"/>
                </a:solidFill>
                <a:latin typeface="Microsoft YaHei"/>
                <a:ea typeface="Microsoft YaHei"/>
              </a:rPr>
              <a:t> 3 </a:t>
            </a: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处规则盲区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333875" y="2143125"/>
            <a:ext cx="3524250" cy="2409825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4333875" y="2143125"/>
            <a:ext cx="3524250" cy="2409825"/>
          </a:xfrm>
          <a:custGeom>
            <a:pathLst>
              <a:path w="370" h="253">
                <a:moveTo>
                  <a:pt x="359" y="0"/>
                </a:moveTo>
                <a:cubicBezTo>
                  <a:pt x="364" y="0"/>
                  <a:pt x="369" y="4"/>
                  <a:pt x="370" y="10"/>
                </a:cubicBezTo>
                <a:cubicBezTo>
                  <a:pt x="369" y="6"/>
                  <a:pt x="366" y="4"/>
                  <a:pt x="36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524375" y="2409825"/>
            <a:ext cx="31432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RAG ANSWER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524375" y="2695575"/>
            <a:ext cx="3143250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800">
                <a:solidFill>
                  <a:srgbClr val="172133"/>
                </a:solidFill>
                <a:latin typeface="Inter"/>
                <a:ea typeface="Inter"/>
              </a:rPr>
              <a:t>100%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524375" y="3562350"/>
            <a:ext cx="3143250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RAG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答案准确率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524375" y="3943350"/>
            <a:ext cx="3143250" cy="314325"/>
          </a:xfrm>
          <a:custGeom>
            <a:pathLst>
              <a:path w="330" h="33">
                <a:moveTo>
                  <a:pt x="0" y="0"/>
                </a:moveTo>
                <a:lnTo>
                  <a:pt x="330" y="0"/>
                </a:lnTo>
                <a:lnTo>
                  <a:pt x="330" y="1"/>
                </a:lnTo>
                <a:lnTo>
                  <a:pt x="0" y="1"/>
                </a:lnTo>
                <a:close/>
              </a:path>
            </a:pathLst>
          </a:custGeom>
          <a:solidFill>
            <a:srgbClr val="22395E">
              <a:alpha val="10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524375" y="4029075"/>
            <a:ext cx="31432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从</a:t>
            </a:r>
            <a:r>
              <a:rPr lang="en-US" sz="900">
                <a:solidFill>
                  <a:srgbClr val="888780"/>
                </a:solidFill>
                <a:latin typeface="Microsoft YaHei"/>
                <a:ea typeface="Microsoft YaHei"/>
              </a:rPr>
              <a:t> 50% </a:t>
            </a: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提升</a:t>
            </a:r>
            <a:r>
              <a:rPr lang="en-US" sz="900">
                <a:solidFill>
                  <a:srgbClr val="8887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888780"/>
                </a:solidFill>
                <a:latin typeface="Microsoft YaHei"/>
                <a:ea typeface="Microsoft YaHei"/>
              </a:rPr>
              <a:t>修复评估指标本身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048625" y="2143125"/>
            <a:ext cx="3533775" cy="2409825"/>
          </a:xfrm>
          <a:prstGeom prst="roundRect">
            <a:avLst>
              <a:gd name="adj" fmla="val 4743"/>
            </a:avLst>
          </a:prstGeom>
          <a:gradFill>
            <a:gsLst>
              <a:gs pos="0">
                <a:srgbClr val="172133"/>
              </a:gs>
              <a:gs pos="100000">
                <a:srgbClr val="22395E"/>
              </a:gs>
            </a:gsLst>
            <a:lin ang="2700000" scaled="1"/>
          </a:gradFill>
          <a:ln/>
          <a:effectLst>
            <a:outerShdw blurRad="228600" dist="57150" dir="5400000">
              <a:srgbClr val="17213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8048625" y="2143125"/>
            <a:ext cx="3533775" cy="2409825"/>
          </a:xfrm>
          <a:custGeom>
            <a:pathLst>
              <a:path w="371" h="253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239125" y="2409825"/>
            <a:ext cx="31527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TESTS · CI GREEN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239125" y="2695575"/>
            <a:ext cx="3152775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600">
                <a:solidFill>
                  <a:srgbClr val="FBFCFA"/>
                </a:solidFill>
                <a:latin typeface="Inter"/>
                <a:ea typeface="Inter"/>
              </a:rPr>
              <a:t>113 + 30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239125" y="3381375"/>
            <a:ext cx="315277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后端</a:t>
            </a:r>
            <a:r>
              <a:rPr lang="en-US" sz="1050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FBFCFA">
                    <a:alpha val="85000"/>
                  </a:srgbClr>
                </a:solidFill>
                <a:latin typeface="Microsoft YaHei"/>
                <a:ea typeface="Microsoft YaHei"/>
              </a:rPr>
              <a:t>前端测试全绿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239125" y="3762375"/>
            <a:ext cx="3152775" cy="314325"/>
          </a:xfrm>
          <a:custGeom>
            <a:pathLst>
              <a:path w="331" h="33">
                <a:moveTo>
                  <a:pt x="0" y="0"/>
                </a:moveTo>
                <a:lnTo>
                  <a:pt x="331" y="0"/>
                </a:lnTo>
                <a:lnTo>
                  <a:pt x="331" y="1"/>
                </a:lnTo>
                <a:lnTo>
                  <a:pt x="0" y="1"/>
                </a:lnTo>
                <a:close/>
              </a:path>
            </a:pathLst>
          </a:custGeom>
          <a:solidFill>
            <a:srgbClr val="BD9B56">
              <a:alpha val="30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239125" y="3848100"/>
            <a:ext cx="31527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GitHub Actions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每次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push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自动跑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47700" y="5314950"/>
            <a:ext cx="10972800" cy="781050"/>
          </a:xfrm>
          <a:custGeom>
            <a:pathLst>
              <a:path w="1152" h="82">
                <a:moveTo>
                  <a:pt x="0" y="0"/>
                </a:moveTo>
                <a:lnTo>
                  <a:pt x="1144" y="0"/>
                </a:lnTo>
                <a:cubicBezTo>
                  <a:pt x="1148" y="0"/>
                  <a:pt x="1152" y="4"/>
                  <a:pt x="1152" y="8"/>
                </a:cubicBezTo>
                <a:lnTo>
                  <a:pt x="1152" y="74"/>
                </a:lnTo>
                <a:cubicBezTo>
                  <a:pt x="1152" y="78"/>
                  <a:pt x="1148" y="82"/>
                  <a:pt x="1144" y="82"/>
                </a:cubicBezTo>
                <a:lnTo>
                  <a:pt x="0" y="82"/>
                </a:lnTo>
                <a:lnTo>
                  <a:pt x="0" y="8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D9B56">
              <a:alpha val="10000"/>
            </a:srgbClr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47700" y="5314950"/>
            <a:ext cx="10972800" cy="781050"/>
          </a:xfrm>
          <a:custGeom>
            <a:pathLst>
              <a:path w="1152" h="82">
                <a:moveTo>
                  <a:pt x="4" y="82"/>
                </a:moveTo>
                <a:lnTo>
                  <a:pt x="0" y="82"/>
                </a:ln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BD9B56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10515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BD9B56"/>
                </a:solidFill>
                <a:latin typeface="Microsoft YaHei"/>
                <a:ea typeface="Microsoft YaHei"/>
              </a:rPr>
              <a:t>评估驱动优化：</a:t>
            </a:r>
            <a:r>
              <a:rPr lang="en-US" sz="1050">
                <a:solidFill>
                  <a:srgbClr val="172133"/>
                </a:solidFill>
                <a:latin typeface="Microsoft YaHei"/>
                <a:ea typeface="Microsoft YaHei"/>
              </a:rPr>
              <a:t>RAG </a:t>
            </a:r>
            <a:r>
              <a:rPr lang="zh-CN" sz="1050">
                <a:solidFill>
                  <a:srgbClr val="172133"/>
                </a:solidFill>
                <a:latin typeface="Microsoft YaHei"/>
                <a:ea typeface="Microsoft YaHei"/>
              </a:rPr>
              <a:t>答案从</a:t>
            </a:r>
            <a:r>
              <a:rPr lang="en-US" sz="1050">
                <a:solidFill>
                  <a:srgbClr val="172133"/>
                </a:solidFill>
                <a:latin typeface="Microsoft YaHei"/>
                <a:ea typeface="Microsoft YaHei"/>
              </a:rPr>
              <a:t> 50% → 100% </a:t>
            </a:r>
            <a:r>
              <a:rPr lang="zh-CN" sz="1050">
                <a:solidFill>
                  <a:srgbClr val="172133"/>
                </a:solidFill>
                <a:latin typeface="Microsoft YaHei"/>
                <a:ea typeface="Microsoft YaHei"/>
              </a:rPr>
              <a:t>不是换模型，而是发现「评估指标用脆弱子串匹配」的缺陷，改为「关键词覆盖度」评估，并优化答案生成</a:t>
            </a:r>
            <a:r>
              <a:rPr lang="en-US" sz="1050">
                <a:solidFill>
                  <a:srgbClr val="172133"/>
                </a:solidFill>
                <a:latin typeface="Microsoft YaHei"/>
                <a:ea typeface="Microsoft YaHei"/>
              </a:rPr>
              <a:t> prompt——</a:t>
            </a:r>
            <a:r>
              <a:rPr lang="zh-CN" sz="1050">
                <a:solidFill>
                  <a:srgbClr val="172133"/>
                </a:solidFill>
                <a:latin typeface="Microsoft YaHei"/>
                <a:ea typeface="Microsoft YaHei"/>
              </a:rPr>
              <a:t>用数据找到</a:t>
            </a:r>
            <a:r>
              <a:rPr lang="en-US" sz="1050">
                <a:solidFill>
                  <a:srgbClr val="172133"/>
                </a:solidFill>
                <a:latin typeface="Microsoft YaHei"/>
                <a:ea typeface="Microsoft YaHei"/>
              </a:rPr>
              <a:t> bug</a:t>
            </a:r>
            <a:r>
              <a:rPr lang="zh-CN" sz="1050">
                <a:solidFill>
                  <a:srgbClr val="172133"/>
                </a:solidFill>
                <a:latin typeface="Microsoft YaHei"/>
                <a:ea typeface="Microsoft YaHei"/>
              </a:rPr>
              <a:t>，用数据证明修复。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6334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191875" y="63341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6" name="" descr="&lt;Slide style={{ width: '1280px', height: '720px', background: '#FBFCFA', position: 'relative', padding: '34px 64px', boxSizing: 'border-box', display: 'flex', flexDirection: 'column' }}&gt;&#10;  &lt;div style={{ flexShrink: 0 }}&gt;&#10;    &lt;div style={{ color: '#BD9B56', fontSize: 13, letterSpacing: '0.25em', marginBottom: 6 }}&gt;04 · 总结与展望&lt;/div&gt;&#10;    &lt;h2 style={{ fontSize: 30, fontWeight: 'bold', color: '#172133', margin: 0, lineHeight: 1.3 }}&gt;技术路线回顾：七个阶段 · 从 0 到上线&lt;/h2&gt;&#10;    &lt;div style={{ fontSize: 14, color: '#6b7075', marginTop: 6 }}&gt;每个阶段都有代码、测试、可运行交付，循序渐进验证&lt;/div&gt;&#10;  &lt;/div&gt;&#10;  &lt;div style={{ flex: 1, display: 'flex', alignItems: 'center', justifyContent: 'center' }}&gt;&#10;    &lt;div style={{ width: '100%', background: '#fff', borderRadius: 12, padding: '28px 30px', boxShadow: '0 6px 24px rgba(23,33,51,0.08)' }}&gt;&#10;      &lt;svg width=&quot;1090&quot; height=&quot;330&quot; viewBox=&quot;0 0 1090 330&quot;&gt;&#10;        &lt;g fontFamily=&quot;Inter, sans-serif&quot;&gt;&#10;          &lt;line x1=&quot;55&quot; y1=&quot;50&quot; x2=&quot;1045&quot; y2=&quot;50&quot; stroke=&quot;#22395E&quot; strokeWidth=&quot;2.5&quot; /&gt;&#10;          {[&#10;            ['P0', '项目初始化', '仓库 · Docker · CI'],&#10;            ['P1', '数据库', '15+ 表 + 仿真数据'],&#10;            ['P2', '后端', 'FastAPI 分层'],&#10;            ['P3', '前端', '三端 + PWA'],&#10;            ['P4', 'AI Agent', '多意图 + 状态机'],&#10;            ['P5', 'RAG', '向量化检索'],&#10;            ['P6', '评估', 'Intent/Tool/RAG'],&#10;            ['P7', '部署', '已上线'],&#10;          ].map(([p, t, d], i) =&gt; (&#10;            &lt;g key={p}&gt;&#10;              &lt;circle cx={55 + i * 140} cy={50} r=&quot;10&quot; fill=&quot;#BD9B56&quot; /&gt;&#10;              &lt;text x={55 + i * 140} y={22} textAnchor=&quot;middle&quot; fontSize=&quot;13&quot; fontWeight=&quot;bold&quot; fill=&quot;#BD9B56&quot;&gt;{p}&lt;/text&gt;&#10;              &lt;rect x={55 + i * 140 - 58} y={80} width=&quot;116&quot; height=&quot;56&quot; rx=&quot;8&quot; fill=&quot;rgba(34,57,94,0.06)&quot; stroke=&quot;#22395E&quot; strokeWidth=&quot;1.5&quot; /&gt;&#10;              &lt;text x={55 + i * 140} y={112} textAnchor=&quot;middle&quot; fontSize=&quot;14&quot; fontWeight=&quot;bold&quot; fill=&quot;#172133&quot;&gt;{t}&lt;/text&gt;&#10;              &lt;text x={55 + i * 140} y={150} textAnchor=&quot;middle&quot; fontSize=&quot;11&quot; fill=&quot;#5F5E5A&quot;&gt;{d}&lt;/text&gt;&#10;            &lt;/g&gt;&#10;          ))}&#10;          &lt;text x=&quot;55&quot; y=&quot;220&quot; fontSize=&quot;12&quot; fill=&quot;#5F5E5A&quot;&gt;交付：可运行骨架&lt;/text&gt;&#10;          &lt;text x=&quot;195&quot; y=&quot;220&quot; fontSize=&quot;12&quot; fill=&quot;#5F5E5A&quot;&gt;交付：数据就绪&lt;/text&gt;&#10;          &lt;text x=&quot;335&quot; y=&quot;220&quot; fontSize=&quot;12&quot; fill=&quot;#5F5E5A&quot;&gt;交付：API 可调用&lt;/text&gt;&#10;          &lt;text x=&quot;475&quot; y=&quot;220&quot; fontSize=&quot;12&quot; fill=&quot;#5F5E5A&quot;&gt;交付：三端成型&lt;/text&gt;&#10;          &lt;text x=&quot;615&quot; y=&quot;220&quot; fontSize=&quot;12&quot; fill=&quot;#5F5E5A&quot;&gt;交付：自然语言办事&lt;/text&gt;&#10;          &lt;text x=&quot;755&quot; y=&quot;220&quot; fontSize=&quot;12&quot; fill=&quot;#5F5E5A&quot;&gt;交付：知识问答&lt;/text&gt;&#10;          &lt;text x=&quot;895&quot; y=&quot;220&quot; fontSize=&quot;12&quot; fill=&quot;#5F5E5A&quot;&gt;交付：评估报告&lt;/text&gt;&#10;          &lt;text x=&quot;1035&quot; y=&quot;220&quot; fontSize=&quot;12&quot; fill=&quot;#5F5E5A&quot;&gt;交付：线上运行&lt;/text&gt;&#10;        &lt;/g&gt;&#10;      &lt;/svg&gt;&#10;      &lt;div style={{ marginTop: 14, display: 'flex', gap: 14 }}&gt;&#10;        &lt;div style={{ flex: 1, background: 'rgba(189,155,86,0.08)', borderRadius: 8, padding: '12px 14px' }}&gt;&#10;          &lt;div style={{ fontSize: 13, color: '#BD9B56', fontWeight: 'bold', marginBottom: 5 }}&gt;P1 数据一致性&lt;/div&gt;&#10;          &lt;p style={{ fontSize: 12, color: '#5F5E5A', margin: 0, lineHeight: 1.5 }}&gt;1664 套房源 + 746 账单，外键关联保证数据一致，8 个 SQL 可复现&lt;/p&gt;&#10;        &lt;/div&gt;&#10;        &lt;div style={{ flex: 1, background: 'rgba(189,155,86,0.08)', borderRadius: 8, padding: '12px 14px' }}&gt;&#10;          &lt;div style={{ fontSize: 13, color: '#BD9B56', fontWeight: 'bold', marginBottom: 5 }}&gt;P4 多轮状态机&lt;/div&gt;&#10;          &lt;p style={{ fontSize: 12, color: '#5F5E5A', margin: 0, lineHeight: 1.5 }}&gt;报修主动追问缺省字段，避免生成残缺工单&lt;/p&gt;&#10;        &lt;/div&gt;&#10;        &lt;div style={{ flex: 1, background: 'rgba(189,155,86,0.08)', borderRadius: 8, padding: '12px 14px' }}&gt;&#10;          &lt;div style={{ fontSize: 13, color: '#BD9B56', fontWeight: 'bold', marginBottom: 5 }}&gt;P6 评估找 bug&lt;/div&gt;&#10;          &lt;p style={{ fontSize: 12, color: '#5F5E5A', margin: 0, lineHeight: 1.5 }}&gt;意图 83%→100%、答案 50%→100%，数据驱动优化&lt;/p&gt;&#10;        &lt;/div&gt;&#10;        &lt;div style={{ flex: 1, background: 'rgba(189,155,86,0.08)', borderRadius: 8, padding: '12px 14px' }}&gt;&#10;          &lt;div style={{ fontSize: 13, color: '#BD9B56', fontWeight: 'bold', marginBottom: 5 }}&gt;P7 部署踩坑&lt;/div&gt;&#10;          &lt;p style={{ fontSize: 12, color: '#5F5E5A', margin: 0, lineHeight: 1.5 }}&gt;国内镜像源、SECRET_KEY、端口映射逐一踩平&lt;/p&gt;&#10;        &lt;/div&gt;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13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04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技术路线回顾：七个阶段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从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 0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到上线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10382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每个阶段都有代码、测试、可运行交付，循序渐进验证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352550"/>
            <a:ext cx="10972800" cy="4657725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619250"/>
            <a:ext cx="10382250" cy="314325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895350" y="4895850"/>
            <a:ext cx="2505075" cy="847725"/>
          </a:xfrm>
          <a:prstGeom prst="roundRect">
            <a:avLst>
              <a:gd name="adj" fmla="val 898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28700" y="5010150"/>
            <a:ext cx="2238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D9B56"/>
                </a:solidFill>
                <a:latin typeface="Microsoft YaHei"/>
                <a:ea typeface="Microsoft YaHei"/>
              </a:rPr>
              <a:t>P1 </a:t>
            </a:r>
            <a:r>
              <a:rPr lang="zh-CN" sz="975">
                <a:solidFill>
                  <a:srgbClr val="BD9B56"/>
                </a:solidFill>
                <a:latin typeface="Microsoft YaHei"/>
                <a:ea typeface="Microsoft YaHei"/>
              </a:rPr>
              <a:t>数据一致性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28700" y="5210175"/>
            <a:ext cx="22383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1664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套房源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+ 746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账单，外键关联保证数据一致，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8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个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SQL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可复现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533775" y="4895850"/>
            <a:ext cx="2495550" cy="847725"/>
          </a:xfrm>
          <a:prstGeom prst="roundRect">
            <a:avLst>
              <a:gd name="adj" fmla="val 898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667125" y="501015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D9B56"/>
                </a:solidFill>
                <a:latin typeface="Microsoft YaHei"/>
                <a:ea typeface="Microsoft YaHei"/>
              </a:rPr>
              <a:t>P4 </a:t>
            </a:r>
            <a:r>
              <a:rPr lang="zh-CN" sz="975">
                <a:solidFill>
                  <a:srgbClr val="BD9B56"/>
                </a:solidFill>
                <a:latin typeface="Microsoft YaHei"/>
                <a:ea typeface="Microsoft YaHei"/>
              </a:rPr>
              <a:t>多轮状态机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667125" y="5210175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报修主动追问缺省字段，避免生成残缺工单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162675" y="4895850"/>
            <a:ext cx="2505075" cy="847725"/>
          </a:xfrm>
          <a:prstGeom prst="roundRect">
            <a:avLst>
              <a:gd name="adj" fmla="val 898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296025" y="5010150"/>
            <a:ext cx="2238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D9B56"/>
                </a:solidFill>
                <a:latin typeface="Microsoft YaHei"/>
                <a:ea typeface="Microsoft YaHei"/>
              </a:rPr>
              <a:t>P6 </a:t>
            </a:r>
            <a:r>
              <a:rPr lang="zh-CN" sz="975">
                <a:solidFill>
                  <a:srgbClr val="BD9B56"/>
                </a:solidFill>
                <a:latin typeface="Microsoft YaHei"/>
                <a:ea typeface="Microsoft YaHei"/>
              </a:rPr>
              <a:t>评估找</a:t>
            </a:r>
            <a:r>
              <a:rPr lang="en-US" sz="975">
                <a:solidFill>
                  <a:srgbClr val="BD9B56"/>
                </a:solidFill>
                <a:latin typeface="Microsoft YaHei"/>
                <a:ea typeface="Microsoft YaHei"/>
              </a:rPr>
              <a:t> bug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296025" y="5210175"/>
            <a:ext cx="22383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意图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83%→100%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、答案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50%→100%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，数据驱动优化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8801100" y="4895850"/>
            <a:ext cx="2495550" cy="847725"/>
          </a:xfrm>
          <a:prstGeom prst="roundRect">
            <a:avLst>
              <a:gd name="adj" fmla="val 898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934450" y="501015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D9B56"/>
                </a:solidFill>
                <a:latin typeface="Microsoft YaHei"/>
                <a:ea typeface="Microsoft YaHei"/>
              </a:rPr>
              <a:t>P7 </a:t>
            </a:r>
            <a:r>
              <a:rPr lang="zh-CN" sz="975">
                <a:solidFill>
                  <a:srgbClr val="BD9B56"/>
                </a:solidFill>
                <a:latin typeface="Microsoft YaHei"/>
                <a:ea typeface="Microsoft YaHei"/>
              </a:rPr>
              <a:t>部署踩坑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934450" y="5210175"/>
            <a:ext cx="2228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国内镜像源、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SECRET_KEY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、端口映射逐一踩平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91875" y="63912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style={{ width: '1280px', height: '720px', background: '#FBFCFA', position: 'relative', padding: '34px 64px', boxSizing: 'border-box', display: 'flex', flexDirection: 'column' }}&gt;&#10;  &lt;div style={{ flexShrink: 0 }}&gt;&#10;    &lt;div style={{ color: '#BD9B56', fontSize: 13, letterSpacing: '0.25em', marginBottom: 6 }}&gt;04 · 总结与展望&lt;/div&gt;&#10;    &lt;h2 style={{ fontSize: 30, fontWeight: 'bold', color: '#172133', margin: 0, lineHeight: 1.3 }}&gt;总结与展望&lt;/h2&gt;&#10;  &lt;/div&gt;&#10;  &lt;div style={{ flex: 1, display: 'flex', alignItems: 'center', justifyContent: 'center', gap: 30 }}&gt;&#10;    &lt;div style={{ flex: 1, background: '#fff', borderRadius: 12, padding: '26px 28px', boxShadow: '0 6px 24px rgba(23,33,51,0.08)', display: 'flex', flexDirection: 'column', gap: 14 }}&gt;&#10;      &lt;div&gt;&#10;        &lt;div style={{ fontSize: 14, color: '#BD9B56', fontWeight: 'bold', letterSpacing: '0.1em', marginBottom: 8 }}&gt;项目成果&lt;/div&gt;&#10;        &lt;p style={{ fontSize: 14, color: '#5F5E5A', margin: 0, lineHeight: 1.7 }}&gt;从数据库设计起步，完整构建可运行的 AI 物业社区平台——三端应用、多意图 AI 助手、RAG 知识库、三条业务闭环、量化评估、CI/CD 部署全部落地。&lt;/p&gt;&#10;      &lt;/div&gt;&#10;      &lt;div style={{ display: 'flex', gap: 14 }}&gt;&#10;        &lt;div style={{ flex: 1, background: 'rgba(189,155,86,0.08)', borderRadius: 8, padding: '12px 14px' }}&gt;&#10;          &lt;div style={{ fontSize: 22, fontWeight: 'bold', color: '#BD9B56', fontFamily: 'Inter, sans-serif' }}&gt;100%&lt;/div&gt;&#10;          &lt;div style={{ fontSize: 12, color: '#5F5E5A', marginTop: 4 }}&gt;意图 / RAG 召回 / 答案准确率&lt;/div&gt;&#10;        &lt;/div&gt;&#10;        &lt;div style={{ flex: 1, background: 'rgba(189,155,86,0.08)', borderRadius: 8, padding: '12px 14px' }}&gt;&#10;          &lt;div style={{ fontSize: 22, fontWeight: 'bold', color: '#BD9B56', fontFamily: 'Inter, sans-serif' }}&gt;113+30&lt;/div&gt;&#10;          &lt;div style={{ fontSize: 12, color: '#5F5E5A', marginTop: 4 }}&gt;后端 + 前端测试全绿&lt;/div&gt;&#10;        &lt;/div&gt;&#10;        &lt;div style={{ flex: 1, background: 'rgba(189,155,86,0.08)', borderRadius: 8, padding: '12px 14px' }}&gt;&#10;          &lt;div style={{ fontSize: 22, fontWeight: 'bold', color: '#BD9B56', fontFamily: 'Inter, sans-serif' }}&gt;7 阶段&lt;/div&gt;&#10;          &lt;div style={{ fontSize: 12, color: '#5F5E5A', marginTop: 4 }}&gt;Phase 0-7 全部完成&lt;/div&gt;&#10;        &lt;/div&gt;&#10;      &lt;/div&gt;&#10;      &lt;div&gt;&#10;        &lt;div style={{ fontSize: 14, color: '#BD9B56', fontWeight: 'bold', letterSpacing: '0.1em', marginBottom: 8 }}&gt;技术栈&lt;/div&gt;&#10;        &lt;div style={{ fontSize: 13, color: '#5F5E5A', lineHeight: 1.8 }}&gt;React + TypeScript + Tailwind · FastAPI + SQLAlchemy + LangGraph · PostgreSQL + pgvector · 智谱 GLM-4-Flash&lt;/div&gt;&#10;      &lt;/div&gt;&#10;      &lt;div&gt;&#10;        &lt;div style={{ fontSize: 14, color: '#BD9B56', fontWeight: 'bold', letterSpacing: '0.1em', marginBottom: 8 }}&gt;未来展望&lt;/div&gt;&#10;        &lt;div style={{ fontSize: 13, color: '#5F5E5A', lineHeight: 1.8 }}&gt;IoT 设备接入 · 语音助手 · 多社区平台化（SaaS）&lt;/div&gt;&#10;      &lt;/div&gt;&#10;    &lt;/div&gt;&#10;    &lt;div style={{ flex: '0 0 360px', background: 'linear-gradient(135deg, #172133 0%, #22395E 100%)', borderRadius: 12, padding: '26px 26px', color: '#FBFCFA', display: 'flex', flexDirection: 'column', gap: 16 }}&gt;&#10;      &lt;div style={{ color: '#BD9B56', fontSize: 13, letterSpacing: '0.25em' }}&gt;ONLINE DEMO&lt;/div&gt;&#10;      &lt;div style={{ fontSize: 19, fontFamily: 'Inter, sans-serif', lineHeight: 1.5 }}&gt;http://119.91.236.85&lt;/div&gt;&#10;      &lt;div style={{ fontSize: 13, color: 'rgba(251,252,250,0.75)', lineHeight: 1.8 }}&gt;&#10;        业主 guoyi378&lt;br/&gt;物业 mayun420&lt;br/&gt;维修 yangfei423&lt;br/&gt;&lt;span style={{ color: '#BD9B56' }}&gt;密码均为 123456&lt;/span&gt;&#10;      &lt;/div&gt;&#10;      &lt;div style={{ paddingTop: 16, borderTop: '1px solid rgba(189,155,86,0.3)', fontSize: 12, color: 'rgba(251,252,250,0.6)', lineHeight: 1.7 }}&gt;&#10;        GitHub：Xuuuukkk/ai-property-community-agent&lt;br/&gt;MIT License&#10;      &lt;/div&gt;&#10;    &lt;/div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14 / 15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04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1876425"/>
            <a:ext cx="7258050" cy="3381375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7213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6300" y="2124075"/>
            <a:ext cx="672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项目成果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76300" y="2362200"/>
            <a:ext cx="6724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从数据库设计起步，完整构建可运行的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物业社区平台——三端应用、多意图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助手、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RAG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知识库、三条业务闭环、量化评估、</a:t>
            </a:r>
            <a:r>
              <a:rPr lang="en-US" sz="1050">
                <a:solidFill>
                  <a:srgbClr val="5F5E5A"/>
                </a:solidFill>
                <a:latin typeface="Microsoft YaHei"/>
                <a:ea typeface="Microsoft YaHei"/>
              </a:rPr>
              <a:t>CI/CD </a:t>
            </a:r>
            <a:r>
              <a:rPr lang="zh-CN" sz="1050">
                <a:solidFill>
                  <a:srgbClr val="5F5E5A"/>
                </a:solidFill>
                <a:latin typeface="Microsoft YaHei"/>
                <a:ea typeface="Microsoft YaHei"/>
              </a:rPr>
              <a:t>部署全部落地。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876300" y="3048000"/>
            <a:ext cx="2152650" cy="666750"/>
          </a:xfrm>
          <a:prstGeom prst="roundRect">
            <a:avLst>
              <a:gd name="adj" fmla="val 1142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09650" y="31623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BD9B56"/>
                </a:solidFill>
                <a:latin typeface="Inter"/>
                <a:ea typeface="Inter"/>
              </a:rPr>
              <a:t>100%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09650" y="34575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意图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/ RAG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召回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答案准确率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162300" y="3048000"/>
            <a:ext cx="2152650" cy="666750"/>
          </a:xfrm>
          <a:prstGeom prst="roundRect">
            <a:avLst>
              <a:gd name="adj" fmla="val 1142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295650" y="31623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BD9B56"/>
                </a:solidFill>
                <a:latin typeface="Inter"/>
                <a:ea typeface="Inter"/>
              </a:rPr>
              <a:t>113+30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295650" y="34575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后端</a:t>
            </a: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前端测试全绿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448300" y="3048000"/>
            <a:ext cx="2152650" cy="666750"/>
          </a:xfrm>
          <a:prstGeom prst="roundRect">
            <a:avLst>
              <a:gd name="adj" fmla="val 11429"/>
            </a:avLst>
          </a:prstGeom>
          <a:solidFill>
            <a:srgbClr val="BD9B56">
              <a:alpha val="8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581650" y="31623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BD9B56"/>
                </a:solidFill>
                <a:latin typeface="Inter"/>
                <a:ea typeface="Inter"/>
              </a:rPr>
              <a:t>7 </a:t>
            </a:r>
            <a:r>
              <a:rPr lang="zh-CN" sz="1650">
                <a:solidFill>
                  <a:srgbClr val="BD9B56"/>
                </a:solidFill>
                <a:latin typeface="Inter"/>
                <a:ea typeface="Inter"/>
              </a:rPr>
              <a:t>阶段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81650" y="34575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F5E5A"/>
                </a:solidFill>
                <a:latin typeface="Microsoft YaHei"/>
                <a:ea typeface="Microsoft YaHei"/>
              </a:rPr>
              <a:t>Phase 0-7 </a:t>
            </a:r>
            <a:r>
              <a:rPr lang="zh-CN" sz="900">
                <a:solidFill>
                  <a:srgbClr val="5F5E5A"/>
                </a:solidFill>
                <a:latin typeface="Microsoft YaHei"/>
                <a:ea typeface="Microsoft YaHei"/>
              </a:rPr>
              <a:t>全部完成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76300" y="3848100"/>
            <a:ext cx="672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技术栈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76300" y="4086225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React + TypeScript + Tailwind · FastAPI + SQLAlchemy + LangGraph · PostgreSQL + pgvector ·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智谱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GLM-4-Flash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672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未来展望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76300" y="4733925"/>
            <a:ext cx="6724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IoT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设备接入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语音助手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多社区平台化（</a:t>
            </a:r>
            <a:r>
              <a:rPr lang="en-US" sz="975">
                <a:solidFill>
                  <a:srgbClr val="5F5E5A"/>
                </a:solidFill>
                <a:latin typeface="Microsoft YaHei"/>
                <a:ea typeface="Microsoft YaHei"/>
              </a:rPr>
              <a:t>SaaS</a:t>
            </a:r>
            <a:r>
              <a:rPr lang="zh-CN" sz="975">
                <a:solidFill>
                  <a:srgbClr val="5F5E5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153400" y="2628900"/>
            <a:ext cx="3429000" cy="1876425"/>
          </a:xfrm>
          <a:prstGeom prst="roundRect">
            <a:avLst>
              <a:gd name="adj" fmla="val 6091"/>
            </a:avLst>
          </a:prstGeom>
          <a:gradFill>
            <a:gsLst>
              <a:gs pos="0">
                <a:srgbClr val="172133"/>
              </a:gs>
              <a:gs pos="100000">
                <a:srgbClr val="22395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401050" y="28765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ONLINE DEMO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401050" y="3181350"/>
            <a:ext cx="2933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FBFCFA"/>
                </a:solidFill>
                <a:latin typeface="Inter"/>
                <a:ea typeface="Inter"/>
              </a:rPr>
              <a:t>http://119.91.236.85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401050" y="3667125"/>
            <a:ext cx="29337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401050" y="3667125"/>
            <a:ext cx="29337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401050" y="3667125"/>
            <a:ext cx="29337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401050" y="3667125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BD9B56"/>
                </a:solidFill>
                <a:latin typeface="Microsoft YaHei"/>
                <a:ea typeface="Microsoft YaHei"/>
              </a:rPr>
              <a:t>密码均为</a:t>
            </a:r>
            <a:r>
              <a:rPr lang="en-US" sz="975">
                <a:solidFill>
                  <a:srgbClr val="BD9B56"/>
                </a:solidFill>
                <a:latin typeface="Microsoft YaHei"/>
                <a:ea typeface="Microsoft YaHei"/>
              </a:rPr>
              <a:t> 123456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401050" y="4095750"/>
            <a:ext cx="2933700" cy="171450"/>
          </a:xfrm>
          <a:custGeom>
            <a:pathLst>
              <a:path w="308" h="18">
                <a:moveTo>
                  <a:pt x="0" y="0"/>
                </a:moveTo>
                <a:lnTo>
                  <a:pt x="308" y="0"/>
                </a:lnTo>
                <a:lnTo>
                  <a:pt x="308" y="1"/>
                </a:lnTo>
                <a:lnTo>
                  <a:pt x="0" y="1"/>
                </a:lnTo>
                <a:close/>
              </a:path>
            </a:pathLst>
          </a:custGeom>
          <a:solidFill>
            <a:srgbClr val="BD9B56">
              <a:alpha val="30000"/>
            </a:srgbClr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401050" y="4257675"/>
            <a:ext cx="293370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91875" y="63912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style={{ width: '1280px', height: '720px', background: 'linear-gradient(135deg, #172133 0%, #22395E 100%)', position: 'relative' }}&gt;&#10;  &lt;div style={{ position: 'absolute', inset: 0, display: 'flex', flexDirection: 'column', alignItems: 'center', justifyContent: 'center', color: '#FBFCFA' }}&gt;&#10;    &lt;div style={{ color: '#BD9B56', fontSize: 26, marginBottom: 22, letterSpacing: '0.4em' }}&gt;◆&lt;/div&gt;&#10;    &lt;h1 style={{ fontSize: 56, fontWeight: 'bold', margin: 0, color: '#FBFCFA', letterSpacing: '0.12em' }}&gt;感谢聆听&lt;/h1&gt;&#10;    &lt;div style={{ width: 80, height: 3, background: '#BD9B56', marginTop: 26, marginBottom: 26 }} /&gt;&#10;    &lt;p style={{ fontSize: 20, color: 'rgba(189,155,86,0.9)', margin: 0, letterSpacing: '0.15em' }}&gt;让 AI 真正走进社区&lt;/p&gt;&#10;    &lt;div style={{ marginTop: 56, padding: '20px 40px', background: 'rgba(189,155,86,0.08)', border: '1px solid rgba(189,155,86,0.3)', borderRadius: 8, textAlign: 'center' }}&gt;&#10;      &lt;div style={{ fontSize: 12, color: '#BD9B56', letterSpacing: '0.25em', marginBottom: 10 }}&gt;ONLINE DEMO&lt;/div&gt;&#10;      &lt;div style={{ fontSize: 17, color: '#FBFCFA', fontFamily: 'Inter, sans-serif', marginBottom: 4 }}&gt;http://119.91.236.85&lt;/div&gt;&#10;      &lt;div style={{ fontSize: 12, color: 'rgba(251,252,250,0.7)' }}&gt;业主 guoyi378 · 物业 mayun420 · 维修 yangfei423（密码 123456）&lt;/div&gt;&#10;    &lt;/div&gt;&#10;  &lt;/div&gt;&#10;  &lt;div style={{ position: 'absolute', left: 64, bottom: 28, color: '#BD9B56', fontSize: 13, letterSpacing: '0.12em' }}&gt;云溪花园 · 智慧社区&lt;/div&gt;&#10;  &lt;div style={{ position: 'absolute', right: 28, bottom: 28, color: 'rgba(189,155,86,0.75)', fontSize: 13 }}&gt;15 / 15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72133"/>
              </a:gs>
              <a:gs pos="100000">
                <a:srgbClr val="22395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19800" y="1704975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029200" y="2219325"/>
            <a:ext cx="2133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BFCFA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715000" y="3114675"/>
            <a:ext cx="762000" cy="28575"/>
          </a:xfrm>
          <a:prstGeom prst="rect">
            <a:avLst/>
          </a:prstGeom>
          <a:solidFill>
            <a:srgbClr val="BD9B56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276850" y="3390900"/>
            <a:ext cx="163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D9B56">
                    <a:alpha val="90000"/>
                  </a:srgbClr>
                </a:solidFill>
                <a:latin typeface="Microsoft YaHei"/>
                <a:ea typeface="Microsoft YaHei"/>
              </a:rPr>
              <a:t>让</a:t>
            </a:r>
            <a:r>
              <a:rPr lang="en-US" sz="1500">
                <a:solidFill>
                  <a:srgbClr val="BD9B56">
                    <a:alpha val="90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BD9B56">
                    <a:alpha val="90000"/>
                  </a:srgbClr>
                </a:solidFill>
                <a:latin typeface="Microsoft YaHei"/>
                <a:ea typeface="Microsoft YaHei"/>
              </a:rPr>
              <a:t>真正走进社区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933825" y="4152900"/>
            <a:ext cx="4324350" cy="1000125"/>
          </a:xfrm>
          <a:prstGeom prst="roundRect">
            <a:avLst>
              <a:gd name="adj" fmla="val 7619"/>
            </a:avLst>
          </a:prstGeom>
          <a:solidFill>
            <a:srgbClr val="BD9B56">
              <a:alpha val="8000"/>
            </a:srgbClr>
          </a:solidFill>
          <a:ln w="12700">
            <a:solidFill>
              <a:srgbClr val="BD9B5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314825" y="4343400"/>
            <a:ext cx="35623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ONLINE DEMO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314825" y="4581525"/>
            <a:ext cx="356235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>
                <a:solidFill>
                  <a:srgbClr val="FBFCFA"/>
                </a:solidFill>
                <a:latin typeface="Inter"/>
                <a:ea typeface="Inter"/>
              </a:rPr>
              <a:t>http://119.91.236.85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314825" y="4819650"/>
            <a:ext cx="35623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业主</a:t>
            </a:r>
            <a:r>
              <a:rPr lang="en-US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 guoyi378 · </a:t>
            </a:r>
            <a:r>
              <a:rPr lang="zh-CN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物业</a:t>
            </a:r>
            <a:r>
              <a:rPr lang="en-US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 mayun420 · </a:t>
            </a:r>
            <a:r>
              <a:rPr lang="zh-CN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维修</a:t>
            </a:r>
            <a:r>
              <a:rPr lang="en-US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 yangfei423</a:t>
            </a:r>
            <a:r>
              <a:rPr lang="zh-CN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（密码</a:t>
            </a:r>
            <a:r>
              <a:rPr lang="en-US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 123456</a:t>
            </a:r>
            <a:r>
              <a:rPr lang="zh-CN" sz="900">
                <a:solidFill>
                  <a:srgbClr val="FBFCFA">
                    <a:alpha val="70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506200" y="64389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D9B56">
                    <a:alpha val="75000"/>
                  </a:srgbClr>
                </a:solidFill>
                <a:latin typeface="Microsoft YaHei"/>
                <a:ea typeface="Microsoft YaHei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2026-08-18T23:30:25Z</dcterms:created>
  <dcterms:modified xsi:type="dcterms:W3CDTF">2026-08-18T23:30:25Z</dcterms:modified>
</cp:coreProperties>
</file>