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9" Type="http://schemas.openxmlformats.org/officeDocument/2006/relationships/slide" Target="slides/slide9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3" Type="http://schemas.openxmlformats.org/officeDocument/2006/relationships/slide" Target="slides/slide3.xml" /><Relationship Id="rId12" Type="http://schemas.openxmlformats.org/officeDocument/2006/relationships/slide" Target="slides/slide12.xml" /><Relationship Id="rId15" Type="http://schemas.openxmlformats.org/officeDocument/2006/relationships/slide" Target="slides/slide15.xml" /><Relationship Id="rId5" Type="http://schemas.openxmlformats.org/officeDocument/2006/relationships/slide" Target="slides/slide5.xml" /><Relationship Id="rId20" Type="http://schemas.openxmlformats.org/officeDocument/2006/relationships/tableStyles" Target="tableStyles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notesMaster" Target="notesMasters/notesMaster1.xml" /><Relationship Id="rId19" Type="http://schemas.openxmlformats.org/officeDocument/2006/relationships/presProps" Target="presProps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21" Type="http://schemas.openxmlformats.org/officeDocument/2006/relationships/viewProps" Target="viewProps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0;  &lt;img src=&quot;assets/hero_community.png&quot; style={{ position: 'absolute', inset: 0, width: '100%', height: '100%', objectFit: 'cover' }} /&gt;&#10;  &lt;div style={{ position: 'absolute', inset: 0, background: 'linear-gradient(90deg, rgba(23,33,51,0.9) 0%, rgba(23,33,51,0.55) 45%, rgba(23,33,51,0.05) 100%)' }} /&gt;&#10;  &lt;div style={{ position: 'absolute', left: 64, top: 180, width: 760, color: '#FBFCFA' }}&gt;&#10;    &lt;div style={{ display: 'flex', alignItems: 'center', gap: 18, marginBottom: 28 }}&gt;&#10;      &lt;span style={{ color: '#BD9B56', fontSize: 38, lineHeight: 1 }}&gt;✦&lt;/span&gt;&#10;      &lt;span style={{ fontSize: 18, letterSpacing: '0.3em', color: '#BD9B56' }}&gt;YUNXI GARDEN&lt;/span&gt;&#10;    &lt;/div&gt;&#10;    &lt;h1 style={{ fontSize: 64, fontWeight: 'bold', margin: 0, lineHeight: 1.18, color: '#FBFCFA' }}&gt;AI 物业社区智能体&lt;/h1&gt;&#10;    &lt;p style={{ fontSize: 26, marginTop: 26, color: '#FBFCFA', opacity: 0.88, lineHeight: 1.5 }}&gt;从数据库到 AI Agent · 完整的 AI Native 物业平台&lt;/p&gt;&#10;    &lt;div style={{ width: 88, height: 3, background: '#BD9B56', marginTop: 44 }} /&gt;&#10;    &lt;p style={{ fontSize: 16, marginTop: 26, color: '#BD9B56', letterSpacing: '0.18em' }}&gt;SCHOOL PROJECT · 2026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1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714500"/>
            <a:ext cx="3619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850">
                <a:solidFill>
                  <a:srgbClr val="BD9B56"/>
                </a:solidFill>
                <a:latin typeface="Microsoft YaHei"/>
                <a:ea typeface="Microsoft YaHei"/>
              </a:rPr>
              <a:t>✦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143000" y="1828800"/>
            <a:ext cx="1314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419350"/>
            <a:ext cx="7239000" cy="866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48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8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400550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723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533775"/>
            <a:ext cx="7239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从数据库到</a:t>
            </a:r>
            <a:r>
              <a:rPr lang="en-US" sz="19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Agent · </a:t>
            </a:r>
            <a:r>
              <a:rPr lang="zh-CN" sz="19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完整的</a:t>
            </a:r>
            <a:r>
              <a:rPr lang="en-US" sz="19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9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17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73" name="" descr="&lt;Slide style={{ width: '1280px', height: '720px', background: '#FBFCFA', position: 'relative' }}&gt;&#10;  &lt;div style={{ position: 'absolute', left: 64, top: 60 }}&gt;&#10;    &lt;div style={{ color: '#BD9B56', fontSize: 18, letterSpacing: '0.3em', marginBottom: 16 }}&gt;CONTENTS&lt;/div&gt;&#10;    &lt;h2 style={{ fontSize: 48, fontWeight: 'bold', color: '#172133', margin: 0 }}&gt;目录&lt;/h2&gt;&#10;    &lt;div style={{ width: 64, height: 3, background: '#BD9B56', marginTop: 20 }} /&gt;&#10;    &lt;p style={{ fontSize: 14, color: '#888780', marginTop: 24, letterSpacing: '0.1em' }}&gt;AI PROPERTY&lt;/p&gt;&#10;    &lt;p style={{ fontSize: 14, color: '#888780', letterSpacing: '0.1em' }}&gt;COMMUNITY AGENT&lt;/p&gt;&#10;  &lt;/div&gt;&#10;  &lt;div style={{ position: 'absolute', left: 420, top: 96, right: 64 }}&gt;&#10;    &lt;div style={{ display: 'flex', alignItems: 'baseline', gap: 36, paddingBottom: 20, borderBottom: '1px solid rgba(34,57,94,0.12)', marginBottom: 22 }}&gt;&#10;      &lt;span style={{ color: '#BD9B56', fontSize: 52, fontWeight: 'bold', lineHeight: 1, minWidth: 96 }}&gt;01&lt;/span&gt;&#10;      &lt;div&gt;&#10;        &lt;div style={{ fontSize: 26, fontWeight: 'bold', color: '#172133' }}&gt;项目背景与规模&lt;/div&gt;&#10;        &lt;div style={{ fontSize: 15, color: '#5F5E5A', marginTop: 6 }}&gt;传统物业痛点 · 虚拟社区「云溪花园」· 方案定位&lt;/div&gt;&#10;      &lt;/div&gt;&#10;    &lt;/div&gt;&#10;    &lt;div style={{ display: 'flex', alignItems: 'baseline', gap: 36, paddingBottom: 20, borderBottom: '1px solid rgba(34,57,94,0.12)', marginBottom: 22 }}&gt;&#10;      &lt;span style={{ color: '#BD9B56', fontSize: 52, fontWeight: 'bold', lineHeight: 1, minWidth: 96 }}&gt;02&lt;/span&gt;&#10;      &lt;div&gt;&#10;        &lt;div style={{ fontSize: 26, fontWeight: 'bold', color: '#172133' }}&gt;技术构建路线&lt;/div&gt;&#10;        &lt;div style={{ fontSize: 15, color: '#5F5E5A', marginTop: 6 }}&gt;数据库 → 后端 → 前端 → Agent → RAG → 评估 → 部署&lt;/div&gt;&#10;      &lt;/div&gt;&#10;    &lt;/div&gt;&#10;    &lt;div style={{ display: 'flex', alignItems: 'baseline', gap: 36, paddingBottom: 20, borderBottom: '1px solid rgba(34,57,94,0.12)', marginBottom: 22 }}&gt;&#10;      &lt;span style={{ color: '#BD9B56', fontSize: 52, fontWeight: 'bold', lineHeight: 1, minWidth: 96 }}&gt;03&lt;/span&gt;&#10;      &lt;div&gt;&#10;        &lt;div style={{ fontSize: 26, fontWeight: 'bold', color: '#172133' }}&gt;AI 能力与成果&lt;/div&gt;&#10;        &lt;div style={{ fontSize: 15, color: '#5F5E5A', marginTop: 6 }}&gt;AI Agent · RAG 知识库 · 功能闭环 · 量化评估&lt;/div&gt;&#10;      &lt;/div&gt;&#10;    &lt;/div&gt;&#10;    &lt;div style={{ display: 'flex', alignItems: 'baseline', gap: 36, paddingBottom: 20 }}&gt;&#10;      &lt;span style={{ color: '#BD9B56', fontSize: 52, fontWeight: 'bold', lineHeight: 1, minWidth: 96 }}&gt;04&lt;/span&gt;&#10;      &lt;div&gt;&#10;        &lt;div style={{ fontSize: 26, fontWeight: 'bold', color: '#172133' }}&gt;总结&lt;/div&gt;&#10;        &lt;div style={{ fontSize: 15, color: '#5F5E5A', marginTop: 6 }}&gt;成果回顾 · 在线演示&lt;/div&gt;&#10;      &lt;/div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2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09600" y="571500"/>
            <a:ext cx="1352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09600" y="933450"/>
            <a:ext cx="13525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60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09600" y="16764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9600" y="1933575"/>
            <a:ext cx="1352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780"/>
                </a:solidFill>
                <a:latin typeface="Microsoft YaHei"/>
                <a:ea typeface="Microsoft YaHei"/>
              </a:rPr>
              <a:t>AI PROPERTY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2095500"/>
            <a:ext cx="1352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780"/>
                </a:solidFill>
                <a:latin typeface="Microsoft YaHei"/>
                <a:ea typeface="Microsoft YaHei"/>
              </a:rPr>
              <a:t>COMMUNITY AGENT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4000500" y="914400"/>
            <a:ext cx="7581900" cy="809625"/>
          </a:xfrm>
          <a:custGeom>
            <a:pathLst>
              <a:path w="796" h="85">
                <a:moveTo>
                  <a:pt x="0" y="84"/>
                </a:moveTo>
                <a:lnTo>
                  <a:pt x="796" y="84"/>
                </a:lnTo>
                <a:lnTo>
                  <a:pt x="796" y="85"/>
                </a:lnTo>
                <a:lnTo>
                  <a:pt x="0" y="85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000500" y="914400"/>
            <a:ext cx="9144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BD9B56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257800" y="914400"/>
            <a:ext cx="3057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257800" y="1276350"/>
            <a:ext cx="3057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虚拟社区「云溪花园」·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方案定位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4000500" y="1924050"/>
            <a:ext cx="7581900" cy="809625"/>
          </a:xfrm>
          <a:custGeom>
            <a:pathLst>
              <a:path w="796" h="85">
                <a:moveTo>
                  <a:pt x="0" y="84"/>
                </a:moveTo>
                <a:lnTo>
                  <a:pt x="796" y="84"/>
                </a:lnTo>
                <a:lnTo>
                  <a:pt x="796" y="85"/>
                </a:lnTo>
                <a:lnTo>
                  <a:pt x="0" y="85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4000500" y="1924050"/>
            <a:ext cx="9144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BD9B56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57800" y="1924050"/>
            <a:ext cx="3657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172133"/>
                </a:solidFill>
                <a:latin typeface="Microsoft YaHei"/>
                <a:ea typeface="Microsoft YaHei"/>
              </a:rPr>
              <a:t>技术构建路线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57800" y="2286000"/>
            <a:ext cx="3657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数据库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后端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前端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→ Agent → RAG →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评估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部署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000500" y="2933700"/>
            <a:ext cx="7581900" cy="809625"/>
          </a:xfrm>
          <a:custGeom>
            <a:pathLst>
              <a:path w="796" h="85">
                <a:moveTo>
                  <a:pt x="0" y="84"/>
                </a:moveTo>
                <a:lnTo>
                  <a:pt x="796" y="84"/>
                </a:lnTo>
                <a:lnTo>
                  <a:pt x="796" y="85"/>
                </a:lnTo>
                <a:lnTo>
                  <a:pt x="0" y="85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000500" y="2933700"/>
            <a:ext cx="9144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BD9B56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257800" y="2933700"/>
            <a:ext cx="2876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1950">
                <a:solidFill>
                  <a:srgbClr val="172133"/>
                </a:solidFill>
                <a:latin typeface="Microsoft YaHei"/>
                <a:ea typeface="Microsoft YaHei"/>
              </a:rPr>
              <a:t>能力与成果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257800" y="32956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AI Agent · RAG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知识库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功能闭环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量化评估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000500" y="3943350"/>
            <a:ext cx="9144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BD9B56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257800" y="3943350"/>
            <a:ext cx="12668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172133"/>
                </a:solidFill>
                <a:latin typeface="Microsoft YaHei"/>
                <a:ea typeface="Microsoft YaHei"/>
              </a:rPr>
              <a:t>总结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257800" y="4305300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成果回顾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在线演示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02 / 17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7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2, letterSpacing: '0.45em', marginBottom: 28 }}&gt;CHAPTER&lt;/div&gt;&#10;    &lt;div style={{ display: 'flex', alignItems: 'center', gap: 36 }}&gt;&#10;      &lt;span style={{ color: '#BD9B56', fontSize: 140, fontWeight: 'bold', lineHeight: 1 }}&gt;01&lt;/span&gt;&#10;      &lt;div style={{ width: 2, height: 110, background: '#BD9B56' }} /&gt;&#10;      &lt;div&gt;&#10;        &lt;h2 style={{ fontSize: 60, fontWeight: 'bold', margin: 0, color: '#FBFCFA' }}&gt;项目背景与规模&lt;/h2&gt;&#10;        &lt;p style={{ fontSize: 20, color: 'rgba(189,155,86,0.85)', marginTop: 18, letterSpacing: '0.18em' }}&gt;CONTEXT · SCALE&lt;/p&gt;&#10;      &lt;/div&gt;&#10;    &lt;/div&gt;&#10;    &lt;p style={{ fontSize: 18, color: 'rgba(251,252,250,0.6)', marginTop: 48, maxWidth: 720, textAlign: 'center', lineHeight: 1.6 }}&gt;一个接近真实的数字化物业社区，作为 AI 能力的试验场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3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5619750" y="19716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CHAPTER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2924175" y="2495550"/>
            <a:ext cx="1647825" cy="1600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0" b="1">
                <a:solidFill>
                  <a:srgbClr val="BD9B56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914900" y="2771775"/>
            <a:ext cx="19050" cy="1047750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5276850" y="2752725"/>
            <a:ext cx="40005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5276850" y="3609975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BD9B56">
                    <a:alpha val="85000"/>
                  </a:srgbClr>
                </a:solidFill>
                <a:latin typeface="Microsoft YaHei"/>
                <a:ea typeface="Microsoft YaHei"/>
              </a:rPr>
              <a:t>CONTEXT · SCALE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90975" y="4552950"/>
            <a:ext cx="4219575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350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一个接近真实的数字化物业社区，作为</a:t>
            </a:r>
            <a:r>
              <a:rPr lang="en-US" sz="1350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350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能力的试验场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03 / 17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7" name="" descr="&lt;Slide style={{ width: '1280px', height: '720px', background: '#FBFCFA', position: 'relative' }}&gt;&#10;  &lt;div style={{ position: 'absolute', left: 64, top: 56, right: 64 }}&gt;&#10;    &lt;div style={{ color: '#BD9B56', fontSize: 16, letterSpacing: '0.3em', marginBottom: 8 }}&gt;01 · 项目背景&lt;/div&gt;&#10;    &lt;h2 style={{ fontSize: 36, fontWeight: 'bold', color: '#172133', margin: 0 }}&gt;传统物业的三重困境&lt;/h2&gt;&#10;  &lt;/div&gt;&#10;  &lt;div style={{ position: 'absolute', left: 64, top: 150, width: 700, display: 'flex', flexDirection: 'column', gap: 22 }}&gt;&#10;    &lt;div style={{ background: '#fff', borderLeft: '4px solid #BD9B56', padding: '16px 24px', borderRadius: '0 8px 8px 0', boxShadow: '0 4px 16px rgba(23,33,51,0.06)' }}&gt;&#10;      &lt;div style={{ display: 'flex', alignItems: 'center', gap: 12, marginBottom: 4 }}&gt;&#10;        &lt;span style={{ color: '#BD9B56', fontSize: 22 }}&gt;⚠&lt;/span&gt;&#10;        &lt;span style={{ fontSize: 19, fontWeight: 'bold', color: '#172133' }}&gt;信息孤岛&lt;/span&gt;&#10;      &lt;/div&gt;&#10;      &lt;p style={{ fontSize: 14, color: '#5F5E5A', margin: 0, lineHeight: 1.5 }}&gt;工单、费用、巡检数据散落在不同系统，业主报修与物业响应割裂&lt;/p&gt;&#10;    &lt;/div&gt;&#10;    &lt;div style={{ background: '#fff', borderLeft: '4px solid #BD9B56', padding: '16px 24px', borderRadius: '0 8px 8px 0', boxShadow: '0 4px 16px rgba(23,33,51,0.06)' }}&gt;&#10;      &lt;div style={{ display: 'flex', alignItems: 'center', gap: 12, marginBottom: 4 }}&gt;&#10;        &lt;span style={{ color: '#BD9B56', fontSize: 22 }}&gt;⏱&lt;/span&gt;&#10;        &lt;span style={{ fontSize: 19, fontWeight: 'bold', color: '#172133' }}&gt;响应迟缓&lt;/span&gt;&#10;      &lt;/div&gt;&#10;      &lt;p style={{ fontSize: 14, color: '#5F5E5A', margin: 0, lineHeight: 1.5 }}&gt;工单流转靠电话与微信群，从报修到派单平均耗时小时级&lt;/p&gt;&#10;    &lt;/div&gt;&#10;    &lt;div style={{ background: '#fff', borderLeft: '4px solid #BD9B56', padding: '16px 24px', borderRadius: '0 8px 8px 0', boxShadow: '0 4px 16px rgba(23,33,51,0.06)' }}&gt;&#10;      &lt;div style={{ display: 'flex', alignItems: 'center', gap: 12, marginBottom: 4 }}&gt;&#10;        &lt;span style={{ color: '#BD9B56', fontSize: 22 }}&gt;?&lt;/span&gt;&#10;        &lt;span style={{ fontSize: 19, fontWeight: 'bold', color: '#172133' }}&gt;隐性知识散落&lt;/span&gt;&#10;      &lt;/div&gt;&#10;      &lt;p style={{ fontSize: 14, color: '#5F5E5A', margin: 0, lineHeight: 1.5 }}&gt;装修时间、停车规则、物业规约等经验在员工脑子里，新人无法快速上手&lt;/p&gt;&#10;    &lt;/div&gt;&#10;  &lt;/div&gt;&#10;  &lt;div style={{ position: 'absolute', right: 64, top: 150, width: 420, background: 'linear-gradient(135deg, #172133 0%, #22395E 100%)', borderRadius: 12, padding: '32px 30px', color: '#FBFCFA', boxShadow: '0 10px 30px rgba(23,33,51,0.18)' }}&gt;&#10;    &lt;div style={{ color: '#BD9B56', fontSize: 14, letterSpacing: '0.3em', marginBottom: 12 }}&gt;AI NATIVE&lt;/div&gt;&#10;    &lt;h3 style={{ fontSize: 24, fontWeight: 'bold', margin: '0 0 16px', color: '#FBFCFA' }}&gt;破局思路&lt;/h3&gt;&#10;    &lt;p style={{ fontSize: 14, color: 'rgba(251,252,250,0.88)', margin: 0, lineHeight: 1.65 }}&gt;&#10;      用 LLM + Agent 架构统一入口，让 AI 真正参与报修、巡检、知识问答的完整业务流程，&lt;span style={{ color: '#BD9B56', fontWeight: 'bold' }}&gt;不只是贴个聊天框&lt;/span&gt;。&#10;    &lt;/p&gt;&#10;    &lt;div style={{ marginTop: 20, paddingTop: 20, borderTop: '1px solid rgba(189,155,86,0.3)' }}&gt;&#10;      &lt;div style={{ fontSize: 12, color: 'rgba(189,155,86,0.9)', lineHeight: 1.7 }}&gt;· 多意图 Agent 统一分发&lt;br/&gt;· RAG 检索物业隐性知识&lt;br/&gt;· 反馈闭环沉淀新知识&lt;/div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4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9600" y="5334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647700" y="1428750"/>
            <a:ext cx="6667500" cy="847725"/>
          </a:xfrm>
          <a:custGeom>
            <a:pathLst>
              <a:path w="700" h="89">
                <a:moveTo>
                  <a:pt x="0" y="0"/>
                </a:moveTo>
                <a:lnTo>
                  <a:pt x="692" y="0"/>
                </a:lnTo>
                <a:cubicBezTo>
                  <a:pt x="696" y="0"/>
                  <a:pt x="700" y="4"/>
                  <a:pt x="700" y="8"/>
                </a:cubicBezTo>
                <a:lnTo>
                  <a:pt x="700" y="81"/>
                </a:lnTo>
                <a:cubicBezTo>
                  <a:pt x="700" y="85"/>
                  <a:pt x="696" y="89"/>
                  <a:pt x="692" y="89"/>
                </a:cubicBezTo>
                <a:lnTo>
                  <a:pt x="0" y="89"/>
                </a:lnTo>
                <a:lnTo>
                  <a:pt x="0" y="89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647700" y="1428750"/>
            <a:ext cx="6667500" cy="847725"/>
          </a:xfrm>
          <a:custGeom>
            <a:pathLst>
              <a:path w="700" h="89">
                <a:moveTo>
                  <a:pt x="4" y="89"/>
                </a:moveTo>
                <a:lnTo>
                  <a:pt x="0" y="89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76300" y="1581150"/>
            <a:ext cx="20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BD9B56"/>
                </a:solidFill>
                <a:latin typeface="Microsoft YaHei"/>
                <a:ea typeface="Microsoft YaHei"/>
              </a:rPr>
              <a:t>⚠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200150" y="1600200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76300" y="1876425"/>
            <a:ext cx="61722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工单、费用、巡检数据散落在不同系统，业主报修与物业响应割裂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647700" y="2486025"/>
            <a:ext cx="6667500" cy="847725"/>
          </a:xfrm>
          <a:custGeom>
            <a:pathLst>
              <a:path w="700" h="89">
                <a:moveTo>
                  <a:pt x="0" y="0"/>
                </a:moveTo>
                <a:lnTo>
                  <a:pt x="692" y="0"/>
                </a:lnTo>
                <a:cubicBezTo>
                  <a:pt x="696" y="0"/>
                  <a:pt x="700" y="4"/>
                  <a:pt x="700" y="8"/>
                </a:cubicBezTo>
                <a:lnTo>
                  <a:pt x="700" y="81"/>
                </a:lnTo>
                <a:cubicBezTo>
                  <a:pt x="700" y="85"/>
                  <a:pt x="696" y="89"/>
                  <a:pt x="692" y="89"/>
                </a:cubicBezTo>
                <a:lnTo>
                  <a:pt x="0" y="89"/>
                </a:lnTo>
                <a:lnTo>
                  <a:pt x="0" y="89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647700" y="2486025"/>
            <a:ext cx="6667500" cy="847725"/>
          </a:xfrm>
          <a:custGeom>
            <a:pathLst>
              <a:path w="700" h="89">
                <a:moveTo>
                  <a:pt x="4" y="89"/>
                </a:moveTo>
                <a:lnTo>
                  <a:pt x="0" y="89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76300" y="2638425"/>
            <a:ext cx="219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BD9B56"/>
                </a:solidFill>
                <a:latin typeface="Microsoft YaHei"/>
                <a:ea typeface="Microsoft YaHei"/>
              </a:rPr>
              <a:t>⏱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209675" y="265747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76300" y="2933700"/>
            <a:ext cx="61722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工单流转靠电话与微信群，从报修到派单平均耗时小时级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47700" y="3543300"/>
            <a:ext cx="6667500" cy="847725"/>
          </a:xfrm>
          <a:custGeom>
            <a:pathLst>
              <a:path w="700" h="89">
                <a:moveTo>
                  <a:pt x="0" y="0"/>
                </a:moveTo>
                <a:lnTo>
                  <a:pt x="692" y="0"/>
                </a:lnTo>
                <a:cubicBezTo>
                  <a:pt x="696" y="0"/>
                  <a:pt x="700" y="4"/>
                  <a:pt x="700" y="8"/>
                </a:cubicBezTo>
                <a:lnTo>
                  <a:pt x="700" y="81"/>
                </a:lnTo>
                <a:cubicBezTo>
                  <a:pt x="700" y="85"/>
                  <a:pt x="696" y="89"/>
                  <a:pt x="692" y="89"/>
                </a:cubicBezTo>
                <a:lnTo>
                  <a:pt x="0" y="89"/>
                </a:lnTo>
                <a:lnTo>
                  <a:pt x="0" y="89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47700" y="3543300"/>
            <a:ext cx="6667500" cy="847725"/>
          </a:xfrm>
          <a:custGeom>
            <a:pathLst>
              <a:path w="700" h="89">
                <a:moveTo>
                  <a:pt x="4" y="89"/>
                </a:moveTo>
                <a:lnTo>
                  <a:pt x="0" y="89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76300" y="3695700"/>
            <a:ext cx="104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?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95375" y="3714750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876300" y="3990975"/>
            <a:ext cx="61722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装修时间、停车规则、物业规约等经验在员工脑子里，新人无法快速上手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7581900" y="1428750"/>
            <a:ext cx="4000500" cy="2238375"/>
          </a:xfrm>
          <a:prstGeom prst="roundRect">
            <a:avLst>
              <a:gd name="adj" fmla="val 5106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85750" dist="952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867650" y="1733550"/>
            <a:ext cx="3429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AI NATIVE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7867650" y="2009775"/>
            <a:ext cx="3429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BFCFA"/>
                </a:solidFill>
                <a:latin typeface="Microsoft YaHei"/>
                <a:ea typeface="Microsoft YaHei"/>
              </a:rPr>
              <a:t>破局思路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867650" y="2438400"/>
            <a:ext cx="3429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用</a:t>
            </a:r>
            <a:r>
              <a:rPr lang="en-US" sz="10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</a:t>
            </a:r>
            <a:r>
              <a:rPr lang="zh-CN" sz="10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架构统一入口，让</a:t>
            </a:r>
            <a:r>
              <a:rPr lang="en-US" sz="10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真正参与报修、巡检、知识问答的完整业务流程，</a:t>
            </a: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不只是贴个聊天框</a:t>
            </a:r>
            <a:r>
              <a:rPr lang="zh-CN" sz="105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7867650" y="3162300"/>
            <a:ext cx="3429000" cy="209550"/>
          </a:xfrm>
          <a:custGeom>
            <a:pathLst>
              <a:path w="360" h="22">
                <a:moveTo>
                  <a:pt x="0" y="0"/>
                </a:moveTo>
                <a:lnTo>
                  <a:pt x="360" y="0"/>
                </a:lnTo>
                <a:lnTo>
                  <a:pt x="360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867650" y="3362325"/>
            <a:ext cx="34290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7867650" y="3362325"/>
            <a:ext cx="34290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04 / 17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35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1 · 项目规模&lt;/div&gt;&#10;    &lt;div style={{ display: 'flex', alignItems: 'baseline', gap: 20 }}&gt;&#10;      &lt;h2 style={{ fontSize: 36, fontWeight: 'bold', color: '#172133', margin: 0 }}&gt;虚拟社区：云溪花园&lt;/h2&gt;&#10;      &lt;span style={{ fontSize: 15, color: '#5F5E5A' }}&gt;上海浦东新区 · 张江路 1268 号 · 商品住宅&lt;/span&gt;&#10;    &lt;/div&gt;&#10;  &lt;/div&gt;&#10;  &lt;div style={{ position: 'absolute', left: 64, top: 140, right: 64, display: 'flex', gap: 20 }}&gt;&#10;    &lt;div style={{ flex: 1, background: '#fff', borderRadius: 12, padding: '28px 22px', textAlign: 'center', boxShadow: '0 6px 24px rgba(23,33,51,0.08)', borderTop: '4px solid #BD9B56' }}&gt;&#10;      &lt;div style={{ fontSize: 13, color: '#BD9B56', letterSpacing: '0.25em', marginBottom: 12 }}&gt;RESIDENTS&lt;/div&gt;&#10;      &lt;div style={{ fontSize: 88, fontWeight: 'bold', color: '#172133', lineHeight: 1, fontFamily: 'Inter, sans-serif' }}&gt;1200&lt;span style={{ fontSize: 36, color: '#BD9B56' }}&gt; 户&lt;/span&gt;&lt;/div&gt;&#10;      &lt;div style={{ fontSize: 13, color: '#5F5E5A', marginTop: 12, lineHeight: 1.5 }}&gt;8 栋 26 层高层 · 2 单元/栋&lt;br/&gt;约 3000 居民&lt;/div&gt;&#10;    &lt;/div&gt;&#10;    &lt;div style={{ flex: 1, background: '#fff', borderRadius: 12, padding: '28px 22px', textAlign: 'center', boxShadow: '0 6px 24px rgba(23,33,51,0.08)', borderTop: '4px solid #BD9B56' }}&gt;&#10;      &lt;div style={{ fontSize: 13, color: '#BD9B56', letterSpacing: '0.25em', marginBottom: 12 }}&gt;USERS&lt;/div&gt;&#10;      &lt;div style={{ fontSize: 88, fontWeight: 'bold', color: '#172133', lineHeight: 1, fontFamily: 'Inter, sans-serif' }}&gt;200&lt;span style={{ fontSize: 36, color: '#BD9B56' }}&gt; 业主&lt;/span&gt;&lt;/div&gt;&#10;      &lt;div style={{ fontSize: 13, color: '#5F5E5A', marginTop: 12, lineHeight: 1.5 }}&gt;+ 75 物业人员&lt;br/&gt;10 管理 / 15 维修 / 20 保洁 / 30 安保&lt;/div&gt;&#10;    &lt;/div&gt;&#10;    &lt;div style={{ flex: 1, background: '#fff', borderRadius: 12, padding: '28px 22px', textAlign: 'center', boxShadow: '0 6px 24px rgba(23,33,51,0.08)', borderTop: '4px solid #BD9B56' }}&gt;&#10;      &lt;div style={{ fontSize: 13, color: '#BD9B56', letterSpacing: '0.25em', marginBottom: 12 }}&gt;BUSINESS DATA&lt;/div&gt;&#10;      &lt;div style={{ fontSize: 88, fontWeight: 'bold', color: '#172133', lineHeight: 1, fontFamily: 'Inter, sans-serif' }}&gt;50&lt;span style={{ fontSize: 36, color: '#BD9B56' }}&gt; 工单&lt;/span&gt;&lt;/div&gt;&#10;      &lt;div style={{ fontSize: 13, color: '#5F5E5A', marginTop: 12, lineHeight: 1.5 }}&gt;+ 24 公告 · 6 类工单&lt;br/&gt;8 类公告 · 4 类费用&lt;/div&gt;&#10;    &lt;/div&gt;&#10;    &lt;div style={{ flex: 1, background: 'linear-gradient(135deg, #172133 0%, #22395E 100%)', borderRadius: 12, padding: '28px 22px', textAlign: 'center', boxShadow: '0 6px 24px rgba(23,33,51,0.18)', borderTop: '4px solid #BD9B56' }}&gt;&#10;      &lt;div style={{ fontSize: 13, color: '#BD9B56', letterSpacing: '0.25em', marginBottom: 12 }}&gt;KNOWLEDGE&lt;/div&gt;&#10;      &lt;div style={{ fontSize: 88, fontWeight: 'bold', color: '#FBFCFA', lineHeight: 1, fontFamily: 'Inter, sans-serif' }}&gt;22&lt;span style={{ fontSize: 36, color: '#BD9B56' }}&gt; 文档&lt;/span&gt;&lt;/div&gt;&#10;      &lt;div style={{ fontSize: 13, color: 'rgba(251,252,250,0.85)', marginTop: 12, lineHeight: 1.5 }}&gt;→ 99 知识切片&lt;br/&gt;pgvector 向量化检索&lt;/div&gt;&#10;    &lt;/div&gt;&#10;  &lt;/div&gt;&#10;  &lt;div style={{ position: 'absolute', left: 64, top: 470, right: 64, background: 'rgba(189,155,86,0.10)', borderLeft: '4px solid #BD9B56', borderRadius: '0 8px 8px 0', padding: '18px 26px' }}&gt;&#10;    &lt;div style={{ fontSize: 14, color: '#BD9B56', fontWeight: 'bold', letterSpacing: '0.1em', marginBottom: 6 }}&gt;KEY INSIGHT · 规模真实&lt;/div&gt;&#10;    &lt;p style={{ fontSize: 15, color: '#172133', margin: 0, lineHeight: 1.6 }}&gt;不是 demo 用的几条假数据——而是 8 栋 1664 套房源、200 业主 + 75 物业的&lt;span style={{ color: '#BD9B56', fontWeight: 'bold' }}&gt;完整仿真社区&lt;/span&gt;，所有业务（报修/费用/公告/巡检）都跑在这套真实数据模型上。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5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3086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虚拟社区：云溪花园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886200" y="762000"/>
            <a:ext cx="2667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上海浦东新区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张江路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1268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号</a:t>
            </a:r>
            <a:r>
              <a:rPr lang="en-US" sz="1125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5F5E5A"/>
                </a:solidFill>
                <a:latin typeface="Microsoft YaHei"/>
                <a:ea typeface="Microsoft YaHei"/>
              </a:rPr>
              <a:t>商品住宅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09600" y="1371600"/>
            <a:ext cx="2600325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609600" y="1371600"/>
            <a:ext cx="2600325" cy="1371600"/>
          </a:xfrm>
          <a:custGeom>
            <a:pathLst>
              <a:path w="273" h="144">
                <a:moveTo>
                  <a:pt x="262" y="0"/>
                </a:moveTo>
                <a:cubicBezTo>
                  <a:pt x="267" y="0"/>
                  <a:pt x="272" y="4"/>
                  <a:pt x="273" y="10"/>
                </a:cubicBezTo>
                <a:cubicBezTo>
                  <a:pt x="272" y="6"/>
                  <a:pt x="269" y="4"/>
                  <a:pt x="2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1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19150" y="1638300"/>
            <a:ext cx="21812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RESIDENTS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819150" y="1905000"/>
            <a:ext cx="21812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>
                <a:solidFill>
                  <a:srgbClr val="BD9B56"/>
                </a:solidFill>
                <a:latin typeface="Inter"/>
                <a:ea typeface="Inter"/>
              </a:rPr>
              <a:t> </a:t>
            </a:r>
            <a:r>
              <a:rPr lang="zh-CN" sz="2700">
                <a:solidFill>
                  <a:srgbClr val="BD9B56"/>
                </a:solidFill>
                <a:latin typeface="Inter"/>
                <a:ea typeface="Inter"/>
              </a:rPr>
              <a:t>户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19150" y="2438400"/>
            <a:ext cx="21812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3400425" y="1371600"/>
            <a:ext cx="2600325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3400425" y="1371600"/>
            <a:ext cx="2600325" cy="1371600"/>
          </a:xfrm>
          <a:custGeom>
            <a:pathLst>
              <a:path w="273" h="144">
                <a:moveTo>
                  <a:pt x="262" y="0"/>
                </a:moveTo>
                <a:cubicBezTo>
                  <a:pt x="267" y="0"/>
                  <a:pt x="272" y="4"/>
                  <a:pt x="273" y="10"/>
                </a:cubicBezTo>
                <a:cubicBezTo>
                  <a:pt x="272" y="6"/>
                  <a:pt x="269" y="4"/>
                  <a:pt x="2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1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3609975" y="1638300"/>
            <a:ext cx="21812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USERS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609975" y="1905000"/>
            <a:ext cx="21812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>
                <a:solidFill>
                  <a:srgbClr val="BD9B56"/>
                </a:solidFill>
                <a:latin typeface="Inter"/>
                <a:ea typeface="Inter"/>
              </a:rPr>
              <a:t> </a:t>
            </a:r>
            <a:r>
              <a:rPr lang="zh-CN" sz="2700">
                <a:solidFill>
                  <a:srgbClr val="BD9B56"/>
                </a:solidFill>
                <a:latin typeface="Inter"/>
                <a:ea typeface="Inter"/>
              </a:rPr>
              <a:t>业主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09975" y="2438400"/>
            <a:ext cx="21812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191250" y="1371600"/>
            <a:ext cx="2600325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6191250" y="1371600"/>
            <a:ext cx="2600325" cy="1371600"/>
          </a:xfrm>
          <a:custGeom>
            <a:pathLst>
              <a:path w="273" h="144">
                <a:moveTo>
                  <a:pt x="262" y="0"/>
                </a:moveTo>
                <a:cubicBezTo>
                  <a:pt x="267" y="0"/>
                  <a:pt x="272" y="4"/>
                  <a:pt x="273" y="10"/>
                </a:cubicBezTo>
                <a:cubicBezTo>
                  <a:pt x="272" y="6"/>
                  <a:pt x="269" y="4"/>
                  <a:pt x="2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1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400800" y="1638300"/>
            <a:ext cx="21812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BUSINESS DATA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400800" y="1905000"/>
            <a:ext cx="21812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>
                <a:solidFill>
                  <a:srgbClr val="BD9B56"/>
                </a:solidFill>
                <a:latin typeface="Inter"/>
                <a:ea typeface="Inter"/>
              </a:rPr>
              <a:t> </a:t>
            </a:r>
            <a:r>
              <a:rPr lang="zh-CN" sz="2700">
                <a:solidFill>
                  <a:srgbClr val="BD9B56"/>
                </a:solidFill>
                <a:latin typeface="Inter"/>
                <a:ea typeface="Inter"/>
              </a:rPr>
              <a:t>工单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400800" y="2438400"/>
            <a:ext cx="21812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8982075" y="1371600"/>
            <a:ext cx="2600325" cy="1371600"/>
          </a:xfrm>
          <a:prstGeom prst="roundRect">
            <a:avLst>
              <a:gd name="adj" fmla="val 8333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28600" dist="571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6" name=""/>
          <p:cNvSpPr/>
          <p:nvPr/>
        </p:nvSpPr>
        <p:spPr>
          <a:xfrm rot="0" flipH="0" flipV="0">
            <a:off x="8982075" y="1371600"/>
            <a:ext cx="2600325" cy="1371600"/>
          </a:xfrm>
          <a:custGeom>
            <a:pathLst>
              <a:path w="273" h="144">
                <a:moveTo>
                  <a:pt x="262" y="0"/>
                </a:moveTo>
                <a:cubicBezTo>
                  <a:pt x="267" y="0"/>
                  <a:pt x="272" y="4"/>
                  <a:pt x="273" y="10"/>
                </a:cubicBezTo>
                <a:cubicBezTo>
                  <a:pt x="272" y="6"/>
                  <a:pt x="269" y="4"/>
                  <a:pt x="2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1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9191625" y="1638300"/>
            <a:ext cx="21812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KNOWLEDGE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9191625" y="1905000"/>
            <a:ext cx="2181225" cy="4191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700">
                <a:solidFill>
                  <a:srgbClr val="BD9B56"/>
                </a:solidFill>
                <a:latin typeface="Inter"/>
                <a:ea typeface="Inter"/>
              </a:rPr>
              <a:t> </a:t>
            </a:r>
            <a:r>
              <a:rPr lang="zh-CN" sz="2700">
                <a:solidFill>
                  <a:srgbClr val="BD9B56"/>
                </a:solidFill>
                <a:latin typeface="Inter"/>
                <a:ea typeface="Inter"/>
              </a:rPr>
              <a:t>文档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9191625" y="2438400"/>
            <a:ext cx="21812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647700" y="4476750"/>
            <a:ext cx="10972800" cy="838200"/>
          </a:xfrm>
          <a:custGeom>
            <a:pathLst>
              <a:path w="1152" h="88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80"/>
                </a:lnTo>
                <a:cubicBezTo>
                  <a:pt x="1152" y="84"/>
                  <a:pt x="1148" y="88"/>
                  <a:pt x="1144" y="88"/>
                </a:cubicBezTo>
                <a:lnTo>
                  <a:pt x="0" y="88"/>
                </a:lnTo>
                <a:lnTo>
                  <a:pt x="0" y="88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261" name=""/>
          <p:cNvSpPr/>
          <p:nvPr/>
        </p:nvSpPr>
        <p:spPr>
          <a:xfrm rot="0" flipH="0" flipV="0">
            <a:off x="647700" y="4476750"/>
            <a:ext cx="10972800" cy="838200"/>
          </a:xfrm>
          <a:custGeom>
            <a:pathLst>
              <a:path w="1152" h="88">
                <a:moveTo>
                  <a:pt x="4" y="88"/>
                </a:moveTo>
                <a:lnTo>
                  <a:pt x="0" y="88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95350" y="4648200"/>
            <a:ext cx="1043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KEY INSIGHT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规模真实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895350" y="4867275"/>
            <a:ext cx="104394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不是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 demo 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用的几条假数据——而是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 8 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栋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 1664 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套房源、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200 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业主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 + 75 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物业的</a:t>
            </a:r>
            <a:r>
              <a:rPr lang="zh-CN" sz="1125" b="1">
                <a:solidFill>
                  <a:srgbClr val="BD9B56"/>
                </a:solidFill>
                <a:latin typeface="Microsoft YaHei"/>
                <a:ea typeface="Microsoft YaHei"/>
              </a:rPr>
              <a:t>完整仿真社区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，所有业务（报修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费用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r>
              <a:rPr lang="en-US" sz="1125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1125">
                <a:solidFill>
                  <a:srgbClr val="172133"/>
                </a:solidFill>
                <a:latin typeface="Microsoft YaHei"/>
                <a:ea typeface="Microsoft YaHei"/>
              </a:rPr>
              <a:t>巡检）都跑在这套真实数据模型上。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05 / 17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66" name="" descr="&lt;Slide style={{ width: '1280px', height: '720px', background: '#FBFCFA', position: 'relative' }}&gt;&#10;  &lt;div style={{ position: 'absolute', left: 64, top: 56, right: 64 }}&gt;&#10;    &lt;div style={{ color: '#BD9B56', fontSize: 16, letterSpacing: '0.3em', marginBottom: 8 }}&gt;01 · 项目背景&lt;/div&gt;&#10;    &lt;h2 style={{ fontSize: 36, fontWeight: 'bold', color: '#172133', margin: 0 }}&gt;方案定位：AI Native，而非「+ AI」&lt;/h2&gt;&#10;  &lt;/div&gt;&#10;  &lt;div style={{ position: 'absolute', left: 64, top: 150, width: 620 }}&gt;&#10;    &lt;div style={{ fontSize: 14, color: '#BD9B56', letterSpacing: '0.25em', marginBottom: 12 }}&gt;传统「+ AI」物业系统&lt;/div&gt;&#10;    &lt;div style={{ background: '#fff', borderRadius: 10, padding: '18px 22px', boxShadow: '0 4px 16px rgba(23,33,51,0.06)', marginBottom: 14 }}&gt;&#10;      &lt;p style={{ fontSize: 14, color: '#5F5E5A', margin: 0, lineHeight: 1.6 }}&gt;在既有 OA 系统上加一个聊天机器人，AI 只能「回答」，不能「办事」——报修还是靠人工，知识还是查不到。&lt;/p&gt;&#10;    &lt;/div&gt;&#10;    &lt;div style={{ display: 'flex', gap: 12, flexWrap: 'wrap' }}&gt;&#10;      &lt;span style={{ fontSize: 12, color: '#5F5E5A', background: 'rgba(34,57,94,0.06)', padding: '6px 12px', borderRadius: 6 }}&gt;✗ 聊天与业务割裂&lt;/span&gt;&#10;      &lt;span style={{ fontSize: 12, color: '#5F5E5A', background: 'rgba(34,57,94,0.06)', padding: '6px 12px', borderRadius: 6 }}&gt;✗ 知识无法检索&lt;/span&gt;&#10;      &lt;span style={{ fontSize: 12, color: '#5F5E5A', background: 'rgba(34,57,94,0.06)', padding: '6px 12px', borderRadius: 6 }}&gt;✗ 数据孤岛&lt;/span&gt;&#10;    &lt;/div&gt;&#10;  &lt;/div&gt;&#10;  &lt;div style={{ position: 'absolute', right: 64, top: 150, width: 500, background: 'linear-gradient(135deg, #172133 0%, #22395E 100%)', borderRadius: 12, padding: '28px 26px', color: '#FBFCFA', boxShadow: '0 10px 30px rgba(23,33,51,0.18)' }}&gt;&#10;    &lt;div style={{ color: '#BD9B56', fontSize: 14, letterSpacing: '0.3em', marginBottom: 12 }}&gt;我们的 AI NATIVE&lt;/div&gt;&#10;    &lt;p style={{ fontSize: 15, color: 'rgba(251,252,250,0.9)', margin: 0, lineHeight: 1.65 }}&gt;&#10;      AI 是&lt;span style={{ color: '#BD9B56', fontWeight: 'bold' }}&gt;业务流程的一部分&lt;/span&gt;：理解意图 → 调用业务工具 → 走完闭环 → 沉淀知识。&#10;    &lt;/p&gt;&#10;    &lt;div style={{ marginTop: 18, paddingTop: 18, borderTop: '1px solid rgba(189,155,86,0.3)', display: 'flex', gap: 10, flexWrap: 'wrap' }}&gt;&#10;      &lt;span style={{ fontSize: 12, color: '#BD9B56', background: 'rgba(189,155,86,0.15)', padding: '6px 12px', borderRadius: 6 }}&gt;✓ AI 真办业务&lt;/span&gt;&#10;      &lt;span style={{ fontSize: 12, color: '#BD9B56', background: 'rgba(189,155,86,0.15)', padding: '6px 12px', borderRadius: 6 }}&gt;✓ 知识可检索&lt;/span&gt;&#10;      &lt;span style={{ fontSize: 12, color: '#BD9B56', background: 'rgba(189,155,86,0.15)', padding: '6px 12px', borderRadius: 6 }}&gt;✓ 反馈自进化&lt;/span&gt;&#10;    &lt;/div&gt;&#10;  &lt;/div&gt;&#10;  &lt;div style={{ position: 'absolute', left: 64, top: 430, right: 64 }}&gt;&#10;    &lt;div style={{ fontSize: 14, color: '#BD9B56', fontWeight: 'bold', letterSpacing: '0.1em', marginBottom: 10 }}&gt;三大核心能力&lt;/div&gt;&#10;    &lt;div style={{ display: 'flex', gap: 16 }}&gt;&#10;      &lt;div style={{ flex: 1, background: '#fff', borderRadius: 10, padding: '16px 18px', boxShadow: '0 4px 16px rgba(23,33,51,0.06)' }}&gt;&#10;        &lt;div style={{ fontSize: 17, fontWeight: 'bold', color: '#172133', marginBottom: 6 }}&gt;多意图 Agent&lt;/div&gt;&#10;        &lt;p style={{ fontSize: 12, color: '#5F5E5A', margin: 0, lineHeight: 1.5 }}&gt;报修/查费/公告/知识/上报 5 类意图，自然语言直达业务&lt;/p&gt;&#10;      &lt;/div&gt;&#10;      &lt;div style={{ flex: 1, background: '#fff', borderRadius: 10, padding: '16px 18px', boxShadow: '0 4px 16px rgba(23,33,51,0.06)' }}&gt;&#10;        &lt;div style={{ fontSize: 17, fontWeight: 'bold', color: '#172133', marginBottom: 6 }}&gt;RAG 知识库&lt;/div&gt;&#10;        &lt;p style={{ fontSize: 12, color: '#5F5E5A', margin: 0, lineHeight: 1.5 }}&gt;pgvector 检索隐性知识，回答有据可查&lt;/p&gt;&#10;      &lt;/div&gt;&#10;      &lt;div style={{ flex: 1, background: '#fff', borderRadius: 10, padding: '16px 18px', boxShadow: '0 4px 16px rgba(23,33,51,0.06)' }}&gt;&#10;        &lt;div style={{ fontSize: 17, fontWeight: 'bold', color: '#172133', marginBottom: 6 }}&gt;业务闭环&lt;/div&gt;&#10;        &lt;p style={{ fontSize: 12, color: '#5F5E5A', margin: 0, lineHeight: 1.5 }}&gt;报修派单 / 巡检告警 / 反馈自进化，AI 走完全流程&lt;/p&gt;&#10;      &lt;/div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6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09600" y="5334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09600" y="8001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方案定位：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AI Native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，而非「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+ AI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09600" y="1428750"/>
            <a:ext cx="5905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传统「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+ AI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」物业系统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609600" y="1704975"/>
            <a:ext cx="5905500" cy="8572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1876425"/>
            <a:ext cx="5486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在既有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OA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系统上加一个聊天机器人，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只能「回答」，不能「办事」——报修还是靠人工，知识还是查不到。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2695575"/>
            <a:ext cx="1181100" cy="257175"/>
          </a:xfrm>
          <a:prstGeom prst="roundRect">
            <a:avLst>
              <a:gd name="adj" fmla="val 22222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09600" y="2695575"/>
            <a:ext cx="1181100" cy="257175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00">
                <a:solidFill>
                  <a:srgbClr val="5F5E5A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✗ </a:t>
            </a:r>
            <a:r>
              <a:rPr lang="zh-CN" sz="900">
                <a:solidFill>
                  <a:srgbClr val="5F5E5A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聊天与业务割裂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1905000" y="2695575"/>
            <a:ext cx="1066800" cy="257175"/>
          </a:xfrm>
          <a:prstGeom prst="roundRect">
            <a:avLst>
              <a:gd name="adj" fmla="val 22222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905000" y="2695575"/>
            <a:ext cx="1066800" cy="257175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00">
                <a:solidFill>
                  <a:srgbClr val="5F5E5A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✗ </a:t>
            </a:r>
            <a:r>
              <a:rPr lang="zh-CN" sz="900">
                <a:solidFill>
                  <a:srgbClr val="5F5E5A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知识无法检索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3086100" y="2695575"/>
            <a:ext cx="838200" cy="257175"/>
          </a:xfrm>
          <a:prstGeom prst="roundRect">
            <a:avLst>
              <a:gd name="adj" fmla="val 22222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086100" y="2695575"/>
            <a:ext cx="838200" cy="257175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00">
                <a:solidFill>
                  <a:srgbClr val="5F5E5A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✗ </a:t>
            </a:r>
            <a:r>
              <a:rPr lang="zh-CN" sz="900">
                <a:solidFill>
                  <a:srgbClr val="5F5E5A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数据孤岛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819900" y="1428750"/>
            <a:ext cx="4762500" cy="1990725"/>
          </a:xfrm>
          <a:prstGeom prst="roundRect">
            <a:avLst>
              <a:gd name="adj" fmla="val 5742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85750" dist="952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067550" y="1695450"/>
            <a:ext cx="426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我们的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AI NATIVE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067550" y="1971675"/>
            <a:ext cx="42672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是</a:t>
            </a:r>
            <a:r>
              <a:rPr lang="zh-CN" sz="1125" b="1">
                <a:solidFill>
                  <a:srgbClr val="BD9B56"/>
                </a:solidFill>
                <a:latin typeface="Microsoft YaHei"/>
                <a:ea typeface="Microsoft YaHei"/>
              </a:rPr>
              <a:t>业务流程的一部分</a:t>
            </a:r>
            <a:r>
              <a:rPr lang="zh-CN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：理解意图</a:t>
            </a:r>
            <a:r>
              <a:rPr lang="en-US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调用业务工具</a:t>
            </a:r>
            <a:r>
              <a:rPr lang="en-US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走完闭环</a:t>
            </a:r>
            <a:r>
              <a:rPr lang="en-US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FBFCFA">
                    <a:alpha val="90000"/>
                  </a:srgbClr>
                </a:solidFill>
                <a:latin typeface="Microsoft YaHei"/>
                <a:ea typeface="Microsoft YaHei"/>
              </a:rPr>
              <a:t>沉淀知识。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7067550" y="2714625"/>
            <a:ext cx="4267200" cy="447675"/>
          </a:xfrm>
          <a:custGeom>
            <a:pathLst>
              <a:path w="448" h="47">
                <a:moveTo>
                  <a:pt x="0" y="0"/>
                </a:moveTo>
                <a:lnTo>
                  <a:pt x="448" y="0"/>
                </a:lnTo>
                <a:lnTo>
                  <a:pt x="44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7067550" y="2895600"/>
            <a:ext cx="990600" cy="257175"/>
          </a:xfrm>
          <a:prstGeom prst="roundRect">
            <a:avLst>
              <a:gd name="adj" fmla="val 22222"/>
            </a:avLst>
          </a:prstGeom>
          <a:solidFill>
            <a:srgbClr val="BD9B56">
              <a:alpha val="15000"/>
            </a:srgbClr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067550" y="2895600"/>
            <a:ext cx="990600" cy="257175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highlight>
                  <a:srgbClr val="BD9B56">
                    <a:alpha val="15000"/>
                  </a:srgbClr>
                </a:highlight>
                <a:latin typeface="Microsoft YaHei"/>
                <a:ea typeface="Microsoft YaHei"/>
              </a:rPr>
              <a:t>✓ AI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5000"/>
                  </a:srgbClr>
                </a:highlight>
                <a:latin typeface="Microsoft YaHei"/>
                <a:ea typeface="Microsoft YaHei"/>
              </a:rPr>
              <a:t>真办业务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8153400" y="2895600"/>
            <a:ext cx="952500" cy="257175"/>
          </a:xfrm>
          <a:prstGeom prst="roundRect">
            <a:avLst>
              <a:gd name="adj" fmla="val 22222"/>
            </a:avLst>
          </a:prstGeom>
          <a:solidFill>
            <a:srgbClr val="BD9B56">
              <a:alpha val="15000"/>
            </a:srgbClr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153400" y="2895600"/>
            <a:ext cx="952500" cy="257175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highlight>
                  <a:srgbClr val="BD9B56">
                    <a:alpha val="15000"/>
                  </a:srgbClr>
                </a:highlight>
                <a:latin typeface="Microsoft YaHei"/>
                <a:ea typeface="Microsoft YaHei"/>
              </a:rPr>
              <a:t>✓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5000"/>
                  </a:srgbClr>
                </a:highlight>
                <a:latin typeface="Microsoft YaHei"/>
                <a:ea typeface="Microsoft YaHei"/>
              </a:rPr>
              <a:t>知识可检索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9201150" y="2895600"/>
            <a:ext cx="952500" cy="257175"/>
          </a:xfrm>
          <a:prstGeom prst="roundRect">
            <a:avLst>
              <a:gd name="adj" fmla="val 22222"/>
            </a:avLst>
          </a:prstGeom>
          <a:solidFill>
            <a:srgbClr val="BD9B56">
              <a:alpha val="15000"/>
            </a:srgbClr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9201150" y="2895600"/>
            <a:ext cx="952500" cy="257175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highlight>
                  <a:srgbClr val="BD9B56">
                    <a:alpha val="15000"/>
                  </a:srgbClr>
                </a:highlight>
                <a:latin typeface="Microsoft YaHei"/>
                <a:ea typeface="Microsoft YaHei"/>
              </a:rPr>
              <a:t>✓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5000"/>
                  </a:srgbClr>
                </a:highlight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09600" y="409575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三大核心能力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609600" y="4352925"/>
            <a:ext cx="3552825" cy="771525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81050" y="4505325"/>
            <a:ext cx="3209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多意图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 Agent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81050" y="4762500"/>
            <a:ext cx="32099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查费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公告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知识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上报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类意图，自然语言直达业务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4314825" y="4352925"/>
            <a:ext cx="3562350" cy="771525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486275" y="45053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4486275" y="4762500"/>
            <a:ext cx="32194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pgvector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检索隐性知识，回答有据可查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8029575" y="4352925"/>
            <a:ext cx="3552825" cy="771525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8201025" y="4505325"/>
            <a:ext cx="3209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业务闭环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8201025" y="4762500"/>
            <a:ext cx="32099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报修派单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巡检告警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反馈自进化，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走完全流程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06 / 17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01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2, letterSpacing: '0.45em', marginBottom: 28 }}&gt;CHAPTER&lt;/div&gt;&#10;    &lt;div style={{ display: 'flex', alignItems: 'center', gap: 36 }}&gt;&#10;      &lt;span style={{ color: '#BD9B56', fontSize: 140, fontWeight: 'bold', lineHeight: 1 }}&gt;02&lt;/span&gt;&#10;      &lt;div style={{ width: 2, height: 110, background: '#BD9B56' }} /&gt;&#10;      &lt;div&gt;&#10;        &lt;h2 style={{ fontSize: 60, fontWeight: 'bold', margin: 0, color: '#FBFCFA' }}&gt;技术构建路线&lt;/h2&gt;&#10;        &lt;p style={{ fontSize: 20, color: 'rgba(189,155,86,0.85)', marginTop: 18, letterSpacing: '0.18em' }}&gt;DATA → AI → DEPLOY&lt;/p&gt;&#10;      &lt;/div&gt;&#10;    &lt;/div&gt;&#10;    &lt;p style={{ fontSize: 18, color: 'rgba(251,252,250,0.6)', marginTop: 48, maxWidth: 720, textAlign: 'center', lineHeight: 1.6 }}&gt;从数据库设计开始，一步步搭出可运行、可评估、已上线的完整系统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7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5619750" y="19716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CHAPTER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209925" y="2495550"/>
            <a:ext cx="1647825" cy="1600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0" b="1">
                <a:solidFill>
                  <a:srgbClr val="BD9B56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200650" y="2771775"/>
            <a:ext cx="19050" cy="1047750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562600" y="2752725"/>
            <a:ext cx="34290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技术构建路线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562600" y="3609975"/>
            <a:ext cx="342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BD9B56">
                    <a:alpha val="85000"/>
                  </a:srgbClr>
                </a:solidFill>
                <a:latin typeface="Microsoft YaHei"/>
                <a:ea typeface="Microsoft YaHei"/>
              </a:rPr>
              <a:t>DATA → AI → DEPLOY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3524250" y="4552950"/>
            <a:ext cx="5143500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350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从数据库设计开始，一步步搭出可运行、可评估、已上线的完整系统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07 / 17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11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2 · 技术构建路线&lt;/div&gt;&#10;    &lt;h2 style={{ fontSize: 36, fontWeight: 'bold', color: '#172133', margin: 0 }}&gt;从数据库到上线：7 个阶段的完整构建&lt;/h2&gt;&#10;    &lt;p style={{ fontSize: 14, color: '#5F5E5A', marginTop: 6 }}&gt;每个阶段都有代码 + 测试 + 可运行交付，一步步验证&lt;/p&gt;&#10;  &lt;/div&gt;&#10;  &lt;div style={{ position: 'absolute', left: 64, top: 150, width: 560, height: 490, background: '#fff', borderRadius: 12, padding: '20px 26px', boxShadow: '0 6px 24px rgba(23,33,51,0.08)' }}&gt;&#10;    &lt;svg width=&quot;508&quot; height=&quot;450&quot; viewBox=&quot;0 0 508 450&quot;&gt;&#10;      &lt;g fontFamily=&quot;Inter, sans-serif&quot;&gt;&#10;        &lt;line x1=&quot;70&quot; y1=&quot;40&quot; x2=&quot;70&quot; y2=&quot;410&quot; stroke=&quot;#22395E&quot; strokeWidth=&quot;2&quot; /&gt;&#10;        {[&#10;          ['P0', '项目初始化', 'Repo · Docker · CI'],&#10;          ['P1', '数据库与数据层', '8 表 + 仿真社区'],&#10;          ['P2', '后端服务', 'FastAPI + Repository'],&#10;          ['P3', '前端', '三端页面'],&#10;          ['P4', 'AI Agent', '多意图 + 工具'],&#10;          ['P5', 'RAG 知识系统', 'pgvector 检索'],&#10;          ['P6', '评估', 'Intent/Tool/RAG'],&#10;          ['P7', '部署上线', 'Docker + PWA'],&#10;        ].map(([p, t, d], i) =&gt; (&#10;          &lt;g key={p}&gt;&#10;            &lt;circle cx=&quot;70&quot; cy={40 + i * 50} r=&quot;7&quot; fill=&quot;#BD9B56&quot; /&gt;&#10;            &lt;text x=&quot;20&quot; y={45 + i * 50} fontSize=&quot;12&quot; fontWeight=&quot;bold&quot; fill=&quot;#BD9B56&quot;&gt;{p}&lt;/text&gt;&#10;            &lt;text x=&quot;110&quot; y={42 + i * 50} fontSize=&quot;14&quot; fontWeight=&quot;bold&quot; fill=&quot;#172133&quot;&gt;{t}&lt;/text&gt;&#10;            &lt;text x=&quot;110&quot; y={58 + i * 50} fontSize=&quot;11&quot; fill=&quot;#5F5E5A&quot;&gt;{d}&lt;/text&gt;&#10;          &lt;/g&gt;&#10;        ))}&#10;      &lt;/g&gt;&#10;    &lt;/svg&gt;&#10;  &lt;/div&gt;&#10;  &lt;div style={{ position: 'absolute', right: 64, top: 150, width: 540, height: 490, padding: '8px 0', display: 'flex', flexDirection: 'column', gap: 12 }}&gt;&#10;    &lt;div style={{ fontSize: 14, color: '#BD9B56', fontWeight: 'bold', letterSpacing: '0.15em', marginBottom: 4 }}&gt;每一阶段的关键难点&lt;/div&gt;&#10;    &lt;div style={{ background: '#fff', borderLeft: '3px solid #BD9B56', borderRadius: '0 8px 8px 0', padding: '12px 18px', boxShadow: '0 3px 12px rgba(23,33,51,0.05)' }}&gt;&#10;      &lt;span style={{ fontSize: 12, color: '#BD9B56', fontWeight: 'bold', marginRight: 8 }}&gt;P1&lt;/span&gt;&#10;      &lt;span style={{ fontSize: 13, color: '#172133', lineHeight: 1.5 }}&gt;设计 8+ 张关联表 + 1664 套房源的仿真数据，保证数据一致性与真实感&lt;/span&gt;&#10;    &lt;/div&gt;&#10;    &lt;div style={{ background: '#fff', borderLeft: '3px solid #BD9B56', borderRadius: '0 8px 8px 0', padding: '12px 18px', boxShadow: '0 3px 12px rgba(23,33,51,0.05)' }}&gt;&#10;      &lt;span style={{ fontSize: 12, color: '#BD9B56', fontWeight: 'bold', marginRight: 8 }}&gt;P2&lt;/span&gt;&#10;      &lt;span style={{ fontSize: 13, color: '#172133', lineHeight: 1.5 }}&gt;Repository 模式解耦业务与数据，54 个测试打底，为 Agent 提供稳定工具&lt;/span&gt;&#10;    &lt;/div&gt;&#10;    &lt;div style={{ background: '#fff', borderLeft: '3px solid #BD9B56', borderRadius: '0 8px 8px 0', padding: '12px 18px', boxShadow: '0 3px 12px rgba(23,33,51,0.05)' }}&gt;&#10;      &lt;span style={{ fontSize: 12, color: '#BD9B56', fontWeight: 'bold', marginRight: 8 }}&gt;P4&lt;/span&gt;&#10;      &lt;span style={{ fontSize: 13, color: '#172133', lineHeight: 1.5 }}&gt;报修多轮状态机：业主只说「厨房漏水」，Agent 主动反问位置/类型再补全工单&lt;/span&gt;&#10;    &lt;/div&gt;&#10;    &lt;div style={{ background: '#fff', borderLeft: '3px solid #BD9B56', borderRadius: '0 8px 8px 0', padding: '12px 18px', boxShadow: '0 3px 12px rgba(23,33,51,0.05)' }}&gt;&#10;      &lt;span style={{ fontSize: 12, color: '#BD9B56', fontWeight: 'bold', marginRight: 8 }}&gt;P5&lt;/span&gt;&#10;      &lt;span style={{ fontSize: 13, color: '#172133', lineHeight: 1.5 }}&gt;知识切片 + 1024 维向量化，让「装修几点施工」这类隐性知识可被精确检索&lt;/span&gt;&#10;    &lt;/div&gt;&#10;    &lt;div style={{ background: '#fff', borderLeft: '3px solid #BD9B56', borderRadius: '0 8px 8px 0', padding: '12px 18px', boxShadow: '0 3px 12px rgba(23,33,51,0.05)' }}&gt;&#10;      &lt;span style={{ fontSize: 12, color: '#BD9B56', fontWeight: 'bold', marginRight: 8 }}&gt;P6&lt;/span&gt;&#10;      &lt;span style={{ fontSize: 13, color: '#172133', lineHeight: 1.5 }}&gt;评估驱动优化：意图 83%→100%、RAG 答案 50%→100%，用数据找到并修好缺陷&lt;/span&gt;&#10;    &lt;/div&gt;&#10;    &lt;div style={{ background: '#fff', borderLeft: '3px solid #BD9B56', borderRadius: '0 8px 8px 0', padding: '12px 18px', boxShadow: '0 3px 12px rgba(23,33,51,0.05)' }}&gt;&#10;      &lt;span style={{ fontSize: 12, color: '#BD9B56', fontWeight: 'bold', marginRight: 8 }}&gt;P7&lt;/span&gt;&#10;      &lt;span style={{ fontSize: 13, color: '#172133', lineHeight: 1.5 }}&gt;国内服务器镜像源/网络/SECRET_KEY 等部署坑逐一踩平，最终 CI 全绿上线&lt;/span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8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技术构建路线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从数据库到上线：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7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个阶段的完整构建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09600" y="123825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每个阶段都有代码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测试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可运行交付，一步步验证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1428750"/>
            <a:ext cx="5334000" cy="466725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619250"/>
            <a:ext cx="4838700" cy="4286250"/>
          </a:xfrm>
          <a:prstGeom prst="rect">
            <a:avLst/>
          </a:prstGeom>
          <a:ln/>
        </p:spPr>
      </p:pic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438900" y="1504950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每一阶段的关键难点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6467475" y="1819275"/>
            <a:ext cx="5143500" cy="600075"/>
          </a:xfrm>
          <a:custGeom>
            <a:pathLst>
              <a:path w="540" h="63">
                <a:moveTo>
                  <a:pt x="0" y="0"/>
                </a:moveTo>
                <a:lnTo>
                  <a:pt x="532" y="0"/>
                </a:lnTo>
                <a:cubicBezTo>
                  <a:pt x="536" y="0"/>
                  <a:pt x="540" y="4"/>
                  <a:pt x="540" y="8"/>
                </a:cubicBezTo>
                <a:lnTo>
                  <a:pt x="540" y="55"/>
                </a:lnTo>
                <a:cubicBezTo>
                  <a:pt x="540" y="59"/>
                  <a:pt x="536" y="63"/>
                  <a:pt x="532" y="63"/>
                </a:cubicBezTo>
                <a:lnTo>
                  <a:pt x="0" y="63"/>
                </a:lnTo>
                <a:lnTo>
                  <a:pt x="0" y="6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28575" dir="5400000">
              <a:srgbClr val="172133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6467475" y="1819275"/>
            <a:ext cx="5143500" cy="600075"/>
          </a:xfrm>
          <a:custGeom>
            <a:pathLst>
              <a:path w="540" h="63">
                <a:moveTo>
                  <a:pt x="3" y="63"/>
                </a:moveTo>
                <a:lnTo>
                  <a:pt x="0" y="63"/>
                </a:lnTo>
                <a:lnTo>
                  <a:pt x="0" y="0"/>
                </a:lnTo>
                <a:lnTo>
                  <a:pt x="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638925" y="1933575"/>
            <a:ext cx="469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BD9B56"/>
                </a:solidFill>
                <a:latin typeface="Microsoft YaHei"/>
                <a:ea typeface="Microsoft YaHei"/>
              </a:rPr>
              <a:t>P1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638925" y="2076450"/>
            <a:ext cx="47720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设计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8+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张关联表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+ 1664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套房源的仿真数据，保证数据一致性与真实感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6467475" y="2533650"/>
            <a:ext cx="5143500" cy="600075"/>
          </a:xfrm>
          <a:custGeom>
            <a:pathLst>
              <a:path w="540" h="63">
                <a:moveTo>
                  <a:pt x="0" y="0"/>
                </a:moveTo>
                <a:lnTo>
                  <a:pt x="532" y="0"/>
                </a:lnTo>
                <a:cubicBezTo>
                  <a:pt x="536" y="0"/>
                  <a:pt x="540" y="4"/>
                  <a:pt x="540" y="8"/>
                </a:cubicBezTo>
                <a:lnTo>
                  <a:pt x="540" y="55"/>
                </a:lnTo>
                <a:cubicBezTo>
                  <a:pt x="540" y="59"/>
                  <a:pt x="536" y="63"/>
                  <a:pt x="532" y="63"/>
                </a:cubicBezTo>
                <a:lnTo>
                  <a:pt x="0" y="63"/>
                </a:lnTo>
                <a:lnTo>
                  <a:pt x="0" y="6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28575" dir="5400000">
              <a:srgbClr val="172133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6467475" y="2533650"/>
            <a:ext cx="5143500" cy="600075"/>
          </a:xfrm>
          <a:custGeom>
            <a:pathLst>
              <a:path w="540" h="63">
                <a:moveTo>
                  <a:pt x="3" y="63"/>
                </a:moveTo>
                <a:lnTo>
                  <a:pt x="0" y="63"/>
                </a:lnTo>
                <a:lnTo>
                  <a:pt x="0" y="0"/>
                </a:lnTo>
                <a:lnTo>
                  <a:pt x="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638925" y="2647950"/>
            <a:ext cx="469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BD9B56"/>
                </a:solidFill>
                <a:latin typeface="Microsoft YaHei"/>
                <a:ea typeface="Microsoft YaHei"/>
              </a:rPr>
              <a:t>P2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638925" y="2790825"/>
            <a:ext cx="47720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Repository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模式解耦业务与数据，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54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个测试打底，为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提供稳定工具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6467475" y="3248025"/>
            <a:ext cx="5143500" cy="600075"/>
          </a:xfrm>
          <a:custGeom>
            <a:pathLst>
              <a:path w="540" h="63">
                <a:moveTo>
                  <a:pt x="0" y="0"/>
                </a:moveTo>
                <a:lnTo>
                  <a:pt x="532" y="0"/>
                </a:lnTo>
                <a:cubicBezTo>
                  <a:pt x="536" y="0"/>
                  <a:pt x="540" y="4"/>
                  <a:pt x="540" y="8"/>
                </a:cubicBezTo>
                <a:lnTo>
                  <a:pt x="540" y="55"/>
                </a:lnTo>
                <a:cubicBezTo>
                  <a:pt x="540" y="59"/>
                  <a:pt x="536" y="63"/>
                  <a:pt x="532" y="63"/>
                </a:cubicBezTo>
                <a:lnTo>
                  <a:pt x="0" y="63"/>
                </a:lnTo>
                <a:lnTo>
                  <a:pt x="0" y="6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28575" dir="5400000">
              <a:srgbClr val="172133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6467475" y="3248025"/>
            <a:ext cx="5143500" cy="600075"/>
          </a:xfrm>
          <a:custGeom>
            <a:pathLst>
              <a:path w="540" h="63">
                <a:moveTo>
                  <a:pt x="3" y="63"/>
                </a:moveTo>
                <a:lnTo>
                  <a:pt x="0" y="63"/>
                </a:lnTo>
                <a:lnTo>
                  <a:pt x="0" y="0"/>
                </a:lnTo>
                <a:lnTo>
                  <a:pt x="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638925" y="3362325"/>
            <a:ext cx="469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BD9B56"/>
                </a:solidFill>
                <a:latin typeface="Microsoft YaHei"/>
                <a:ea typeface="Microsoft YaHei"/>
              </a:rPr>
              <a:t>P4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638925" y="3505200"/>
            <a:ext cx="47720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报修多轮状态机：业主只说「厨房漏水」，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Agent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主动反问位置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类型再补全工单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467475" y="3962400"/>
            <a:ext cx="5143500" cy="600075"/>
          </a:xfrm>
          <a:custGeom>
            <a:pathLst>
              <a:path w="540" h="63">
                <a:moveTo>
                  <a:pt x="0" y="0"/>
                </a:moveTo>
                <a:lnTo>
                  <a:pt x="532" y="0"/>
                </a:lnTo>
                <a:cubicBezTo>
                  <a:pt x="536" y="0"/>
                  <a:pt x="540" y="4"/>
                  <a:pt x="540" y="8"/>
                </a:cubicBezTo>
                <a:lnTo>
                  <a:pt x="540" y="55"/>
                </a:lnTo>
                <a:cubicBezTo>
                  <a:pt x="540" y="59"/>
                  <a:pt x="536" y="63"/>
                  <a:pt x="532" y="63"/>
                </a:cubicBezTo>
                <a:lnTo>
                  <a:pt x="0" y="63"/>
                </a:lnTo>
                <a:lnTo>
                  <a:pt x="0" y="6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28575" dir="5400000">
              <a:srgbClr val="172133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6467475" y="3962400"/>
            <a:ext cx="5143500" cy="600075"/>
          </a:xfrm>
          <a:custGeom>
            <a:pathLst>
              <a:path w="540" h="63">
                <a:moveTo>
                  <a:pt x="3" y="63"/>
                </a:moveTo>
                <a:lnTo>
                  <a:pt x="0" y="63"/>
                </a:lnTo>
                <a:lnTo>
                  <a:pt x="0" y="0"/>
                </a:lnTo>
                <a:lnTo>
                  <a:pt x="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638925" y="4076700"/>
            <a:ext cx="469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BD9B56"/>
                </a:solidFill>
                <a:latin typeface="Microsoft YaHei"/>
                <a:ea typeface="Microsoft YaHei"/>
              </a:rPr>
              <a:t>P5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6638925" y="4219575"/>
            <a:ext cx="47720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知识切片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+ 1024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维向量化，让「装修几点施工」这类隐性知识可被精确检索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467475" y="4676775"/>
            <a:ext cx="5143500" cy="600075"/>
          </a:xfrm>
          <a:custGeom>
            <a:pathLst>
              <a:path w="540" h="63">
                <a:moveTo>
                  <a:pt x="0" y="0"/>
                </a:moveTo>
                <a:lnTo>
                  <a:pt x="532" y="0"/>
                </a:lnTo>
                <a:cubicBezTo>
                  <a:pt x="536" y="0"/>
                  <a:pt x="540" y="4"/>
                  <a:pt x="540" y="8"/>
                </a:cubicBezTo>
                <a:lnTo>
                  <a:pt x="540" y="55"/>
                </a:lnTo>
                <a:cubicBezTo>
                  <a:pt x="540" y="59"/>
                  <a:pt x="536" y="63"/>
                  <a:pt x="532" y="63"/>
                </a:cubicBezTo>
                <a:lnTo>
                  <a:pt x="0" y="63"/>
                </a:lnTo>
                <a:lnTo>
                  <a:pt x="0" y="6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28575" dir="5400000">
              <a:srgbClr val="172133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6467475" y="4676775"/>
            <a:ext cx="5143500" cy="600075"/>
          </a:xfrm>
          <a:custGeom>
            <a:pathLst>
              <a:path w="540" h="63">
                <a:moveTo>
                  <a:pt x="3" y="63"/>
                </a:moveTo>
                <a:lnTo>
                  <a:pt x="0" y="63"/>
                </a:lnTo>
                <a:lnTo>
                  <a:pt x="0" y="0"/>
                </a:lnTo>
                <a:lnTo>
                  <a:pt x="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638925" y="4791075"/>
            <a:ext cx="469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BD9B56"/>
                </a:solidFill>
                <a:latin typeface="Microsoft YaHei"/>
                <a:ea typeface="Microsoft YaHei"/>
              </a:rPr>
              <a:t>P6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638925" y="4933950"/>
            <a:ext cx="47720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评估驱动优化：意图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83%→100%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、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答案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50%→100%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，用数据找到并修好缺陷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6467475" y="5391150"/>
            <a:ext cx="5143500" cy="600075"/>
          </a:xfrm>
          <a:custGeom>
            <a:pathLst>
              <a:path w="540" h="63">
                <a:moveTo>
                  <a:pt x="0" y="0"/>
                </a:moveTo>
                <a:lnTo>
                  <a:pt x="532" y="0"/>
                </a:lnTo>
                <a:cubicBezTo>
                  <a:pt x="536" y="0"/>
                  <a:pt x="540" y="4"/>
                  <a:pt x="540" y="8"/>
                </a:cubicBezTo>
                <a:lnTo>
                  <a:pt x="540" y="55"/>
                </a:lnTo>
                <a:cubicBezTo>
                  <a:pt x="540" y="59"/>
                  <a:pt x="536" y="63"/>
                  <a:pt x="532" y="63"/>
                </a:cubicBezTo>
                <a:lnTo>
                  <a:pt x="0" y="63"/>
                </a:lnTo>
                <a:lnTo>
                  <a:pt x="0" y="6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28575" dir="5400000">
              <a:srgbClr val="172133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6467475" y="5391150"/>
            <a:ext cx="5143500" cy="600075"/>
          </a:xfrm>
          <a:custGeom>
            <a:pathLst>
              <a:path w="540" h="63">
                <a:moveTo>
                  <a:pt x="3" y="63"/>
                </a:moveTo>
                <a:lnTo>
                  <a:pt x="0" y="63"/>
                </a:lnTo>
                <a:lnTo>
                  <a:pt x="0" y="0"/>
                </a:lnTo>
                <a:lnTo>
                  <a:pt x="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638925" y="5505450"/>
            <a:ext cx="469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BD9B56"/>
                </a:solidFill>
                <a:latin typeface="Microsoft YaHei"/>
                <a:ea typeface="Microsoft YaHei"/>
              </a:rPr>
              <a:t>P7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638925" y="5648325"/>
            <a:ext cx="47720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国内服务器镜像源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网络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/SECRET_KEY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等部署坑逐一踩平，最终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CI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全绿上线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08 / 17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45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2 · 技术构建路线&lt;/div&gt;&#10;    &lt;h2 style={{ fontSize: 36, fontWeight: 'bold', color: '#172133', margin: 0 }}&gt;数据库设计：8+ 张表承载整个社区&lt;/h2&gt;&#10;  &lt;/div&gt;&#10;  &lt;div style={{ position: 'absolute', left: 64, top: 150, width: 300, background: 'linear-gradient(135deg, #172133 0%, #22395E 100%)', borderRadius: 12, padding: '26px 24px', color: '#FBFCFA' }}&gt;&#10;    &lt;div style={{ color: '#BD9B56', fontSize: 14, letterSpacing: '0.3em', marginBottom: 12 }}&gt;DATA MODEL&lt;/div&gt;&#10;    &lt;h3 style={{ fontSize: 22, fontWeight: 'bold', margin: '0 0 14px', color: '#FBFCFA' }}&gt;核心实体&lt;/h3&gt;&#10;    &lt;div style={{ fontSize: 13, color: 'rgba(251,252,250,0.88)', lineHeight: 2 }}&gt;&#10;      Community 社区&lt;br/&gt;&#10;      Building 楼栋&lt;br/&gt;&#10;      House 房屋&lt;br/&gt;&#10;      User 业主&lt;br/&gt;&#10;      Worker 物业人员&lt;br/&gt;&#10;      RepairOrder 工单&lt;br/&gt;&#10;      FeeBill 费用&lt;br/&gt;&#10;      Notice 公告&lt;br/&gt;&#10;      &lt;span style={{ color: '#BD9B56' }}&gt;+ pgvector 向量表&lt;/span&gt;&#10;    &lt;/div&gt;&#10;  &lt;/div&gt;&#10;  &lt;div style={{ position: 'absolute', left: 400, top: 150, right: 64, height: 470, background: '#fff', borderRadius: 12, padding: '22px 26px', boxShadow: '0 6px 24px rgba(23,33,51,0.08)' }}&gt;&#10;    &lt;svg width=&quot;790&quot; height=&quot;426&quot; viewBox=&quot;0 0 790 426&quot;&gt;&#10;      &lt;g fontFamily=&quot;Inter, sans-serif&quot;&gt;&#10;        &lt;rect x=&quot;20&quot; y=&quot;16&quot; width=&quot;200&quot; height=&quot;60&quot; rx=&quot;6&quot; fill=&quot;rgba(34,57,94,0.08)&quot; stroke=&quot;#22395E&quot; strokeWidth=&quot;1.5&quot; /&gt;&#10;        &lt;text x=&quot;120&quot; y=&quot;42&quot; textAnchor=&quot;middle&quot; fontSize=&quot;14&quot; fontWeight=&quot;bold&quot; fill=&quot;#172133&quot;&gt;community&lt;/text&gt;&#10;        &lt;text x=&quot;120&quot; y=&quot;62&quot; textAnchor=&quot;middle&quot; fontSize=&quot;11&quot; fill=&quot;#5F5E5A&quot;&gt;1 个小区 · 基本信息&lt;/text&gt;&#10;        &lt;rect x=&quot;320&quot; y=&quot;16&quot; width=&quot;200&quot; height=&quot;60&quot; rx=&quot;6&quot; fill=&quot;rgba(34,57,94,0.08)&quot; stroke=&quot;#22395E&quot; strokeWidth=&quot;1.5&quot; /&gt;&#10;        &lt;text x=&quot;420&quot; y=&quot;42&quot; textAnchor=&quot;middle&quot; fontSize=&quot;14&quot; fontWeight=&quot;bold&quot; fill=&quot;#172133&quot;&gt;building&lt;/text&gt;&#10;        &lt;text x=&quot;420&quot; y=&quot;62&quot; textAnchor=&quot;middle&quot; fontSize=&quot;11&quot; fill=&quot;#5F5E5A&quot;&gt;8 栋 · 26 层 · 2 单元&lt;/text&gt;&#10;        &lt;rect x=&quot;620&quot; y=&quot;16&quot; width=&quot;150&quot; height=&quot;60&quot; rx=&quot;6&quot; fill=&quot;rgba(34,57,94,0.08)&quot; stroke=&quot;#22395E&quot; strokeWidth=&quot;1.5&quot; /&gt;&#10;        &lt;text x=&quot;695&quot; y=&quot;42&quot; textAnchor=&quot;middle&quot; fontSize=&quot;14&quot; fontWeight=&quot;bold&quot; fill=&quot;#172133&quot;&gt;house&lt;/text&gt;&#10;        &lt;text x=&quot;695&quot; y=&quot;62&quot; textAnchor=&quot;middle&quot; fontSize=&quot;11&quot; fill=&quot;#5F5E5A&quot;&gt;1664 套房源&lt;/text&gt;&#10;        &lt;line x1=&quot;220&quot; y1=&quot;46&quot; x2=&quot;320&quot; y2=&quot;46&quot; stroke=&quot;#BD9B56&quot; strokeWidth=&quot;1.5&quot; /&gt;&#10;        &lt;line x1=&quot;520&quot; y1=&quot;46&quot; x2=&quot;620&quot; y2=&quot;46&quot; stroke=&quot;#BD9B56&quot; strokeWidth=&quot;1.5&quot; /&gt;&#10;        &lt;rect x=&quot;20&quot; y=&quot;200&quot; width=&quot;200&quot; height=&quot;60&quot; rx=&quot;6&quot; fill=&quot;rgba(189,155,86,0.10)&quot; stroke=&quot;#BD9B56&quot; strokeWidth=&quot;1.5&quot; /&gt;&#10;        &lt;text x=&quot;120&quot; y=&quot;226&quot; textAnchor=&quot;middle&quot; fontSize=&quot;14&quot; fontWeight=&quot;bold&quot; fill=&quot;#172133&quot;&gt;user&lt;/text&gt;&#10;        &lt;text x=&quot;120&quot; y=&quot;246&quot; textAnchor=&quot;middle&quot; fontSize=&quot;11&quot; fill=&quot;#5F5E5A&quot;&gt;200 业主 + 75 物业&lt;/text&gt;&#10;        &lt;rect x=&quot;320&quot; y=&quot;200&quot; width=&quot;200&quot; height=&quot;60&quot; rx=&quot;6&quot; fill=&quot;rgba(189,155,86,0.10)&quot; stroke=&quot;#BD9B56&quot; strokeWidth=&quot;1.5&quot; /&gt;&#10;        &lt;text x=&quot;420&quot; y=&quot;226&quot; textAnchor=&quot;middle&quot; fontSize=&quot;14&quot; fontWeight=&quot;bold&quot; fill=&quot;#172133&quot;&gt;repair_order&lt;/text&gt;&#10;        &lt;text x=&quot;420&quot; y=&quot;246&quot; textAnchor=&quot;middle&quot; fontSize=&quot;11&quot; fill=&quot;#5F5E5A&quot;&gt;50 工单 · 5 状态 · 6 类&lt;/text&gt;&#10;        &lt;rect x=&quot;620&quot; y=&quot;200&quot; width=&quot;150&quot; height=&quot;60&quot; rx=&quot;6&quot; fill=&quot;rgba(189,155,86,0.10)&quot; stroke=&quot;#BD9B56&quot; strokeWidth=&quot;1.5&quot; /&gt;&#10;        &lt;text x=&quot;695&quot; y=&quot;226&quot; textAnchor=&quot;middle&quot; fontSize=&quot;14&quot; fontWeight=&quot;bold&quot; fill=&quot;#172133&quot;&gt;fee_bill&lt;/text&gt;&#10;        &lt;text x=&quot;695&quot; y=&quot;246&quot; textAnchor=&quot;middle&quot; fontSize=&quot;11&quot; fill=&quot;#5F5E5A&quot;&gt;4 类费用&lt;/text&gt;&#10;        &lt;line x1=&quot;120&quot; y1=&quot;76&quot; x2=&quot;120&quot; y2=&quot;200&quot; stroke=&quot;#BD9B56&quot; strokeWidth=&quot;1.5&quot; /&gt;&#10;        &lt;line x1=&quot;420&quot; y1=&quot;76&quot; x2=&quot;420&quot; y2=&quot;200&quot; stroke=&quot;#BD9B56&quot; strokeWidth=&quot;1.5&quot; /&gt;&#10;        &lt;line x1=&quot;695&quot; y1=&quot;76&quot; x2=&quot;695&quot; y2=&quot;200&quot; stroke=&quot;#BD9B56&quot; strokeWidth=&quot;1.5&quot; /&gt;&#10;        &lt;rect x=&quot;20&quot; y=&quot;360&quot; width=&quot;200&quot; height=&quot;60&quot; rx=&quot;6&quot; fill=&quot;rgba(34,57,94,0.08)&quot; stroke=&quot;#22395E&quot; strokeWidth=&quot;1.5&quot; /&gt;&#10;        &lt;text x=&quot;120&quot; y=&quot;386&quot; textAnchor=&quot;middle&quot; fontSize=&quot;14&quot; fontWeight=&quot;bold&quot; fill=&quot;#172133&quot;&gt;worker&lt;/text&gt;&#10;        &lt;text x=&quot;120&quot; y=&quot;406&quot; textAnchor=&quot;middle&quot; fontSize=&quot;11&quot; fill=&quot;#5F5E5A&quot;&gt;75 人 · 5 类技能&lt;/text&gt;&#10;        &lt;rect x=&quot;320&quot; y=&quot;360&quot; width=&quot;200&quot; height=&quot;60&quot; rx=&quot;6&quot; fill=&quot;rgba(34,57,94,0.08)&quot; stroke=&quot;#22395E&quot; strokeWidth=&quot;1.5&quot; /&gt;&#10;        &lt;text x=&quot;420&quot; y=&quot;386&quot; textAnchor=&quot;middle&quot; fontSize=&quot;14&quot; fontWeight=&quot;bold&quot; fill=&quot;#172133&quot;&gt;notice&lt;/text&gt;&#10;        &lt;text x=&quot;420&quot; y=&quot;406&quot; textAnchor=&quot;middle&quot; fontSize=&quot;11&quot; fill=&quot;#5F5E5A&quot;&gt;24 公告 · 8 类&lt;/text&gt;&#10;        &lt;rect x=&quot;620&quot; y=&quot;360&quot; width=&quot;150&quot; height=&quot;60&quot; rx=&quot;6&quot; fill=&quot;#172133&quot; stroke=&quot;#BD9B56&quot; strokeWidth=&quot;1.5&quot; /&gt;&#10;        &lt;text x=&quot;695&quot; y=&quot;384&quot; textAnchor=&quot;middle&quot; fontSize=&quot;13&quot; fontWeight=&quot;bold&quot; fill=&quot;#BD9B56&quot;&gt;knowledge&lt;/text&gt;&#10;        &lt;text x=&quot;695&quot; y=&quot;404&quot; textAnchor=&quot;middle&quot; fontSize=&quot;11&quot; fill=&quot;#FBFCFA&quot;&gt;99 切片 · vector&lt;/text&gt;&#10;        &lt;line x1=&quot;420&quot; y1=&quot;260&quot; x2=&quot;420&quot; y2=&quot;360&quot; stroke=&quot;#BD9B56&quot; strokeWidth=&quot;1.5&quot; /&gt;&#10;      &lt;/g&gt;&#10;    &lt;/svg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09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技术构建路线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8+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609600" y="1428750"/>
            <a:ext cx="2857500" cy="1466850"/>
          </a:xfrm>
          <a:prstGeom prst="roundRect">
            <a:avLst>
              <a:gd name="adj" fmla="val 7792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38200" y="1676400"/>
            <a:ext cx="240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DATA MODEL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838200" y="1952625"/>
            <a:ext cx="240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BFCFA"/>
                </a:solidFill>
                <a:latin typeface="Microsoft YaHei"/>
                <a:ea typeface="Microsoft YaHei"/>
              </a:rPr>
              <a:t>核心实体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38200" y="2343150"/>
            <a:ext cx="2400300" cy="304800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+ pgvector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向量表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0" y="1428750"/>
            <a:ext cx="77724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057650" y="1638300"/>
            <a:ext cx="7524750" cy="40576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09 / 17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3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2 · 技术构建路线&lt;/div&gt;&#10;    &lt;h2 style={{ fontSize: 36, fontWeight: 'bold', color: '#172133', margin: 0 }}&gt;后端：FastAPI 分层 + Repository 模式&lt;/h2&gt;&#10;  &lt;/div&gt;&#10;  &lt;div style={{ position: 'absolute', left: 64, top: 150, width: 680, background: '#fff', borderRadius: 12, padding: '24px 28px', boxShadow: '0 6px 24px rgba(23,33,51,0.08)' }}&gt;&#10;    &lt;svg width=&quot;624&quot; height=&quot;420&quot; viewBox=&quot;0 0 624 420&quot;&gt;&#10;      &lt;defs&gt;&#10;        &lt;marker id=&quot;ar3&quot; viewBox=&quot;0 0 10 10&quot; refX=&quot;9&quot; refY=&quot;5&quot; markerWidth=&quot;6&quot; markerHeight=&quot;6&quot; orient=&quot;auto&quot;&gt;&#10;          &lt;path d=&quot;M0 0L10 5L0 10z&quot; fill=&quot;#22395E&quot; /&gt;&#10;        &lt;/marker&gt;&#10;      &lt;/defs&gt;&#10;      &lt;g fontFamily=&quot;Inter, sans-serif&quot;&gt;&#10;        &lt;rect x=&quot;40&quot; y=&quot;20&quot; width=&quot;544&quot; height=&quot;52&quot; rx=&quot;6&quot; fill=&quot;#F5F8F8&quot; stroke=&quot;#22395E&quot; strokeWidth=&quot;1.5&quot; /&gt;&#10;        &lt;text x=&quot;312&quot; y=&quot;51&quot; textAnchor=&quot;middle&quot; fontSize=&quot;14&quot; fontWeight=&quot;bold&quot; fill=&quot;#172133&quot;&gt;API 路由层（api/routes）· 三端 REST 接口&lt;/text&gt;&#10;        &lt;line x1=&quot;312&quot; y1=&quot;72&quot; x2=&quot;312&quot; y2=&quot;96&quot; stroke=&quot;#22395E&quot; strokeWidth=&quot;1.2&quot; markerEnd=&quot;url(#ar3)&quot; /&gt;&#10;        &lt;rect x=&quot;40&quot; y=&quot;100&quot; width=&quot;544&quot; height=&quot;68&quot; rx=&quot;6&quot; fill=&quot;rgba(34,57,94,0.06)&quot; stroke=&quot;#22395E&quot; strokeWidth=&quot;2&quot; /&gt;&#10;        &lt;text x=&quot;72&quot; y=&quot;128&quot; fontSize=&quot;13&quot; fontWeight=&quot;bold&quot; fill=&quot;#BD9B56&quot;&gt;Service 业务层&lt;/text&gt;&#10;        &lt;text x=&quot;312&quot; y=&quot;150&quot; textAnchor=&quot;middle&quot; fontSize=&quot;14&quot; fontWeight=&quot;bold&quot; fill=&quot;#172133&quot;&gt;工单 · 费用 · 巡检 · 通知 · 派单 · 反馈&lt;/text&gt;&#10;        &lt;line x1=&quot;312&quot; y1=&quot;168&quot; x2=&quot;312&quot; y2=&quot;192&quot; stroke=&quot;#22395E&quot; strokeWidth=&quot;1.2&quot; markerEnd=&quot;url(#ar3)&quot; /&gt;&#10;        &lt;rect x=&quot;40&quot; y=&quot;196&quot; width=&quot;544&quot; height=&quot;62&quot; rx=&quot;6&quot; fill=&quot;rgba(189,155,86,0.08)&quot; stroke=&quot;#BD9B56&quot; strokeWidth=&quot;1.5&quot; /&gt;&#10;        &lt;text x=&quot;72&quot; y=&quot;222&quot; fontSize=&quot;13&quot; fontWeight=&quot;bold&quot; fill=&quot;#BD9B56&quot;&gt;Repository 数据层&lt;/text&gt;&#10;        &lt;text x=&quot;312&quot; y=&quot;244&quot; textAnchor=&quot;middle&quot; fontSize=&quot;14&quot; fontWeight=&quot;bold&quot; fill=&quot;#172133&quot;&gt;SQLAlchemy 2.0 ORM · 业务与数据解耦&lt;/text&gt;&#10;        &lt;line x1=&quot;312&quot; y1=&quot;258&quot; x2=&quot;312&quot; y2=&quot;282&quot; stroke=&quot;#22395E&quot; strokeWidth=&quot;1.2&quot; markerEnd=&quot;url(#ar3)&quot; /&gt;&#10;        &lt;rect x=&quot;40&quot; y=&quot;286&quot; width=&quot;260&quot; height=&quot;60&quot; rx=&quot;6&quot; fill=&quot;#F5F8F8&quot; stroke=&quot;#22395E&quot; strokeWidth=&quot;1.5&quot; /&gt;&#10;        &lt;text x=&quot;170&quot; y=&quot;312&quot; textAnchor=&quot;middle&quot; fontSize=&quot;13&quot; fontWeight=&quot;bold&quot; fill=&quot;#BD9B56&quot;&gt;PostgreSQL + pgvector&lt;/text&gt;&#10;        &lt;text x=&quot;170&quot; y=&quot;330&quot; textAnchor=&quot;middle&quot; fontSize=&quot;11&quot; fill=&quot;#5F5E5A&quot;&gt;事务 + 向量一库双角色&lt;/text&gt;&#10;        &lt;rect x=&quot;324&quot; y=&quot;286&quot; width=&quot;260&quot; height=&quot;60&quot; rx=&quot;6&quot; fill=&quot;#F5F8F8&quot; stroke=&quot;#22395E&quot; strokeWidth=&quot;1.5&quot; /&gt;&#10;        &lt;text x=&quot;454&quot; y=&quot;312&quot; textAnchor=&quot;middle&quot; fontSize=&quot;13&quot; fontWeight=&quot;bold&quot; fill=&quot;#BD9B56&quot;&gt;Redis + JWT + 调度器&lt;/text&gt;&#10;        &lt;text x=&quot;454&quot; y=&quot;330&quot; textAnchor=&quot;middle&quot; fontSize=&quot;11&quot; fill=&quot;#5F5E5A&quot;&gt;缓存 · 鉴权 · 定时清理&lt;/text&gt;&#10;      &lt;/g&gt;&#10;    &lt;/svg&gt;&#10;  &lt;/div&gt;&#10;  &lt;div style={{ position: 'absolute', right: 64, top: 150, width: 430, padding: '10px 0', display: 'flex', flexDirection: 'column', gap: 16 }}&gt;&#10;    &lt;div&gt;&#10;      &lt;div style={{ color: '#BD9B56', fontSize: 13, letterSpacing: '0.25em', marginBottom: 6 }}&gt;分层价值&lt;/div&gt;&#10;      &lt;p style={{ fontSize: 14, color: '#172133', margin: 0, lineHeight: 1.6 }}&gt;AI 逻辑不混进业务代码——Agent 调「稳定的业务工具」，改业务不动 Agent。&lt;/p&gt;&#10;    &lt;/div&gt;&#10;    &lt;div&gt;&#10;      &lt;div style={{ color: '#BD9B56', fontSize: 13, letterSpacing: '0.25em', marginBottom: 6 }}&gt;派单算法&lt;/div&gt;&#10;      &lt;p style={{ fontSize: 14, color: '#172133', margin: 0, lineHeight: 1.6 }}&gt;技能 + 在岗状态 + 工号升序，自动匹配维修师傅，无需人工指派。&lt;/p&gt;&#10;    &lt;/div&gt;&#10;    &lt;div&gt;&#10;      &lt;div style={{ color: '#BD9B56', fontSize: 13, letterSpacing: '0.25em', marginBottom: 6 }}&gt;消息通知&lt;/div&gt;&#10;      &lt;p style={{ fontSize: 14, color: '#172133', margin: 0, lineHeight: 1.6 }}&gt;派单 / 完成 / 答复 / 巡检异常，全链路实时通知相关角色。&lt;/p&gt;&#10;    &lt;/div&gt;&#10;    &lt;div style={{ marginTop: 4, padding: '14px 18px', background: 'rgba(189,155,86,0.12)', borderRadius: 8, borderLeft: '3px solid #BD9B56' }}&gt;&#10;      &lt;p style={{ fontSize: 13, color: '#172133', margin: 0, lineHeight: 1.6 }}&gt;&lt;span style={{ color: '#BD9B56', fontWeight: 'bold' }}&gt;54 → 113&lt;/span&gt; 个后端测试，为每一层打底。&lt;/p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0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技术构建路线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分层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 + Repository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模式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09600" y="1428750"/>
            <a:ext cx="647700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" y="1657350"/>
            <a:ext cx="5943600" cy="4000500"/>
          </a:xfrm>
          <a:prstGeom prst="rect">
            <a:avLst/>
          </a:prstGeom>
          <a:ln/>
        </p:spPr>
      </p:pic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7486650" y="15240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分层价值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486650" y="1733550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逻辑不混进业务代码——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调「稳定的业务工具」，改业务不动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Agent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7486650" y="24003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7486650" y="2609850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技能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工号升序，自动匹配维修师傅，无需人工指派。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7486650" y="3019425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7486650" y="3228975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派单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完成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答复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巡检异常，全链路实时通知相关角色。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7515225" y="3676650"/>
            <a:ext cx="4095750" cy="504825"/>
          </a:xfrm>
          <a:prstGeom prst="roundRect">
            <a:avLst>
              <a:gd name="adj" fmla="val 15094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7515225" y="3676650"/>
            <a:ext cx="4095750" cy="504825"/>
          </a:xfrm>
          <a:custGeom>
            <a:pathLst>
              <a:path w="430" h="53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8"/>
                </a:lnTo>
                <a:cubicBezTo>
                  <a:pt x="3" y="50"/>
                  <a:pt x="5" y="52"/>
                  <a:pt x="7" y="53"/>
                </a:cubicBezTo>
                <a:cubicBezTo>
                  <a:pt x="3" y="52"/>
                  <a:pt x="0" y="49"/>
                  <a:pt x="0" y="4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7686675" y="3810000"/>
            <a:ext cx="372427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 b="1">
                <a:solidFill>
                  <a:srgbClr val="BD9B56"/>
                </a:solidFill>
                <a:latin typeface="Microsoft YaHei"/>
                <a:ea typeface="Microsoft YaHei"/>
              </a:rPr>
              <a:t>54 → 113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个后端测试，为每一层打底。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10 / 17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0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2 · 技术构建路线&lt;/div&gt;&#10;    &lt;h2 style={{ fontSize: 36, fontWeight: 'bold', color: '#172133', margin: 0 }}&gt;前端：三端一体 + 移动端 PWA&lt;/h2&gt;&#10;  &lt;/div&gt;&#10;  &lt;div style={{ position: 'absolute', left: 64, top: 150, width: 700, height: 300, background: '#fff', borderRadius: 12, padding: '22px 28px', boxShadow: '0 6px 24px rgba(23,33,51,0.08)' }}&gt;&#10;    &lt;svg width=&quot;644&quot; height=&quot;256&quot; viewBox=&quot;0 0 644 256&quot;&gt;&#10;      &lt;g fontFamily=&quot;Inter, sans-serif&quot;&gt;&#10;        &lt;rect x=&quot;30&quot; y=&quot;50&quot; width=&quot;170&quot; height=&quot;150&quot; rx=&quot;10&quot; fill=&quot;rgba(34,57,94,0.06)&quot; stroke=&quot;#22395E&quot; strokeWidth=&quot;1.5&quot; /&gt;&#10;        &lt;text x=&quot;115&quot; y=&quot;120&quot; textAnchor=&quot;middle&quot; fontSize=&quot;15&quot; fontWeight=&quot;bold&quot; fill=&quot;#172133&quot;&gt;业主端&lt;/text&gt;&#10;        &lt;text x=&quot;115&quot; y=&quot;146&quot; textAnchor=&quot;middle&quot; fontSize=&quot;11&quot; fill=&quot;#5F5E5A&quot;&gt;AI 助手 · 报修&lt;/text&gt;&#10;        &lt;text x=&quot;115&quot; y=&quot;164&quot; textAnchor=&quot;middle&quot; fontSize=&quot;11&quot; fill=&quot;#5F5E5A&quot;&gt;缴费 · 公告 · 上报&lt;/text&gt;&#10;        &lt;rect x=&quot;237&quot; y=&quot;50&quot; width=&quot;170&quot; height=&quot;150&quot; rx=&quot;10&quot; fill=&quot;rgba(189,155,86,0.08)&quot; stroke=&quot;#BD9B56&quot; strokeWidth=&quot;1.5&quot; /&gt;&#10;        &lt;text x=&quot;322&quot; y=&quot;120&quot; textAnchor=&quot;middle&quot; fontSize=&quot;15&quot; fontWeight=&quot;bold&quot; fill=&quot;#172133&quot;&gt;物业端&lt;/text&gt;&#10;        &lt;text x=&quot;322&quot; y=&quot;146&quot; textAnchor=&quot;middle&quot; fontSize=&quot;11&quot; fill=&quot;#5F5E5A&quot;&gt;工单 · 巡检&lt;/text&gt;&#10;        &lt;text x=&quot;322&quot; y=&quot;164&quot; textAnchor=&quot;middle&quot; fontSize=&quot;11&quot; fill=&quot;#5F5E5A&quot;&gt;看板 · 知识审核&lt;/text&gt;&#10;        &lt;rect x=&quot;444&quot; y=&quot;50&quot; width=&quot;170&quot; height=&quot;150&quot; rx=&quot;10&quot; fill=&quot;rgba(34,57,94,0.06)&quot; stroke=&quot;#22395E&quot; strokeWidth=&quot;1.5&quot; /&gt;&#10;        &lt;text x=&quot;529&quot; y=&quot;120&quot; textAnchor=&quot;middle&quot; fontSize=&quot;15&quot; fontWeight=&quot;bold&quot; fill=&quot;#172133&quot;&gt;维修端&lt;/text&gt;&#10;        &lt;text x=&quot;529&quot; y=&quot;146&quot; textAnchor=&quot;middle&quot; fontSize=&quot;11&quot; fill=&quot;#5F5E5A&quot;&gt;接单 · 处理&lt;/text&gt;&#10;        &lt;text x=&quot;529&quot; y=&quot;164&quot; textAnchor=&quot;middle&quot; fontSize=&quot;11&quot; fill=&quot;#5F5E5A&quot;&gt;消息 · 巡检任务&lt;/text&gt;&#10;        &lt;text x=&quot;322&quot; y=&quot;30&quot; textAnchor=&quot;middle&quot; fontSize=&quot;13&quot; fontWeight=&quot;bold&quot; fill=&quot;#BD9B56&quot;&gt;JWT 鉴权 · 角色路由 · 统一门户&lt;/text&gt;&#10;        &lt;text x=&quot;322&quot; y=&quot;226&quot; textAnchor=&quot;middle&quot; fontSize=&quot;12&quot; fill=&quot;#5F5E5A&quot;&gt;React + Vite + TypeScript + Tailwind · 移动端 PWA 可安装离线&lt;/text&gt;&#10;      &lt;/g&gt;&#10;    &lt;/svg&gt;&#10;  &lt;/div&gt;&#10;  &lt;div style={{ position: 'absolute', right: 64, top: 150, width: 400, height: 300, border: '2px dashed #BD9B56', borderRadius: 12, background: 'rgba(189,155,86,0.06)', display: 'flex', flexDirection: 'column', alignItems: 'center', justifyContent: 'center', color: '#BD9B56' }}&gt;&#10;    &lt;div style={{ fontSize: 40, marginBottom: 12 }}&gt;▧&lt;/div&gt;&#10;    &lt;div style={{ fontSize: 16, fontWeight: 'bold', letterSpacing: '0.1em' }}&gt;此处放界面截图&lt;/div&gt;&#10;    &lt;div style={{ fontSize: 13, color: '#5F5E5A', marginTop: 8 }}&gt;三端首页 / 登录页截图&lt;/div&gt;&#10;  &lt;/div&gt;&#10;  &lt;div style={{ position: 'absolute', left: 64, top: 470, right: 64, display: 'flex', gap: 16 }}&gt;&#10;    &lt;div style={{ flex: 1, background: '#fff', borderTop: '3px solid #BD9B56', borderRadius: '0 0 8px 8px', padding: '16px 20px', boxShadow: '0 4px 16px rgba(23,33,51,0.06)' }}&gt;&#10;      &lt;div style={{ fontSize: 16, fontWeight: 'bold', color: '#172133', marginBottom: 6 }}&gt;视觉规范&lt;/div&gt;&#10;      &lt;p style={{ fontSize: 12, color: '#5F5E5A', margin: 0, lineHeight: 1.5 }}&gt;深蓝 #22395E + 香槟金 #BD9B56 · 8pt 栅格 · 44px 触控目标 · Corporate Elegance&lt;/p&gt;&#10;    &lt;/div&gt;&#10;    &lt;div style={{ flex: 1, background: '#fff', borderTop: '3px solid #BD9B56', borderRadius: '0 0 8px 8px', padding: '16px 20px', boxShadow: '0 4px 16px rgba(23,33,51,0.06)' }}&gt;&#10;      &lt;div style={{ fontSize: 16, fontWeight: 'bold', color: '#172133', marginBottom: 6 }}&gt;移动端 PWA&lt;/div&gt;&#10;      &lt;p style={{ fontSize: 12, color: '#5F5E5A', margin: 0, lineHeight: 1.5 }}&gt;添加到主屏幕 · 离线可用 · 推送通知 · 30 个前端组件测试&lt;/p&gt;&#10;    &lt;/div&gt;&#10;    &lt;div style={{ flex: 1, background: '#fff', borderTop: '3px solid #BD9B56', borderRadius: '0 0 8px 8px', padding: '16px 20px', boxShadow: '0 4px 16px rgba(23,33,51,0.06)' }}&gt;&#10;      &lt;div style={{ fontSize: 16, fontWeight: 'bold', color: '#172133', marginBottom: 6 }}&gt;演示账号&lt;/div&gt;&#10;      &lt;p style={{ fontSize: 12, color: '#5F5E5A', margin: 0, lineHeight: 1.5 }}&gt;业主 guoyi378 · 物业 mayun420 · 维修 yangfei423（密码 123456）&lt;/p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1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技术构建路线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前端：三端一体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移动端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 PWA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09600" y="1428750"/>
            <a:ext cx="666750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" y="1638300"/>
            <a:ext cx="6134100" cy="2438400"/>
          </a:xfrm>
          <a:prstGeom prst="rect">
            <a:avLst/>
          </a:prstGeom>
          <a:ln/>
        </p:spPr>
      </p:pic>
      <p:sp>
        <p:nvSpPr>
          <p:cNvPr id="36" name=""/>
          <p:cNvSpPr/>
          <p:nvPr/>
        </p:nvSpPr>
        <p:spPr>
          <a:xfrm rot="0" flipH="0" flipV="0">
            <a:off x="7772400" y="1428750"/>
            <a:ext cx="3810000" cy="2857500"/>
          </a:xfrm>
          <a:prstGeom prst="roundRect">
            <a:avLst>
              <a:gd name="adj" fmla="val 4000"/>
            </a:avLst>
          </a:prstGeom>
          <a:solidFill>
            <a:srgbClr val="BD9B56">
              <a:alpha val="6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486900" y="2362200"/>
            <a:ext cx="381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3000">
                <a:solidFill>
                  <a:srgbClr val="BD9B56"/>
                </a:solidFill>
                <a:latin typeface="Microsoft YaHei"/>
                <a:ea typeface="Microsoft YaHei"/>
              </a:rPr>
              <a:t>▧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9144000" y="293370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此处放界面截图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9058275" y="32004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三端首页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登录页截图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09600" y="4505325"/>
            <a:ext cx="3552825" cy="1000125"/>
          </a:xfrm>
          <a:custGeom>
            <a:pathLst>
              <a:path w="373" h="105">
                <a:moveTo>
                  <a:pt x="0" y="0"/>
                </a:moveTo>
                <a:lnTo>
                  <a:pt x="373" y="0"/>
                </a:lnTo>
                <a:lnTo>
                  <a:pt x="373" y="0"/>
                </a:lnTo>
                <a:lnTo>
                  <a:pt x="373" y="97"/>
                </a:lnTo>
                <a:cubicBezTo>
                  <a:pt x="373" y="101"/>
                  <a:pt x="369" y="105"/>
                  <a:pt x="365" y="105"/>
                </a:cubicBezTo>
                <a:lnTo>
                  <a:pt x="8" y="105"/>
                </a:lnTo>
                <a:cubicBezTo>
                  <a:pt x="4" y="105"/>
                  <a:pt x="0" y="101"/>
                  <a:pt x="0" y="97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609600" y="4505325"/>
            <a:ext cx="3552825" cy="1000125"/>
          </a:xfrm>
          <a:custGeom>
            <a:pathLst>
              <a:path w="373" h="105">
                <a:moveTo>
                  <a:pt x="373" y="3"/>
                </a:moveTo>
                <a:lnTo>
                  <a:pt x="0" y="3"/>
                </a:lnTo>
                <a:lnTo>
                  <a:pt x="0" y="0"/>
                </a:lnTo>
                <a:lnTo>
                  <a:pt x="37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00100" y="4657725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72133"/>
                </a:solidFill>
                <a:latin typeface="Microsoft YaHei"/>
                <a:ea typeface="Microsoft YaHei"/>
              </a:rPr>
              <a:t>视觉规范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00100" y="4905375"/>
            <a:ext cx="31718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深蓝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#22395E +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香槟金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#BD9B56 · 8pt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栅格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· 44px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触控目标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· Corporate Elegance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4314825" y="4505325"/>
            <a:ext cx="3562350" cy="1000125"/>
          </a:xfrm>
          <a:custGeom>
            <a:pathLst>
              <a:path w="374" h="105">
                <a:moveTo>
                  <a:pt x="0" y="0"/>
                </a:moveTo>
                <a:lnTo>
                  <a:pt x="374" y="0"/>
                </a:lnTo>
                <a:lnTo>
                  <a:pt x="374" y="0"/>
                </a:lnTo>
                <a:lnTo>
                  <a:pt x="374" y="97"/>
                </a:lnTo>
                <a:cubicBezTo>
                  <a:pt x="374" y="101"/>
                  <a:pt x="370" y="105"/>
                  <a:pt x="366" y="105"/>
                </a:cubicBezTo>
                <a:lnTo>
                  <a:pt x="8" y="105"/>
                </a:lnTo>
                <a:cubicBezTo>
                  <a:pt x="4" y="105"/>
                  <a:pt x="0" y="101"/>
                  <a:pt x="0" y="97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4314825" y="4505325"/>
            <a:ext cx="3562350" cy="1000125"/>
          </a:xfrm>
          <a:custGeom>
            <a:pathLst>
              <a:path w="374" h="105">
                <a:moveTo>
                  <a:pt x="374" y="3"/>
                </a:moveTo>
                <a:lnTo>
                  <a:pt x="0" y="3"/>
                </a:lnTo>
                <a:lnTo>
                  <a:pt x="0" y="0"/>
                </a:lnTo>
                <a:lnTo>
                  <a:pt x="37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4505325" y="4657725"/>
            <a:ext cx="3181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72133"/>
                </a:solidFill>
                <a:latin typeface="Microsoft YaHei"/>
                <a:ea typeface="Microsoft YaHei"/>
              </a:rPr>
              <a:t>移动端</a:t>
            </a:r>
            <a:r>
              <a:rPr lang="en-US" sz="1200">
                <a:solidFill>
                  <a:srgbClr val="172133"/>
                </a:solidFill>
                <a:latin typeface="Microsoft YaHei"/>
                <a:ea typeface="Microsoft YaHei"/>
              </a:rPr>
              <a:t> PWA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4505325" y="4905375"/>
            <a:ext cx="31813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添加到主屏幕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离线可用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推送通知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· 30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个前端组件测试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8029575" y="4505325"/>
            <a:ext cx="3552825" cy="1000125"/>
          </a:xfrm>
          <a:custGeom>
            <a:pathLst>
              <a:path w="373" h="105">
                <a:moveTo>
                  <a:pt x="0" y="0"/>
                </a:moveTo>
                <a:lnTo>
                  <a:pt x="373" y="0"/>
                </a:lnTo>
                <a:lnTo>
                  <a:pt x="373" y="0"/>
                </a:lnTo>
                <a:lnTo>
                  <a:pt x="373" y="97"/>
                </a:lnTo>
                <a:cubicBezTo>
                  <a:pt x="373" y="101"/>
                  <a:pt x="369" y="105"/>
                  <a:pt x="365" y="105"/>
                </a:cubicBezTo>
                <a:lnTo>
                  <a:pt x="8" y="105"/>
                </a:lnTo>
                <a:cubicBezTo>
                  <a:pt x="4" y="105"/>
                  <a:pt x="0" y="101"/>
                  <a:pt x="0" y="97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8029575" y="4505325"/>
            <a:ext cx="3552825" cy="1000125"/>
          </a:xfrm>
          <a:custGeom>
            <a:pathLst>
              <a:path w="373" h="105">
                <a:moveTo>
                  <a:pt x="373" y="3"/>
                </a:moveTo>
                <a:lnTo>
                  <a:pt x="0" y="3"/>
                </a:lnTo>
                <a:lnTo>
                  <a:pt x="0" y="0"/>
                </a:lnTo>
                <a:lnTo>
                  <a:pt x="37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8220075" y="4657725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72133"/>
                </a:solidFill>
                <a:latin typeface="Microsoft YaHei"/>
                <a:ea typeface="Microsoft YaHei"/>
              </a:rPr>
              <a:t>演示账号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8220075" y="4905375"/>
            <a:ext cx="31718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11 / 17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4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2, letterSpacing: '0.45em', marginBottom: 28 }}&gt;CHAPTER&lt;/div&gt;&#10;    &lt;div style={{ display: 'flex', alignItems: 'center', gap: 36 }}&gt;&#10;      &lt;span style={{ color: '#BD9B56', fontSize: 140, fontWeight: 'bold', lineHeight: 1 }}&gt;03&lt;/span&gt;&#10;      &lt;div style={{ width: 2, height: 110, background: '#BD9B56' }} /&gt;&#10;      &lt;div&gt;&#10;        &lt;h2 style={{ fontSize: 60, fontWeight: 'bold', margin: 0, color: '#FBFCFA' }}&gt;AI 能力与成果&lt;/h2&gt;&#10;        &lt;p style={{ fontSize: 20, color: 'rgba(189,155,86,0.85)', marginTop: 18, letterSpacing: '0.18em' }}&gt;AGENT · RAG · EVIDENCE&lt;/p&gt;&#10;      &lt;/div&gt;&#10;    &lt;/div&gt;&#10;    &lt;p style={{ fontSize: 18, color: 'rgba(251,252,250,0.6)', marginTop: 48, maxWidth: 720, textAlign: 'center', lineHeight: 1.6 }}&gt;AI 真参与业务，且能用数据证明它做得好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2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619750" y="19716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CHAPTER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095625" y="2495550"/>
            <a:ext cx="1647825" cy="1600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0" b="1">
                <a:solidFill>
                  <a:srgbClr val="BD9B56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5086350" y="2771775"/>
            <a:ext cx="19050" cy="1047750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5448300" y="2752725"/>
            <a:ext cx="36576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能力与成果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448300" y="36099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BD9B56">
                    <a:alpha val="85000"/>
                  </a:srgbClr>
                </a:solidFill>
                <a:latin typeface="Microsoft YaHei"/>
                <a:ea typeface="Microsoft YaHei"/>
              </a:rPr>
              <a:t>AGENT · RAG · EVIDENCE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524375" y="4552950"/>
            <a:ext cx="3143250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350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1350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真参与业务，且能用数据证明它做得好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12 / 17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64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3 · AI 能力&lt;/div&gt;&#10;    &lt;h2 style={{ fontSize: 36, fontWeight: 'bold', color: '#172133', margin: 0 }}&gt;AI Agent：LangGraph 多意图编排&lt;/h2&gt;&#10;  &lt;/div&gt;&#10;  &lt;div style={{ position: 'absolute', left: 64, top: 150, width: 700, background: '#fff', borderRadius: 12, padding: '24px 28px', boxShadow: '0 6px 24px rgba(23,33,51,0.08)' }}&gt;&#10;    &lt;svg width=&quot;644&quot; height=&quot;430&quot; viewBox=&quot;0 0 644 430&quot;&gt;&#10;      &lt;defs&gt;&#10;        &lt;marker id=&quot;ar4&quot; viewBox=&quot;0 0 10 10&quot; refX=&quot;9&quot; refY=&quot;5&quot; markerWidth=&quot;6&quot; markerHeight=&quot;6&quot; orient=&quot;auto&quot;&gt;&#10;          &lt;path d=&quot;M0 0L10 5L0 10z&quot; fill=&quot;#BD9B56&quot; /&gt;&#10;        &lt;/marker&gt;&#10;      &lt;/defs&gt;&#10;      &lt;g fontFamily=&quot;Inter, sans-serif&quot;&gt;&#10;        &lt;rect x=&quot;222&quot; y=&quot;16&quot; width=&quot;200&quot; height=&quot;54&quot; rx=&quot;8&quot; fill=&quot;rgba(34,57,94,0.08)&quot; stroke=&quot;#22395E&quot; strokeWidth=&quot;1.5&quot; /&gt;&#10;        &lt;text x=&quot;322&quot; y=&quot;40&quot; textAnchor=&quot;middle&quot; fontSize=&quot;14&quot; fontWeight=&quot;bold&quot; fill=&quot;#172133&quot;&gt;用户自然语言输入&lt;/text&gt;&#10;        &lt;text x=&quot;322&quot; y=&quot;58&quot; textAnchor=&quot;middle&quot; fontSize=&quot;11&quot; fill=&quot;#5F5E5A&quot;&gt;「我家厨房漏水了」&lt;/text&gt;&#10;        &lt;line x1=&quot;322&quot; y1=&quot;70&quot; x2=&quot;322&quot; y2=&quot;92&quot; stroke=&quot;#BD9B56&quot; strokeWidth=&quot;1.5&quot; markerEnd=&quot;url(#ar4)&quot; /&gt;&#10;        &lt;rect x=&quot;162&quot; y=&quot;96&quot; width=&quot;320&quot; height=&quot;70&quot; rx=&quot;8&quot; fill=&quot;rgba(34,57,94,0.12)&quot; stroke=&quot;#22395E&quot; strokeWidth=&quot;2&quot; /&gt;&#10;        &lt;text x=&quot;322&quot; y=&quot;122&quot; textAnchor=&quot;middle&quot; fontSize=&quot;13&quot; fontWeight=&quot;bold&quot; fill=&quot;#BD9B56&quot;&gt;意图分类（Router Agent）&lt;/text&gt;&#10;        &lt;text x=&quot;322&quot; y=&quot;146&quot; textAnchor=&quot;middle&quot; fontSize=&quot;12&quot; fill=&quot;#172133&quot; fontWeight=&quot;bold&quot;&gt;报修 / 费用 / 公告 / 知识 / 上报&lt;/text&gt;&#10;        &lt;text x=&quot;322&quot; y=&quot;162&quot; textAnchor=&quot;middle&quot; fontSize=&quot;11&quot; fill=&quot;#5F5E5A&quot;&gt;准确率 100%&lt;/text&gt;&#10;        &lt;line x1=&quot;322&quot; y1=&quot;166&quot; x2=&quot;322&quot; y2=&quot;188&quot; stroke=&quot;#BD9B56&quot; strokeWidth=&quot;1.5&quot; markerEnd=&quot;url(#ar4)&quot; /&gt;&#10;        &lt;rect x=&quot;162&quot; y=&quot;192&quot; width=&quot;320&quot; height=&quot;70&quot; rx=&quot;8&quot; fill=&quot;rgba(189,155,86,0.10)&quot; stroke=&quot;#BD9B56&quot; strokeWidth=&quot;1.5&quot; /&gt;&#10;        &lt;text x=&quot;322&quot; y=&quot;218&quot; textAnchor=&quot;middle&quot; fontSize=&quot;13&quot; fontWeight=&quot;bold&quot; fill=&quot;#172133&quot;&gt;领域 Agent + 多轮状态机&lt;/text&gt;&#10;        &lt;text x=&quot;322&quot; y=&quot;240&quot; textAnchor=&quot;middle&quot; fontSize=&quot;11&quot; fill=&quot;#5F5E5A&quot;&gt;报修缺「位置/类型」→ 主动反问补全&lt;/text&gt;&#10;        &lt;line x1=&quot;322&quot; y1=&quot;262&quot; x2=&quot;322&quot; y2=&quot;284&quot; stroke=&quot;#BD9B56&quot; strokeWidth=&quot;1.5&quot; markerEnd=&quot;url(#ar4)&quot; /&gt;&#10;        &lt;rect x=&quot;30&quot; y=&quot;288&quot; width=&quot;190&quot; height=&quot;58&quot; rx=&quot;6&quot; fill=&quot;rgba(34,57,94,0.06)&quot; stroke=&quot;#22395E&quot; strokeWidth=&quot;1.5&quot; /&gt;&#10;        &lt;text x=&quot;125&quot; y=&quot;314&quot; textAnchor=&quot;middle&quot; fontSize=&quot;12&quot; fontWeight=&quot;bold&quot; fill=&quot;#172133&quot;&gt;create_repair_order&lt;/text&gt;&#10;        &lt;text x=&quot;125&quot; y=&quot;332&quot; textAnchor=&quot;middle&quot; fontSize=&quot;10&quot; fill=&quot;#5F5E5A&quot;&gt;创建工单&lt;/text&gt;&#10;        &lt;rect x=&quot;240&quot; y=&quot;288&quot; width=&quot;190&quot; height=&quot;58&quot; rx=&quot;6&quot; fill=&quot;rgba(34,57,94,0.06)&quot; stroke=&quot;#22395E&quot; strokeWidth=&quot;1.5&quot; /&gt;&#10;        &lt;text x=&quot;335&quot; y=&quot;314&quot; textAnchor=&quot;middle&quot; fontSize=&quot;12&quot; fontWeight=&quot;bold&quot; fill=&quot;#172133&quot;&gt;query_fee&lt;/text&gt;&#10;        &lt;text x=&quot;335&quot; y=&quot;332&quot; textAnchor=&quot;middle&quot; fontSize=&quot;10&quot; fill=&quot;#5F5E5A&quot;&gt;查询费用&lt;/text&gt;&#10;        &lt;rect x=&quot;450&quot; y=&quot;288&quot; width=&quot;190&quot; height=&quot;58&quot; rx=&quot;6&quot; fill=&quot;rgba(34,57,94,0.06)&quot; stroke=&quot;#22395E&quot; strokeWidth=&quot;1.5&quot; /&gt;&#10;        &lt;text x=&quot;545&quot; y=&quot;314&quot; textAnchor=&quot;middle&quot; fontSize=&quot;12&quot; fontWeight=&quot;bold&quot; fill=&quot;#172133&quot;&gt;search_knowledge&lt;/text&gt;&#10;        &lt;text x=&quot;545&quot; y=&quot;332&quot; textAnchor=&quot;middle&quot; fontSize=&quot;10&quot; fill=&quot;#5F5E5A&quot;&gt;检索知识&lt;/text&gt;&#10;        &lt;line x1=&quot;322&quot; y1=&quot;288&quot; x2=&quot;322&quot; y2=&quot;346&quot; stroke=&quot;#22395E&quot; strokeWidth=&quot;1.2&quot; /&gt;&#10;        &lt;line x1=&quot;322&quot; y1=&quot;346&quot; x2=&quot;125&quot; y2=&quot;346&quot; stroke=&quot;#22395E&quot; strokeWidth=&quot;1.2&quot; /&gt;&#10;        &lt;line x1=&quot;322&quot; y1=&quot;346&quot; x2=&quot;335&quot; y2=&quot;346&quot; stroke=&quot;#22395E&quot; strokeWidth=&quot;1.2&quot; /&gt;&#10;        &lt;line x1=&quot;322&quot; y1=&quot;346&quot; x2=&quot;545&quot; y2=&quot;346&quot; stroke=&quot;#22395E&quot; strokeWidth=&quot;1.2&quot; /&gt;&#10;        &lt;line x1=&quot;125&quot; y1=&quot;346&quot; x2=&quot;125&quot; y2=&quot;370&quot; stroke=&quot;#22395E&quot; strokeWidth=&quot;1.2&quot; /&gt;&#10;        &lt;line x1=&quot;335&quot; y1=&quot;346&quot; x2=&quot;335&quot; y2=&quot;370&quot; stroke=&quot;#22395E&quot; strokeWidth=&quot;1.2&quot; /&gt;&#10;        &lt;line x1=&quot;545&quot; y1=&quot;346&quot; x2=&quot;545&quot; y2=&quot;370&quot; stroke=&quot;#22395E&quot; strokeWidth=&quot;1.2&quot; /&gt;&#10;        &lt;rect x=&quot;30&quot; y=&quot;374&quot; width=&quot;610&quot; height=&quot;44&quot; rx=&quot;6&quot; fill=&quot;#172133&quot; /&gt;&#10;        &lt;text x=&quot;335&quot; y=&quot;401&quot; textAnchor=&quot;middle&quot; fontSize=&quot;12&quot; fontWeight=&quot;bold&quot; fill=&quot;#BD9B56&quot;&gt;业务 API 层 · 工具执行 · Trace 全程记录可评估&lt;/text&gt;&#10;      &lt;/g&gt;&#10;    &lt;/svg&gt;&#10;  &lt;/div&gt;&#10;  &lt;div style={{ position: 'absolute', right: 64, top: 150, width: 400, padding: '8px 0', display: 'flex', flexDirection: 'column', gap: 16 }}&gt;&#10;    &lt;div&gt;&#10;      &lt;div style={{ color: '#BD9B56', fontSize: 13, letterSpacing: '0.25em', marginBottom: 6 }}&gt;多轮补全&lt;/div&gt;&#10;      &lt;p style={{ fontSize: 14, color: '#172133', margin: 0, lineHeight: 1.6 }}&gt;报修是「状态机」不是「单轮问答」——Agent 记得上下文，主动追问缺失字段。&lt;/p&gt;&#10;    &lt;/div&gt;&#10;    &lt;div&gt;&#10;      &lt;div style={{ color: '#BD9B56', fontSize: 13, letterSpacing: '0.25em', marginBottom: 6 }}&gt;可观测&lt;/div&gt;&#10;      &lt;p style={{ fontSize: 14, color: '#172133', margin: 0, lineHeight: 1.6 }}&gt;每次对话的意图、工具、Trace 全记录，支撑评估与迭代。&lt;/p&gt;&#10;    &lt;/div&gt;&#10;    &lt;div&gt;&#10;      &lt;div style={{ color: '#BD9B56', fontSize: 13, letterSpacing: '0.25em', marginBottom: 6 }}&gt;5 类意图&lt;/div&gt;&#10;      &lt;p style={{ fontSize: 14, color: '#172133', margin: 0, lineHeight: 1.6 }}&gt;报修、费用、公告、知识咨询、问题上报——自然语言直达对应业务工具。&lt;/p&gt;&#10;    &lt;/div&gt;&#10;    &lt;div style={{ marginTop: 4, padding: '14px 18px', background: 'rgba(189,155,86,0.12)', borderRadius: 8, borderLeft: '3px solid #BD9B56' }}&gt;&#10;      &lt;p style={{ fontSize: 13, color: '#172133', margin: 0, lineHeight: 1.6 }}&gt;智谱 GLM-4-Flash 驱动，&lt;span style={{ color: '#BD9B56', fontWeight: 'bold' }}&gt;LangGraph&lt;/span&gt; 编排状态流转。&lt;/p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3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AI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能力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AI Agent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：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多意图编排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609600" y="1428750"/>
            <a:ext cx="6667500" cy="4552950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" y="1657350"/>
            <a:ext cx="6134100" cy="409575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772400" y="1504950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多轮补全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772400" y="1714500"/>
            <a:ext cx="3810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报修是「状态机」不是「单轮问答」——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记得上下文，主动追问缺失字段。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772400" y="2381250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772400" y="2590800"/>
            <a:ext cx="3810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每次对话的意图、工具、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Trace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全记录，支撑评估与迭代。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772400" y="3000375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5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类意图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7772400" y="3209925"/>
            <a:ext cx="3810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报修、费用、公告、知识咨询、问题上报——自然语言直达对应业务工具。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7800975" y="3914775"/>
            <a:ext cx="3810000" cy="504825"/>
          </a:xfrm>
          <a:prstGeom prst="roundRect">
            <a:avLst>
              <a:gd name="adj" fmla="val 15094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7800975" y="3914775"/>
            <a:ext cx="3810000" cy="504825"/>
          </a:xfrm>
          <a:custGeom>
            <a:pathLst>
              <a:path w="400" h="53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8"/>
                </a:lnTo>
                <a:cubicBezTo>
                  <a:pt x="3" y="50"/>
                  <a:pt x="5" y="52"/>
                  <a:pt x="7" y="53"/>
                </a:cubicBezTo>
                <a:cubicBezTo>
                  <a:pt x="3" y="52"/>
                  <a:pt x="0" y="49"/>
                  <a:pt x="0" y="4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972425" y="4048125"/>
            <a:ext cx="34385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智谱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GLM-4-Flash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驱动，</a:t>
            </a:r>
            <a:r>
              <a:rPr lang="en-US" sz="975" b="1">
                <a:solidFill>
                  <a:srgbClr val="BD9B56"/>
                </a:solidFill>
                <a:latin typeface="Microsoft YaHei"/>
                <a:ea typeface="Microsoft YaHei"/>
              </a:rPr>
              <a:t>LangGraph</a:t>
            </a: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编排状态流转。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13 / 17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81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3 · AI 能力&lt;/div&gt;&#10;    &lt;h2 style={{ fontSize: 36, fontWeight: 'bold', color: '#172133', margin: 0 }}&gt;RAG 知识库：检索物业「隐性知识」&lt;/h2&gt;&#10;  &lt;/div&gt;&#10;  &lt;div style={{ position: 'absolute', left: 64, top: 150, width: 660, background: '#fff', borderRadius: 12, padding: '24px 28px', boxShadow: '0 6px 24px rgba(23,33,51,0.08)' }}&gt;&#10;    &lt;svg width=&quot;604&quot; height=&quot;420&quot; viewBox=&quot;0 0 604 420&quot;&gt;&#10;      &lt;defs&gt;&#10;        &lt;marker id=&quot;ar5&quot; viewBox=&quot;0 0 10 10&quot; refX=&quot;9&quot; refY=&quot;5&quot; markerWidth=&quot;6&quot; markerHeight=&quot;6&quot; orient=&quot;auto&quot;&gt;&#10;          &lt;path d=&quot;M0 0L10 5L0 10z&quot; fill=&quot;#BD9B56&quot; /&gt;&#10;        &lt;/marker&gt;&#10;      &lt;/defs&gt;&#10;      &lt;g fontFamily=&quot;Inter, sans-serif&quot;&gt;&#10;        &lt;rect x=&quot;20&quot; y=&quot;20&quot; width=&quot;140&quot; height=&quot;54&quot; rx=&quot;8&quot; fill=&quot;rgba(34,57,94,0.08)&quot; stroke=&quot;#22395E&quot; strokeWidth=&quot;1.5&quot; /&gt;&#10;        &lt;text x=&quot;90&quot; y=&quot;42&quot; textAnchor=&quot;middle&quot; fontSize=&quot;12&quot; fontWeight=&quot;bold&quot; fill=&quot;#172133&quot;&gt;22 知识文档&lt;/text&gt;&#10;        &lt;text x=&quot;90&quot; y=&quot;60&quot; textAnchor=&quot;middle&quot; fontSize=&quot;10&quot; fill=&quot;#5F5E5A&quot;&gt;公约/装修/停车/FAQ&lt;/text&gt;&#10;        &lt;line x1=&quot;160&quot; y1=&quot;47&quot; x2=&quot;190&quot; y2=&quot;47&quot; stroke=&quot;#BD9B56&quot; strokeWidth=&quot;1.5&quot; markerEnd=&quot;url(#ar5)&quot; /&gt;&#10;        &lt;rect x=&quot;194&quot; y=&quot;20&quot; width=&quot;150&quot; height=&quot;54&quot; rx=&quot;8&quot; fill=&quot;rgba(34,57,94,0.08)&quot; stroke=&quot;#22395E&quot; strokeWidth=&quot;1.5&quot; /&gt;&#10;        &lt;text x=&quot;269&quot; y=&quot;42&quot; textAnchor=&quot;middle&quot; fontSize=&quot;12&quot; fontWeight=&quot;bold&quot; fill=&quot;#172133&quot;&gt;切片 99 个&lt;/text&gt;&#10;        &lt;text x=&quot;269&quot; y=&quot;60&quot; textAnchor=&quot;middle&quot; fontSize=&quot;10&quot; fill=&quot;#5F5E5A&quot;&gt;语义切分&lt;/text&gt;&#10;        &lt;line x1=&quot;344&quot; y1=&quot;47&quot; x2=&quot;374&quot; y2=&quot;47&quot; stroke=&quot;#BD9B56&quot; strokeWidth=&quot;1.5&quot; markerEnd=&quot;url(#ar5)&quot; /&gt;&#10;        &lt;rect x=&quot;378&quot; y=&quot;20&quot; width=&quot;206&quot; height=&quot;54&quot; rx=&quot;8&quot; fill=&quot;rgba(189,155,86,0.10)&quot; stroke=&quot;#BD9B56&quot; strokeWidth=&quot;1.5&quot; /&gt;&#10;        &lt;text x=&quot;481&quot; y=&quot;42&quot; textAnchor=&quot;middle&quot; fontSize=&quot;12&quot; fontWeight=&quot;bold&quot; fill=&quot;#172133&quot;&gt;embedding-3 向量化&lt;/text&gt;&#10;        &lt;text x=&quot;481&quot; y=&quot;60&quot; textAnchor=&quot;middle&quot; fontSize=&quot;10&quot; fill=&quot;#5F5E5A&quot;&gt;1024 维&lt;/text&gt;&#10;        &lt;line x1=&quot;481&quot; y1=&quot;74&quot; x2=&quot;481&quot; y2=&quot;96&quot; stroke=&quot;#BD9B56&quot; strokeWidth=&quot;1.5&quot; markerEnd=&quot;url(#ar5)&quot; /&gt;&#10;        &lt;rect x=&quot;358&quot; y=&quot;100&quot; width=&quot;246&quot; height=&quot;54&quot; rx=&quot;8&quot; fill=&quot;#172133&quot; /&gt;&#10;        &lt;text x=&quot;481&quot; y=&quot;122&quot; textAnchor=&quot;middle&quot; fontSize=&quot;12&quot; fontWeight=&quot;bold&quot; fill=&quot;#BD9B56&quot;&gt;pgvector 向量库&lt;/text&gt;&#10;        &lt;text x=&quot;481&quot; y=&quot;140&quot; textAnchor=&quot;middle&quot; fontSize=&quot;10&quot; fill=&quot;#FBFCFA&quot;&gt;PostgreSQL 扩展 · 一库双角色&lt;/text&gt;&#10;        &lt;line x1=&quot;481&quot; y1=&quot;154&quot; x2=&quot;481&quot; y2=&quot;176&quot; stroke=&quot;#BD9B56&quot; strokeWidth=&quot;1.5&quot; markerEnd=&quot;url(#ar5)&quot; /&gt;&#10;        &lt;rect x=&quot;358&quot; y=&quot;180&quot; width=&quot;246&quot; height=&quot;54&quot; rx=&quot;8&quot; fill=&quot;rgba(34,57,94,0.06)&quot; stroke=&quot;#22395E&quot; strokeWidth=&quot;1.5&quot; /&gt;&#10;        &lt;text x=&quot;481&quot; y=&quot;202&quot; textAnchor=&quot;middle&quot; fontSize=&quot;12&quot; fontWeight=&quot;bold&quot; fill=&quot;#172133&quot;&gt;相似度检索 top-5&lt;/text&gt;&#10;        &lt;text x=&quot;481&quot; y=&quot;220&quot; textAnchor=&quot;middle&quot; fontSize=&quot;10&quot; fill=&quot;#5F5E5A&quot;&gt;Recall@5 = 100%&lt;/text&gt;&#10;        &lt;line x1=&quot;481&quot; y1=&quot;234&quot; x2=&quot;481&quot; y2=&quot;256&quot; stroke=&quot;#BD9B56&quot; strokeWidth=&quot;1.5&quot; markerEnd=&quot;url(#ar5)&quot; /&gt;&#10;        &lt;rect x=&quot;358&quot; y=&quot;260&quot; width=&quot;246&quot; height=&quot;54&quot; rx=&quot;8&quot; fill=&quot;rgba(189,155,86,0.10)&quot; stroke=&quot;#BD9B56&quot; strokeWidth=&quot;1.5&quot; /&gt;&#10;        &lt;text x=&quot;481&quot; y=&quot;282&quot; textAnchor=&quot;middle&quot; fontSize=&quot;12&quot; fontWeight=&quot;bold&quot; fill=&quot;#172133&quot;&gt;GLM-4-Flash 生成答案&lt;/text&gt;&#10;        &lt;text x=&quot;481&quot; y=&quot;300&quot; textAnchor=&quot;middle&quot; fontSize=&quot;10&quot; fill=&quot;#5F5E5A&quot;&gt;答案准确率 100%&lt;/text&gt;&#10;        &lt;line x1=&quot;481&quot; y1=&quot;314&quot; x2=&quot;481&quot; y2=&quot;336&quot; stroke=&quot;#BD9B56&quot; strokeWidth=&quot;1.5&quot; markerEnd=&quot;url(#ar5)&quot; /&gt;&#10;        &lt;rect x=&quot;378&quot; y=&quot;340&quot; width=&quot;206&quot; height=&quot;54&quot; rx=&quot;8&quot; fill=&quot;rgba(34,57,94,0.08)&quot; stroke=&quot;#22395E&quot; strokeWidth=&quot;2&quot; /&gt;&#10;        &lt;text x=&quot;481&quot; y=&quot;362&quot; textAnchor=&quot;middle&quot; fontSize=&quot;12&quot; fontWeight=&quot;bold&quot; fill=&quot;#172133&quot;&gt;业主收到答案&lt;/text&gt;&#10;        &lt;text x=&quot;481&quot; y=&quot;380&quot; textAnchor=&quot;middle&quot; fontSize=&quot;10&quot; fill=&quot;#5F5E5A&quot;&gt;「工作日 9:00-12:00」&lt;/text&gt;&#10;        &lt;text x=&quot;90&quot; y=&quot;380&quot; fontSize=&quot;12&quot; fill=&quot;#5F5E5A&quot;&gt;知识缺口 → 人工审核&lt;/text&gt;&#10;        &lt;text x=&quot;90&quot; y=&quot;398&quot; fontSize=&quot;12&quot; fill=&quot;#5F5E5A&quot;&gt;→ 自动入库（自进化）&lt;/text&gt;&#10;        &lt;path d=&quot;M 90 330 C 90 370 30 370 40 340&quot; fill=&quot;none&quot; stroke=&quot;#BD9B56&quot; strokeWidth=&quot;1.2&quot; strokeDasharray=&quot;4 4&quot; /&gt;&#10;      &lt;/g&gt;&#10;    &lt;/svg&gt;&#10;  &lt;/div&gt;&#10;  &lt;div style={{ position: 'absolute', right: 64, top: 150, width: 400, padding: '8px 0', display: 'flex', flexDirection: 'column', gap: 18 }}&gt;&#10;    &lt;div&gt;&#10;      &lt;div style={{ color: '#BD9B56', fontSize: 13, letterSpacing: '0.25em', marginBottom: 6 }}&gt;为什么是「隐性知识」&lt;/div&gt;&#10;      &lt;p style={{ fontSize: 14, color: '#172133', margin: 0, lineHeight: 1.6 }}&gt;施工时间、装修规定、停车规则——这些不在公告栏和费用页，只在员工经验里。&lt;/p&gt;&#10;    &lt;/div&gt;&#10;    &lt;div&gt;&#10;      &lt;div style={{ color: '#BD9B56', fontSize: 13, letterSpacing: '0.25em', marginBottom: 6 }}&gt;自进化闭环&lt;/div&gt;&#10;      &lt;p style={{ fontSize: 14, color: '#172133', margin: 0, lineHeight: 1.6 }}&gt;对话点赞/纠错 → 知识缺口沉淀 → 人工审核 → 自动入库，知识库越用越准。&lt;/p&gt;&#10;    &lt;/div&gt;&#10;    &lt;div style={{ padding: '16px 18px', background: 'rgba(189,155,86,0.12)', borderRadius: 8, borderLeft: '3px solid #BD9B56' }}&gt;&#10;      &lt;p style={{ fontSize: 13, color: '#172133', margin: 0, lineHeight: 1.6 }}&gt;&lt;span style={{ color: '#BD9B56', fontWeight: 'bold' }}&gt;Recall@5 = 100%&lt;/span&gt;：检索到的片段必含答案，答案生成有据可查。&lt;/p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4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AI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能力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09600" y="1428750"/>
            <a:ext cx="628650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" y="1657350"/>
            <a:ext cx="5753100" cy="4000500"/>
          </a:xfrm>
          <a:prstGeom prst="rect">
            <a:avLst/>
          </a:prstGeom>
          <a:ln/>
        </p:spPr>
      </p:pic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772400" y="1504950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为什么是「隐性知识」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772400" y="1714500"/>
            <a:ext cx="3810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施工时间、装修规定、停车规则——这些不在公告栏和费用页，只在员工经验里。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772400" y="2400300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自进化闭环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7772400" y="2609850"/>
            <a:ext cx="3810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对话点赞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知识缺口沉淀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人工审核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自动入库，知识库越用越准。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7800975" y="3295650"/>
            <a:ext cx="3810000" cy="781050"/>
          </a:xfrm>
          <a:prstGeom prst="roundRect">
            <a:avLst>
              <a:gd name="adj" fmla="val 9756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92" name=""/>
          <p:cNvSpPr/>
          <p:nvPr/>
        </p:nvSpPr>
        <p:spPr>
          <a:xfrm rot="0" flipH="0" flipV="0">
            <a:off x="7800975" y="3295650"/>
            <a:ext cx="3810000" cy="781050"/>
          </a:xfrm>
          <a:custGeom>
            <a:pathLst>
              <a:path w="400" h="82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7"/>
                </a:lnTo>
                <a:cubicBezTo>
                  <a:pt x="3" y="79"/>
                  <a:pt x="5" y="81"/>
                  <a:pt x="7" y="82"/>
                </a:cubicBezTo>
                <a:cubicBezTo>
                  <a:pt x="3" y="81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972425" y="3448050"/>
            <a:ext cx="34385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 b="1">
                <a:solidFill>
                  <a:srgbClr val="BD9B56"/>
                </a:solidFill>
                <a:latin typeface="Microsoft YaHei"/>
                <a:ea typeface="Microsoft YaHei"/>
              </a:rPr>
              <a:t>Recall@5 = 100%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：检索到的片段必含答案，答案生成有据可查。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14 / 17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96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3 · 成果&lt;/div&gt;&#10;    &lt;h2 style={{ fontSize: 36, fontWeight: 'bold', color: '#172133', margin: 0 }}&gt;功能链路成果：AI 走完完整流程&lt;/h2&gt;&#10;    &lt;p style={{ fontSize: 14, color: '#5F5E5A', marginTop: 6 }}&gt;三条闭环验证「AI 不是聊天框，而是真正参与业务」&lt;/p&gt;&#10;  &lt;/div&gt;&#10;  &lt;div style={{ position: 'absolute', left: 64, top: 150, right: 64, display: 'flex', gap: 18 }}&gt;&#10;    &lt;div style={{ flex: 1, background: '#fff', borderRadius: 10, padding: '16px 18px', boxShadow: '0 4px 16px rgba(23,33,51,0.06)' }}&gt;&#10;      &lt;div style={{ display: 'flex', alignItems: 'center', gap: 8, marginBottom: 8 }}&gt;&#10;        &lt;span style={{ fontSize: 14, fontWeight: 'bold', color: '#172133' }}&gt;① 报修闭环&lt;/span&gt;&#10;        &lt;span style={{ fontSize: 10, color: '#BD9B56', background: 'rgba(189,155,86,0.12)', padding: '2px 8px', borderRadius: 4 }}&gt;业主 → 师傅&lt;/span&gt;&#10;      &lt;/div&gt;&#10;      &lt;p style={{ fontSize: 12, color: '#5F5E5A', margin: 0, lineHeight: 1.55, marginBottom: 12 }}&gt;AI 对话报修 → 多轮补全 → 技能+在岗自动派单 → 维修 → 双方确认&lt;/p&gt;&#10;      &lt;div style={{ height: 140, border: '2px dashed #BD9B56', borderRadius: 8, background: 'rgba(189,155,86,0.05)', display: 'flex', alignItems: 'center', justifyContent: 'center', color: '#BD9B56', fontSize: 12 }}&gt;此处放「AI 报修对话」截图&lt;/div&gt;&#10;    &lt;/div&gt;&#10;    &lt;div style={{ flex: 1, background: '#fff', borderRadius: 10, padding: '16px 18px', boxShadow: '0 4px 16px rgba(23,33,51,0.06)' }}&gt;&#10;      &lt;div style={{ display: 'flex', alignItems: 'center', gap: 8, marginBottom: 8 }}&gt;&#10;        &lt;span style={{ fontSize: 14, fontWeight: 'bold', color: '#172133' }}&gt;② 巡检告警&lt;/span&gt;&#10;        &lt;span style={{ fontSize: 10, color: '#BD9B56', background: 'rgba(189,155,86,0.12)', padding: '2px 8px', borderRadius: 4 }}&gt;摄像头 → 物业&lt;/span&gt;&#10;      &lt;/div&gt;&#10;      &lt;p style={{ fontSize: 12, color: '#5F5E5A', margin: 0, lineHeight: 1.55, marginBottom: 12 }}&gt;摄像头抓拍 → 视觉识别异常（垃圾堆积/消防堵塞）→ 实时通知物业&lt;/p&gt;&#10;      &lt;div style={{ height: 140, border: '2px dashed #BD9B56', borderRadius: 8, background: 'rgba(189,155,86,0.05)', display: 'flex', alignItems: 'center', justifyContent: 'center', color: '#BD9B56', fontSize: 12 }}&gt;此处放「巡检异常」截图&lt;/div&gt;&#10;    &lt;/div&gt;&#10;    &lt;div style={{ flex: 1, background: '#fff', borderRadius: 10, padding: '16px 18px', boxShadow: '0 4px 16px rgba(23,33,51,0.06)' }}&gt;&#10;      &lt;div style={{ display: 'flex', alignItems: 'center', gap: 8, marginBottom: 8 }}&gt;&#10;        &lt;span style={{ fontSize: 14, fontWeight: 'bold', color: '#172133' }}&gt;③ 反馈自进化&lt;/span&gt;&#10;        &lt;span style={{ fontSize: 10, color: '#BD9B56', background: 'rgba(189,155,86,0.12)', padding: '2px 8px', borderRadius: 4 }}&gt;对话 → 知识库&lt;/span&gt;&#10;      &lt;/div&gt;&#10;      &lt;p style={{ fontSize: 12, color: '#5F5E5A', margin: 0, lineHeight: 1.55, marginBottom: 12 }}&gt;对话点赞/纠错 → 知识缺口沉淀 → 人工审核 → 自动入库&lt;/p&gt;&#10;      &lt;div style={{ height: 140, border: '2px dashed #BD9B56', borderRadius: 8, background: 'rgba(189,155,86,0.05)', display: 'flex', alignItems: 'center', justifyContent: 'center', color: '#BD9B56', fontSize: 12 }}&gt;此处放「知识缺口审核」截图&lt;/div&gt;&#10;    &lt;/div&gt;&#10;  &lt;/div&gt;&#10;  &lt;div style={{ position: 'absolute', left: 64, top: 470, right: 64, background: 'rgba(189,155,86,0.10)', borderLeft: '4px solid #BD9B56', borderRadius: '0 8px 8px 0', padding: '16px 26px' }}&gt;&#10;    &lt;p style={{ fontSize: 14, color: '#172133', margin: 0, lineHeight: 1.6 }}&gt;&lt;span style={{ color: '#BD9B56', fontWeight: 'bold' }}&gt;不只是「回答」：&lt;/span&gt;每一条闭环都走通了真实的数据库写入、状态流转、消息通知——报修真的建了工单、巡检真的通知了物业、反馈真的进了知识库。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5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功能链路成果：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走完完整流程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09600" y="123825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不是聊天框，而是真正参与业务」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09600" y="1428750"/>
            <a:ext cx="354330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81050" y="1581150"/>
            <a:ext cx="714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72133"/>
                </a:solidFill>
                <a:latin typeface="Microsoft YaHei"/>
                <a:ea typeface="Microsoft YaHei"/>
              </a:rPr>
              <a:t>① </a:t>
            </a: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1571625" y="1590675"/>
            <a:ext cx="685800" cy="152400"/>
          </a:xfrm>
          <a:prstGeom prst="roundRect">
            <a:avLst>
              <a:gd name="adj" fmla="val 25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571625" y="1590675"/>
            <a:ext cx="685800" cy="152400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81050" y="1819275"/>
            <a:ext cx="32004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多轮补全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双方确认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781050" y="2362200"/>
            <a:ext cx="3200400" cy="1333500"/>
          </a:xfrm>
          <a:prstGeom prst="roundRect">
            <a:avLst>
              <a:gd name="adj" fmla="val 571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676400" y="2962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4324350" y="1428750"/>
            <a:ext cx="354330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4495800" y="1581150"/>
            <a:ext cx="714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72133"/>
                </a:solidFill>
                <a:latin typeface="Microsoft YaHei"/>
                <a:ea typeface="Microsoft YaHei"/>
              </a:rPr>
              <a:t>② </a:t>
            </a: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286375" y="1590675"/>
            <a:ext cx="781050" cy="152400"/>
          </a:xfrm>
          <a:prstGeom prst="roundRect">
            <a:avLst>
              <a:gd name="adj" fmla="val 25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286375" y="1590675"/>
            <a:ext cx="781050" cy="152400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495800" y="1819275"/>
            <a:ext cx="32004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摄像头抓拍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视觉识别异常（垃圾堆积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消防堵塞）→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实时通知物业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4495800" y="2362200"/>
            <a:ext cx="3200400" cy="1333500"/>
          </a:xfrm>
          <a:prstGeom prst="roundRect">
            <a:avLst>
              <a:gd name="adj" fmla="val 571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467350" y="2962275"/>
            <a:ext cx="1257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此处放「巡检异常」截图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8039100" y="1428750"/>
            <a:ext cx="3543300" cy="22098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210550" y="1581150"/>
            <a:ext cx="847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72133"/>
                </a:solidFill>
                <a:latin typeface="Microsoft YaHei"/>
                <a:ea typeface="Microsoft YaHei"/>
              </a:rPr>
              <a:t>③ </a:t>
            </a: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9134475" y="1590675"/>
            <a:ext cx="781050" cy="152400"/>
          </a:xfrm>
          <a:prstGeom prst="roundRect">
            <a:avLst>
              <a:gd name="adj" fmla="val 25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134475" y="1590675"/>
            <a:ext cx="781050" cy="152400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75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210550" y="1819275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对话点赞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知识缺口沉淀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人工审核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自动入库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8210550" y="2152650"/>
            <a:ext cx="3200400" cy="1333500"/>
          </a:xfrm>
          <a:prstGeom prst="roundRect">
            <a:avLst>
              <a:gd name="adj" fmla="val 571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067800" y="2752725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647700" y="4476750"/>
            <a:ext cx="10972800" cy="561975"/>
          </a:xfrm>
          <a:custGeom>
            <a:pathLst>
              <a:path w="1152" h="59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51"/>
                </a:lnTo>
                <a:cubicBezTo>
                  <a:pt x="1152" y="55"/>
                  <a:pt x="1148" y="59"/>
                  <a:pt x="1144" y="59"/>
                </a:cubicBezTo>
                <a:lnTo>
                  <a:pt x="0" y="59"/>
                </a:lnTo>
                <a:lnTo>
                  <a:pt x="0" y="59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647700" y="4476750"/>
            <a:ext cx="10972800" cy="561975"/>
          </a:xfrm>
          <a:custGeom>
            <a:pathLst>
              <a:path w="1152" h="59">
                <a:moveTo>
                  <a:pt x="4" y="59"/>
                </a:moveTo>
                <a:lnTo>
                  <a:pt x="0" y="59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95350" y="4629150"/>
            <a:ext cx="10439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不只是「回答」：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每一条闭环都走通了真实的数据库写入、状态流转、消息通知——报修真的建了工单、巡检真的通知了物业、反馈真的进了知识库。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15 / 17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27" name="" descr="&lt;Slide style={{ width: '1280px', height: '720px', background: '#FBFCFA', position: 'relative' }}&gt;&#10;  &lt;div style={{ position: 'absolute', left: 64, top: 52, right: 64 }}&gt;&#10;    &lt;div style={{ color: '#BD9B56', fontSize: 16, letterSpacing: '0.3em', marginBottom: 8 }}&gt;03 · 成果&lt;/div&gt;&#10;    &lt;h2 style={{ fontSize: 36, fontWeight: 'bold', color: '#172133', margin: 0 }}&gt;量化评估 · 用数据证明质量&lt;/h2&gt;&#10;    &lt;p style={{ fontSize: 14, color: '#5F5E5A', marginTop: 6 }}&gt;评估驱动优化 · 找到 bug 并修好，让提升看得见&lt;/p&gt;&#10;  &lt;/div&gt;&#10;  &lt;div style={{ position: 'absolute', left: 64, top: 150, right: 64, display: 'flex', gap: 22 }}&gt;&#10;    &lt;div style={{ flex: 1, background: '#fff', borderRadius: 12, padding: '30px 22px', textAlign: 'center', boxShadow: '0 6px 24px rgba(23,33,51,0.08)', borderTop: '4px solid #BD9B56' }}&gt;&#10;      &lt;div style={{ fontSize: 13, color: '#BD9B56', letterSpacing: '0.25em', marginBottom: 12 }}&gt;INTENT&lt;/div&gt;&#10;      &lt;div style={{ fontSize: 88, fontWeight: 'bold', color: '#172133', lineHeight: 1, fontFamily: 'Inter, sans-serif' }}&gt;100%&lt;/div&gt;&#10;      &lt;div style={{ fontSize: 13, color: '#5F5E5A', marginTop: 12, lineHeight: 1.5 }}&gt;意图识别准确率&lt;/div&gt;&#10;      &lt;div style={{ marginTop: 14, padding: '6px 0', borderTop: '1px solid rgba(34,57,94,0.1)' }}&gt;&#10;        &lt;span style={{ fontSize: 12, color: '#888780' }}&gt;从 83% 提升 · 修 3 处规则盲区&lt;/span&gt;&#10;      &lt;/div&gt;&#10;    &lt;/div&gt;&#10;    &lt;div style={{ flex: 1, background: '#fff', borderRadius: 12, padding: '30px 22px', textAlign: 'center', boxShadow: '0 6px 24px rgba(23,33,51,0.08)', borderTop: '4px solid #BD9B56' }}&gt;&#10;      &lt;div style={{ fontSize: 13, color: '#BD9B56', letterSpacing: '0.25em', marginBottom: 12 }}&gt;RAG ANSWER&lt;/div&gt;&#10;      &lt;div style={{ fontSize: 88, fontWeight: 'bold', color: '#172133', lineHeight: 1, fontFamily: 'Inter, sans-serif' }}&gt;100%&lt;/div&gt;&#10;      &lt;div style={{ fontSize: 13, color: '#5F5E5A', marginTop: 12, lineHeight: 1.5 }}&gt;RAG 答案准确率&lt;/div&gt;&#10;      &lt;div style={{ marginTop: 14, padding: '6px 0', borderTop: '1px solid rgba(34,57,94,0.1)' }}&gt;&#10;        &lt;span style={{ fontSize: 12, color: '#888780' }}&gt;从 50% 提升 · 关键词覆盖评估&lt;/span&gt;&#10;      &lt;/div&gt;&#10;    &lt;/div&gt;&#10;    &lt;div style={{ flex: 1, background: 'linear-gradient(135deg, #172133 0%, #22395E 100%)', borderRadius: 12, padding: '30px 22px', textAlign: 'center', boxShadow: '0 6px 24px rgba(23,33,51,0.18)', borderTop: '4px solid #BD9B56' }}&gt;&#10;      &lt;div style={{ fontSize: 13, color: '#BD9B56', letterSpacing: '0.25em', marginBottom: 12 }}&gt;TESTS · CI GREEN&lt;/div&gt;&#10;      &lt;div style={{ fontSize: 64, fontWeight: 'bold', color: '#FBFCFA', lineHeight: 1, fontFamily: 'Inter, sans-serif' }}&gt;&#10;        &lt;span style={{ fontSize: 54 }}&gt;113&lt;/span&gt;&lt;span style={{ fontSize: 32, color: '#BD9B56' }}&gt; + &lt;/span&gt;&lt;span style={{ fontSize: 54 }}&gt;30&lt;/span&gt;&#10;      &lt;/div&gt;&#10;      &lt;div style={{ fontSize: 13, color: 'rgba(251,252,250,0.85)', marginTop: 12, lineHeight: 1.5 }}&gt;后端 + 前端 · 全绿&lt;/div&gt;&#10;      &lt;div style={{ marginTop: 14, padding: '6px 0', borderTop: '1px solid rgba(189,155,86,0.3)' }}&gt;&#10;        &lt;span style={{ fontSize: 12, color: '#BD9B56' }}&gt;GitHub Actions · 每次 push 自动跑&lt;/span&gt;&#10;      &lt;/div&gt;&#10;    &lt;/div&gt;&#10;  &lt;/div&gt;&#10;  &lt;div style={{ position: 'absolute', left: 64, top: 470, right: 64, background: 'rgba(189,155,86,0.10)', borderLeft: '4px solid #BD9B56', borderRadius: '0 8px 8px 0', padding: '18px 26px' }}&gt;&#10;    &lt;div style={{ fontSize: 14, color: '#BD9B56', fontWeight: 'bold', letterSpacing: '0.1em', marginBottom: 6 }}&gt;KEY INSIGHT · 评估驱动优化&lt;/div&gt;&#10;    &lt;p style={{ fontSize: 14, color: '#172133', margin: 0, lineHeight: 1.6 }}&gt;RAG 答案从 50% → 100%，不是换模型，而是修了&lt;span style={{ color: '#BD9B56', fontWeight: 'bold' }}&gt;评估指标本身&lt;/span&gt;（关键词覆盖替代脆弱子串匹配）——用数据找到 bug，用数据证明修复。&lt;/p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6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12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09600" y="762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量化评估</a:t>
            </a:r>
            <a:r>
              <a:rPr lang="en-US" sz="270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72133"/>
                </a:solidFill>
                <a:latin typeface="Microsoft YaHei"/>
                <a:ea typeface="Microsoft YaHei"/>
              </a:rPr>
              <a:t>用数据证明质量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09600" y="123825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评估驱动优化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找到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bug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并修好，让提升看得见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09600" y="1466850"/>
            <a:ext cx="3514725" cy="3228975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609600" y="1466850"/>
            <a:ext cx="3514725" cy="3228975"/>
          </a:xfrm>
          <a:custGeom>
            <a:pathLst>
              <a:path w="369" h="339">
                <a:moveTo>
                  <a:pt x="358" y="0"/>
                </a:moveTo>
                <a:cubicBezTo>
                  <a:pt x="363" y="0"/>
                  <a:pt x="368" y="4"/>
                  <a:pt x="369" y="10"/>
                </a:cubicBezTo>
                <a:cubicBezTo>
                  <a:pt x="368" y="6"/>
                  <a:pt x="365" y="4"/>
                  <a:pt x="36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57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819150" y="1752600"/>
            <a:ext cx="30956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INTENT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19150" y="2019300"/>
            <a:ext cx="3095625" cy="10096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66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19150" y="3143250"/>
            <a:ext cx="309562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意图识别准确率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819150" y="3505200"/>
            <a:ext cx="3095625" cy="276225"/>
          </a:xfrm>
          <a:custGeom>
            <a:pathLst>
              <a:path w="325" h="29">
                <a:moveTo>
                  <a:pt x="0" y="0"/>
                </a:moveTo>
                <a:lnTo>
                  <a:pt x="325" y="0"/>
                </a:lnTo>
                <a:lnTo>
                  <a:pt x="325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19150" y="3571875"/>
            <a:ext cx="309562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从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83%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提升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修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3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处规则盲区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4333875" y="1466850"/>
            <a:ext cx="3524250" cy="3228975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4333875" y="1466850"/>
            <a:ext cx="3524250" cy="3228975"/>
          </a:xfrm>
          <a:custGeom>
            <a:pathLst>
              <a:path w="370" h="339">
                <a:moveTo>
                  <a:pt x="359" y="0"/>
                </a:moveTo>
                <a:cubicBezTo>
                  <a:pt x="364" y="0"/>
                  <a:pt x="369" y="4"/>
                  <a:pt x="370" y="10"/>
                </a:cubicBezTo>
                <a:cubicBezTo>
                  <a:pt x="369" y="6"/>
                  <a:pt x="366" y="4"/>
                  <a:pt x="362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58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543425" y="1752600"/>
            <a:ext cx="31051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ANSWER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543425" y="2019300"/>
            <a:ext cx="3105150" cy="10096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66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543425" y="3143250"/>
            <a:ext cx="310515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RAG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543425" y="3505200"/>
            <a:ext cx="3105150" cy="276225"/>
          </a:xfrm>
          <a:custGeom>
            <a:pathLst>
              <a:path w="326" h="29">
                <a:moveTo>
                  <a:pt x="0" y="0"/>
                </a:moveTo>
                <a:lnTo>
                  <a:pt x="326" y="0"/>
                </a:lnTo>
                <a:lnTo>
                  <a:pt x="326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543425" y="3571875"/>
            <a:ext cx="31051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从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50%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提升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关键词覆盖评估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8067675" y="1466850"/>
            <a:ext cx="3514725" cy="3228975"/>
          </a:xfrm>
          <a:prstGeom prst="roundRect">
            <a:avLst>
              <a:gd name="adj" fmla="val 3540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28600" dist="571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8067675" y="1466850"/>
            <a:ext cx="3514725" cy="3228975"/>
          </a:xfrm>
          <a:custGeom>
            <a:pathLst>
              <a:path w="369" h="339">
                <a:moveTo>
                  <a:pt x="358" y="0"/>
                </a:moveTo>
                <a:cubicBezTo>
                  <a:pt x="363" y="0"/>
                  <a:pt x="368" y="4"/>
                  <a:pt x="369" y="10"/>
                </a:cubicBezTo>
                <a:cubicBezTo>
                  <a:pt x="368" y="6"/>
                  <a:pt x="365" y="4"/>
                  <a:pt x="36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57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8277225" y="1752600"/>
            <a:ext cx="30956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TESTS · CI GREEN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277225" y="2019300"/>
            <a:ext cx="3095625" cy="6191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050">
                <a:solidFill>
                  <a:srgbClr val="FBFCFA"/>
                </a:solidFill>
                <a:latin typeface="Inter"/>
                <a:ea typeface="Inter"/>
              </a:rPr>
              <a:t>113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277225" y="2638425"/>
            <a:ext cx="3095625" cy="3714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400">
                <a:solidFill>
                  <a:srgbClr val="BD9B56"/>
                </a:solidFill>
                <a:latin typeface="Inter"/>
                <a:ea typeface="Inter"/>
              </a:rPr>
              <a:t> + 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277225" y="3009900"/>
            <a:ext cx="3095625" cy="6191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050">
                <a:solidFill>
                  <a:srgbClr val="FBFCFA"/>
                </a:solidFill>
                <a:latin typeface="Inter"/>
                <a:ea typeface="Inter"/>
              </a:rPr>
              <a:t>30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8277225" y="3743325"/>
            <a:ext cx="309562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后端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前端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全绿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8277225" y="4105275"/>
            <a:ext cx="3095625" cy="276225"/>
          </a:xfrm>
          <a:custGeom>
            <a:pathLst>
              <a:path w="325" h="29">
                <a:moveTo>
                  <a:pt x="0" y="0"/>
                </a:moveTo>
                <a:lnTo>
                  <a:pt x="325" y="0"/>
                </a:lnTo>
                <a:lnTo>
                  <a:pt x="325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277225" y="4171950"/>
            <a:ext cx="309562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GitHub Actions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每次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push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47700" y="4476750"/>
            <a:ext cx="10972800" cy="819150"/>
          </a:xfrm>
          <a:custGeom>
            <a:pathLst>
              <a:path w="1152" h="86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78"/>
                </a:lnTo>
                <a:cubicBezTo>
                  <a:pt x="1152" y="82"/>
                  <a:pt x="1148" y="86"/>
                  <a:pt x="1144" y="86"/>
                </a:cubicBezTo>
                <a:lnTo>
                  <a:pt x="0" y="86"/>
                </a:lnTo>
                <a:lnTo>
                  <a:pt x="0" y="8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647700" y="4476750"/>
            <a:ext cx="10972800" cy="819150"/>
          </a:xfrm>
          <a:custGeom>
            <a:pathLst>
              <a:path w="1152" h="86">
                <a:moveTo>
                  <a:pt x="4" y="86"/>
                </a:moveTo>
                <a:lnTo>
                  <a:pt x="0" y="86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95350" y="4648200"/>
            <a:ext cx="1043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KEY INSIGHT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评估驱动优化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95350" y="4867275"/>
            <a:ext cx="10439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答案从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50% → 100%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，不是换模型，而是修了</a:t>
            </a: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评估指标本身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（关键词覆盖替代脆弱子串匹配）——用数据找到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，用数据证明修复。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16 / 17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61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8, marginBottom: 24, letterSpacing: '0.4em' }}&gt;✦&lt;/div&gt;&#10;    &lt;h1 style={{ fontSize: 64, fontWeight: 'bold', margin: 0, color: '#FBFCFA', letterSpacing: '0.12em' }}&gt;感谢聆听&lt;/h1&gt;&#10;    &lt;div style={{ width: 80, height: 3, background: '#BD9B56', marginTop: 28, marginBottom: 28 }} /&gt;&#10;    &lt;p style={{ fontSize: 22, color: 'rgba(189,155,86,0.9)', margin: 0, letterSpacing: '0.15em' }}&gt;让 AI 真正走进社区&lt;/p&gt;&#10;    &lt;div style={{ marginTop: 56, padding: '22px 40px', background: 'rgba(189,155,86,0.08)', border: '1px solid rgba(189,155,86,0.3)', borderRadius: 8, textAlign: 'center' }}&gt;&#10;      &lt;div style={{ fontSize: 13, color: '#BD9B56', letterSpacing: '0.25em', marginBottom: 10 }}&gt;ONLINE DEMO&lt;/div&gt;&#10;      &lt;div style={{ fontSize: 18, color: '#FBFCFA', fontFamily: 'Inter, sans-serif', marginBottom: 4 }}&gt;http://119.91.236.85&lt;/div&gt;&#10;      &lt;div style={{ fontSize: 13, color: 'rgba(251,252,250,0.7)' }}&gt;业主 guoyi378 · 物业 mayun420 · 维修 yangfei423（密码 123456）&lt;/div&gt;&#10;    &lt;/div&gt;&#10;  &lt;/div&gt;&#10;  &lt;div style={{ position: 'absolute', left: 64, bottom: 24, color: '#BD9B56', fontSize: 14, letterSpacing: '0.12em' }}&gt;云溪花园 · 智慧社区&lt;/div&gt;&#10;  &lt;div style={{ position: 'absolute', right: 24, bottom: 24, color: 'rgba(189,155,86,0.75)', fontSize: 14 }}&gt;17 / 17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962650" y="1581150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✦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876800" y="2133600"/>
            <a:ext cx="24384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8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5715000" y="313372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200650" y="3429000"/>
            <a:ext cx="1800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65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65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3790950" y="4219575"/>
            <a:ext cx="4619625" cy="1066800"/>
          </a:xfrm>
          <a:prstGeom prst="roundRect">
            <a:avLst>
              <a:gd name="adj" fmla="val 7143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171950" y="4429125"/>
            <a:ext cx="38576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171950" y="4676775"/>
            <a:ext cx="3857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171950" y="4924425"/>
            <a:ext cx="385762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75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11506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17 / 17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2026-08-18T20:56:59Z</dcterms:created>
  <dcterms:modified xsi:type="dcterms:W3CDTF">2026-08-18T20:56:59Z</dcterms:modified>
</cp:coreProperties>
</file>