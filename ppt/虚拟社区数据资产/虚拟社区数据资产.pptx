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3"/>
  </p:notesMasterIdLst>
  <p:sldIdLst>
    <p:sldId id="256" r:id="rId1"/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notesMaster" Target="notesMasters/notesMaster1.xml" /><Relationship Id="rId4" Type="http://schemas.openxmlformats.org/officeDocument/2006/relationships/presProps" Target="presProps.xml" /><Relationship Id="rId6" Type="http://schemas.openxmlformats.org/officeDocument/2006/relationships/viewProps" Target="viewProps.xml" /><Relationship Id="rId5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'1280px', height: '720px', background: '#FBFCFA', position: 'relative', padding: '32px 64px', boxSizing: 'border-box', display: 'flex', flexDirection: 'column' }}&gt;&#10;  &lt;div style={{ flexShrink: 0 }}&gt;&#10;    &lt;div style={{ color: '#BD9B56', fontSize: 13, letterSpacing: '0.25em', marginBottom: 6 }}&gt;虚拟社区 · 数据资产&lt;/div&gt;&#10;    &lt;h2 style={{ fontSize: 30, fontWeight: 'bold', color: '#172133', margin: 0, lineHeight: 1.3 }}&gt;云溪花园：数据资产全景&lt;/h2&gt;&#10;    &lt;div style={{ fontSize: 14, color: '#6b7075', marginTop: 6 }}&gt;以一个社区为根，向下延伸出空间、人员、业务、知识四类数据资产&lt;/div&gt;&#10;  &lt;/div&gt;&#10;  &lt;div style={{ flex: 1, display: 'flex', alignItems: 'center', justifyContent: 'center' }}&gt;&#10;    &lt;svg width=&quot;1150&quot; height=&quot;470&quot; viewBox=&quot;0 0 1150 470&quot;&gt;&#10;      &lt;g fontFamily=&quot;Inter, sans-serif&quot;&gt;&#10;        &lt;rect x=&quot;450&quot; y=&quot;14&quot; width=&quot;250&quot; height=&quot;58&quot; rx=&quot;10&quot; fill=&quot;#172133&quot; /&gt;&#10;        &lt;text x=&quot;575&quot; y=&quot;38&quot; textAnchor=&quot;middle&quot; fontSize=&quot;15&quot; fontWeight=&quot;bold&quot; fill=&quot;#FBFCFA&quot;&gt;community 云溪花园&lt;/text&gt;&#10;        &lt;text x=&quot;575&quot; y=&quot;58&quot; textAnchor=&quot;middle&quot; fontSize=&quot;11&quot; fill=&quot;#BD9B56&quot;&gt;1 个小区 · 上海浦东张江路1268号&lt;/text&gt;&#10;        &lt;line x1=&quot;575&quot; y1=&quot;72&quot; x2=&quot;575&quot; y2=&quot;92&quot; stroke=&quot;#BD9B56&quot; strokeWidth=&quot;1.5&quot; /&gt;&#10;        &lt;line x1=&quot;150&quot; y1=&quot;92&quot; x2=&quot;1015&quot; y2=&quot;92&quot; stroke=&quot;#BD9B56&quot; strokeWidth=&quot;1.5&quot; /&gt;&#10;        &lt;line x1=&quot;150&quot; y1=&quot;92&quot; x2=&quot;150&quot; y2=&quot;108&quot; stroke=&quot;#BD9B56&quot; strokeWidth=&quot;1.5&quot; /&gt;&#10;        &lt;line x1=&quot;438&quot; y1=&quot;92&quot; x2=&quot;438&quot; y2=&quot;108&quot; stroke=&quot;#BD9B56&quot; strokeWidth=&quot;1.5&quot; /&gt;&#10;        &lt;line x1=&quot;726&quot; y1=&quot;92&quot; x2=&quot;726&quot; y2=&quot;108&quot; stroke=&quot;#BD9B56&quot; strokeWidth=&quot;1.5&quot; /&gt;&#10;        &lt;line x1=&quot;1015&quot; y1=&quot;92&quot; x2=&quot;1015&quot; y2=&quot;108&quot; stroke=&quot;#BD9B56&quot; strokeWidth=&quot;1.5&quot; /&gt;&#10;&#10;        &lt;text x=&quot;150&quot; y=&quot;128&quot; textAnchor=&quot;middle&quot; fontSize=&quot;12&quot; fontWeight=&quot;bold&quot; fill=&quot;#BD9B56&quot;&gt;空间资产&lt;/text&gt;&#10;        &lt;rect x=&quot;20&quot; y=&quot;138&quot; width=&quot;260&quot; height=&quot;56&quot; rx=&quot;8&quot; fill=&quot;rgba(34,57,94,0.06)&quot; stroke=&quot;#22395E&quot; strokeWidth=&quot;1.5&quot; /&gt;&#10;        &lt;text x=&quot;150&quot; y=&quot;162&quot; textAnchor=&quot;middle&quot; fontSize=&quot;14&quot; fontWeight=&quot;bold&quot; fill=&quot;#172133&quot;&gt;building 楼栋 ×8&lt;/text&gt;&#10;        &lt;text x=&quot;150&quot; y=&quot;182&quot; textAnchor=&quot;middle&quot; fontSize=&quot;11&quot; fill=&quot;#5F5E5A&quot;&gt;每栋 26 层 · 2 单元 · 4 户/层&lt;/text&gt;&#10;        &lt;line x1=&quot;150&quot; y1=&quot;194&quot; x2=&quot;150&quot; y2=&quot;206&quot; stroke=&quot;#BD9B56&quot; strokeWidth=&quot;1.2&quot; /&gt;&#10;        &lt;rect x=&quot;20&quot; y=&quot;210&quot; width=&quot;260&quot; height=&quot;56&quot; rx=&quot;8&quot; fill=&quot;rgba(34,57,94,0.06)&quot; stroke=&quot;#22395E&quot; strokeWidth=&quot;1.5&quot; /&gt;&#10;        &lt;text x=&quot;150&quot; y=&quot;234&quot; textAnchor=&quot;middle&quot; fontSize=&quot;14&quot; fontWeight=&quot;bold&quot; fill=&quot;#172133&quot;&gt;house 房屋 ×1664&lt;/text&gt;&#10;        &lt;text x=&quot;150&quot; y=&quot;254&quot; textAnchor=&quot;middle&quot; fontSize=&quot;11&quot; fill=&quot;#5F5E5A&quot;&gt;入住约 1200 户 · 800 车位&lt;/text&gt;&#10;&#10;        &lt;text x=&quot;438&quot; y=&quot;128&quot; textAnchor=&quot;middle&quot; fontSize=&quot;12&quot; fontWeight=&quot;bold&quot; fill=&quot;#BD9B56&quot;&gt;人员资产&lt;/text&gt;&#10;        &lt;rect x=&quot;308&quot; y=&quot;138&quot; width=&quot;260&quot; height=&quot;56&quot; rx=&quot;8&quot; fill=&quot;rgba(189,155,86,0.10)&quot; stroke=&quot;#BD9B56&quot; strokeWidth=&quot;1.5&quot; /&gt;&#10;        &lt;text x=&quot;438&quot; y=&quot;162&quot; textAnchor=&quot;middle&quot; fontSize=&quot;14&quot; fontWeight=&quot;bold&quot; fill=&quot;#172133&quot;&gt;user 业主 ×200&lt;/text&gt;&#10;        &lt;text x=&quot;438&quot; y=&quot;182&quot; textAnchor=&quot;middle&quot; fontSize=&quot;11&quot; fill=&quot;#5F5E5A&quot;&gt;house_binding 绑定 200 套&lt;/text&gt;&#10;        &lt;line x1=&quot;438&quot; y1=&quot;194&quot; x2=&quot;438&quot; y2=&quot;206&quot; stroke=&quot;#BD9B56&quot; strokeWidth=&quot;1.2&quot; /&gt;&#10;        &lt;rect x=&quot;308&quot; y=&quot;210&quot; width=&quot;260&quot; height=&quot;56&quot; rx=&quot;8&quot; fill=&quot;rgba(189,155,86,0.10)&quot; stroke=&quot;#BD9B56&quot; strokeWidth=&quot;1.5&quot; /&gt;&#10;        &lt;text x=&quot;438&quot; y=&quot;234&quot; textAnchor=&quot;middle&quot; fontSize=&quot;14&quot; fontWeight=&quot;bold&quot; fill=&quot;#172133&quot;&gt;worker 物业 ×75&lt;/text&gt;&#10;        &lt;text x=&quot;438&quot; y=&quot;254&quot; textAnchor=&quot;middle&quot; fontSize=&quot;11&quot; fill=&quot;#5F5E5A&quot;&gt;10 管理 / 15 维修 / 50 一线&lt;/text&gt;&#10;&#10;        &lt;text x=&quot;726&quot; y=&quot;128&quot; textAnchor=&quot;middle&quot; fontSize=&quot;12&quot; fontWeight=&quot;bold&quot; fill=&quot;#BD9B56&quot;&gt;业务数据&lt;/text&gt;&#10;        &lt;rect x=&quot;596&quot; y=&quot;138&quot; width=&quot;260&quot; height=&quot;40&quot; rx=&quot;8&quot; fill=&quot;rgba(34,57,94,0.06)&quot; stroke=&quot;#22395E&quot; strokeWidth=&quot;1.5&quot; /&gt;&#10;        &lt;text x=&quot;726&quot; y=&quot;163&quot; textAnchor=&quot;middle&quot; fontSize=&quot;13&quot; fontWeight=&quot;bold&quot; fill=&quot;#172133&quot;&gt;repair_order 工单 ×50&lt;/text&gt;&#10;        &lt;rect x=&quot;596&quot; y=&quot;186&quot; width=&quot;260&quot; height=&quot;40&quot; rx=&quot;8&quot; fill=&quot;rgba(34,57,94,0.06)&quot; stroke=&quot;#22395E&quot; strokeWidth=&quot;1.5&quot; /&gt;&#10;        &lt;text x=&quot;726&quot; y=&quot;211&quot; textAnchor=&quot;middle&quot; fontSize=&quot;13&quot; fontWeight=&quot;bold&quot; fill=&quot;#172133&quot;&gt;fee_bill 账单 ×746&lt;/text&gt;&#10;        &lt;rect x=&quot;596&quot; y=&quot;234&quot; width=&quot;260&quot; height=&quot;40&quot; rx=&quot;8&quot; fill=&quot;rgba(34,57,94,0.06)&quot; stroke=&quot;#22395E&quot; strokeWidth=&quot;1.5&quot; /&gt;&#10;        &lt;text x=&quot;726&quot; y=&quot;259&quot; textAnchor=&quot;middle&quot; fontSize=&quot;13&quot; fontWeight=&quot;bold&quot; fill=&quot;#172133&quot;&gt;notice 公告 ×24&lt;/text&gt;&#10;&#10;        &lt;text x=&quot;1015&quot; y=&quot;128&quot; textAnchor=&quot;middle&quot; fontSize=&quot;12&quot; fontWeight=&quot;bold&quot; fill=&quot;#BD9B56&quot;&gt;知识资产&lt;/text&gt;&#10;        &lt;rect x=&quot;885&quot; y=&quot;138&quot; width=&quot;260&quot; height=&quot;56&quot; rx=&quot;8&quot; fill=&quot;#22395E&quot; /&gt;&#10;        &lt;text x=&quot;1015&quot; y=&quot;162&quot; textAnchor=&quot;middle&quot; fontSize=&quot;14&quot; fontWeight=&quot;bold&quot; fill=&quot;#FBFCFA&quot;&gt;knowledge 文档 ×22&lt;/text&gt;&#10;        &lt;text x=&quot;1015&quot; y=&quot;182&quot; textAnchor=&quot;middle&quot; fontSize=&quot;11&quot; fill=&quot;#BD9B56&quot;&gt;7 个分类（规约/装修/停车…）&lt;/text&gt;&#10;        &lt;line x1=&quot;1015&quot; y1=&quot;194&quot; x2=&quot;1015&quot; y2=&quot;206&quot; stroke=&quot;#BD9B56&quot; strokeWidth=&quot;1.2&quot; /&gt;&#10;        &lt;rect x=&quot;885&quot; y=&quot;210&quot; width=&quot;260&quot; height=&quot;56&quot; rx=&quot;8&quot; fill=&quot;rgba(34,57,94,0.06)&quot; stroke=&quot;#BD9B56&quot; strokeWidth=&quot;1.5&quot; /&gt;&#10;        &lt;text x=&quot;1015&quot; y=&quot;234&quot; textAnchor=&quot;middle&quot; fontSize=&quot;14&quot; fontWeight=&quot;bold&quot; fill=&quot;#172133&quot;&gt;chunk 切片 ×99&lt;/text&gt;&#10;        &lt;text x=&quot;1015&quot; y=&quot;254&quot; textAnchor=&quot;middle&quot; fontSize=&quot;11&quot; fill=&quot;#5F5E5A&quot;&gt;pgvector 1024 维向量&lt;/text&gt;&#10;&#10;        &lt;rect x=&quot;300&quot; y=&quot;290&quot; width=&quot;550&quot; height=&quot;48&quot; rx=&quot;8&quot; fill=&quot;rgba(189,155,86,0.10)&quot; /&gt;&#10;        &lt;text x=&quot;575&quot; y=&quot;318&quot; textAnchor=&quot;middle&quot; fontSize=&quot;12&quot; fill=&quot;#172133&quot;&gt;repair_order → user + house + worker · fee_bill → house + user · 外键关联&lt;/text&gt;&#10;        &lt;text x=&quot;575&quot; y=&quot;334&quot; textAnchor=&quot;middle&quot; fontSize=&quot;11&quot; fill=&quot;#5F5E5A&quot;&gt;8 个 SQL 种子文件 · 一键导入可复现&lt;/text&gt;&#10;      &lt;/g&gt;&#10;    &lt;/svg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1 / 2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虚拟社区</a:t>
            </a: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数据资产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云溪花园：数据资产全景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以一个社区为根，向下延伸出空间、人员、业务、知识四类数据资产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1438275"/>
            <a:ext cx="1095375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325225" y="6410325"/>
            <a:ext cx="257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1 / 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" name="" descr="&lt;Slide style={{ width: '1280px', height: '720px', background: '#FBFCFA', position: 'relative', padding: '32px 64px', boxSizing: 'border-box', display: 'flex', flexDirection: 'column' }}&gt;&#10;  &lt;div style={{ flexShrink: 0 }}&gt;&#10;    &lt;div style={{ color: '#BD9B56', fontSize: 13, letterSpacing: '0.25em', marginBottom: 6 }}&gt;虚拟社区 · 数据库设计&lt;/div&gt;&#10;    &lt;h2 style={{ fontSize: 30, fontWeight: 'bold', color: '#172133', margin: 0, lineHeight: 1.3 }}&gt;数据库 ER 图（21 张表 · 5 个业务域）&lt;/h2&gt;&#10;    &lt;div style={{ fontSize: 14, color: '#6b7075', marginTop: 6 }}&gt;箭头表示外键关系 · 灰底为空间链 · 金底为人员 · 深蓝为知识&lt;/div&gt;&#10;  &lt;/div&gt;&#10;  &lt;div style={{ flex: 1, display: 'flex', alignItems: 'center', justifyContent: 'center' }}&gt;&#10;    &lt;svg width=&quot;1150&quot; height=&quot;470&quot; viewBox=&quot;0 0 1150 470&quot;&gt;&#10;      &lt;g fontFamily=&quot;Inter, sans-serif&quot;&gt;&#10;        {/* ===== 空间域 ===== */}&#10;        &lt;rect x=&quot;14&quot; y=&quot;18&quot; width=&quot;350&quot; height=&quot;210&quot; rx=&quot;10&quot; fill=&quot;rgba(34,57,94,0.04)&quot; stroke=&quot;#22395E&quot; strokeWidth=&quot;1&quot; /&gt;&#10;        &lt;text x=&quot;30&quot; y=&quot;42&quot; fontSize=&quot;12&quot; fontWeight=&quot;bold&quot; fill=&quot;#BD9B56&quot;&gt;空间域&lt;/text&gt;&#10;        &lt;rect x=&quot;70&quot; y=&quot;56&quot; width=&quot;200&quot; height=&quot;42&quot; rx=&quot;8&quot; fill=&quot;#172133&quot; /&gt;&#10;        &lt;text x=&quot;170&quot; y=&quot;81&quot; textAnchor=&quot;middle&quot; fontSize=&quot;14&quot; fontWeight=&quot;bold&quot; fill=&quot;#FBFCFA&quot;&gt;community&lt;/text&gt;&#10;        &lt;line x1=&quot;170&quot; y1=&quot;98&quot; x2=&quot;170&quot; y2=&quot;112&quot; stroke=&quot;#BD9B56&quot; strokeWidth=&quot;1.3&quot; /&gt;&#10;        &lt;rect x=&quot;70&quot; y=&quot;116&quot; width=&quot;200&quot; height=&quot;42&quot; rx=&quot;8&quot; fill=&quot;rgba(34,57,94,0.06)&quot; stroke=&quot;#22395E&quot; strokeWidth=&quot;1.5&quot; /&gt;&#10;        &lt;text x=&quot;170&quot; y=&quot;141&quot; textAnchor=&quot;middle&quot; fontSize=&quot;14&quot; fontWeight=&quot;bold&quot; fill=&quot;#172133&quot;&gt;building ×8&lt;/text&gt;&#10;        &lt;line x1=&quot;170&quot; y1=&quot;158&quot; x2=&quot;170&quot; y2=&quot;172&quot; stroke=&quot;#BD9B56&quot; strokeWidth=&quot;1.3&quot; /&gt;&#10;        &lt;rect x=&quot;70&quot; y=&quot;176&quot; width=&quot;200&quot; height=&quot;42&quot; rx=&quot;8&quot; fill=&quot;rgba(34,57,94,0.06)&quot; stroke=&quot;#22395E&quot; strokeWidth=&quot;1.5&quot; /&gt;&#10;        &lt;text x=&quot;170&quot; y=&quot;201&quot; textAnchor=&quot;middle&quot; fontSize=&quot;14&quot; fontWeight=&quot;bold&quot; fill=&quot;#172133&quot;&gt;house ×1664&lt;/text&gt;&#10;&#10;        {/* ===== 人员域 ===== */}&#10;        &lt;rect x=&quot;380&quot; y=&quot;18&quot; width=&quot;350&quot; height=&quot;210&quot; rx=&quot;10&quot; fill=&quot;rgba(189,155,86,0.06)&quot; stroke=&quot;#BD9B56&quot; strokeWidth=&quot;1&quot; /&gt;&#10;        &lt;text x=&quot;396&quot; y=&quot;42&quot; fontSize=&quot;12&quot; fontWeight=&quot;bold&quot; fill=&quot;#BD9B56&quot;&gt;人员域&lt;/text&gt;&#10;        &lt;rect x=&quot;455&quot; y=&quot;56&quot; width=&quot;200&quot; height=&quot;42&quot; rx=&quot;8&quot; fill=&quot;rgba(189,155,86,0.12)&quot; stroke=&quot;#BD9B56&quot; strokeWidth=&quot;1.5&quot; /&gt;&#10;        &lt;text x=&quot;555&quot; y=&quot;81&quot; textAnchor=&quot;middle&quot; fontSize=&quot;14&quot; fontWeight=&quot;bold&quot; fill=&quot;#172133&quot;&gt;user ×200&lt;/text&gt;&#10;        &lt;line x1=&quot;555&quot; y1=&quot;98&quot; x2=&quot;555&quot; y2=&quot;112&quot; stroke=&quot;#BD9B56&quot; strokeWidth=&quot;1.3&quot; /&gt;&#10;        &lt;line x1=&quot;455&quot; y1=&quot;112&quot; x2=&quot;655&quot; y2=&quot;112&quot; stroke=&quot;#BD9B56&quot; strokeWidth=&quot;1.3&quot; /&gt;&#10;        &lt;rect x=&quot;455&quot; y=&quot;116&quot; width=&quot;95&quot; height=&quot;42&quot; rx=&quot;8&quot; fill=&quot;rgba(189,155,86,0.12)&quot; stroke=&quot;#BD9B56&quot; strokeWidth=&quot;1.5&quot; /&gt;&#10;        &lt;text x=&quot;502&quot; y=&quot;141&quot; textAnchor=&quot;middle&quot; fontSize=&quot;12&quot; fontWeight=&quot;bold&quot; fill=&quot;#172133&quot;&gt;worker ×75&lt;/text&gt;&#10;        &lt;rect x=&quot;560&quot; y=&quot;116&quot; width=&quot;95&quot; height=&quot;42&quot; rx=&quot;8&quot; fill=&quot;rgba(189,155,86,0.12)&quot; stroke=&quot;#BD9B56&quot; strokeWidth=&quot;1.5&quot; /&gt;&#10;        &lt;text x=&quot;607&quot; y=&quot;141&quot; textAnchor=&quot;middle&quot; fontSize=&quot;11&quot; fontWeight=&quot;bold&quot; fill=&quot;#172133&quot;&gt;house_binding&lt;/text&gt;&#10;        &lt;line x1=&quot;607&quot; y1=&quot;158&quot; x2=&quot;607&quot; y2=&quot;176&quot; stroke=&quot;#BD9B56&quot; strokeWidth=&quot;1.2&quot; /&gt;&#10;        &lt;line x1=&quot;607&quot; y1=&quot;176&quot; x2=&quot;607&quot; y2=&quot;176&quot; stroke=&quot;#BD9B56&quot; strokeWidth=&quot;0&quot; /&gt;&#10;        &lt;text x=&quot;555&quot; y=&quot;188&quot; textAnchor=&quot;middle&quot; fontSize=&quot;10&quot; fill=&quot;#5F5E5A&quot;&gt;user 1—1 worker · user 1—N binding&lt;/text&gt;&#10;&#10;        {/* ===== 业务域 ===== */}&#10;        &lt;rect x=&quot;746&quot; y=&quot;18&quot; width=&quot;390&quot; height=&quot;210&quot; rx=&quot;10&quot; fill=&quot;rgba(34,57,94,0.04)&quot; stroke=&quot;#22395E&quot; strokeWidth=&quot;1&quot; /&gt;&#10;        &lt;text x=&quot;762&quot; y=&quot;42&quot; fontSize=&quot;12&quot; fontWeight=&quot;bold&quot; fill=&quot;#BD9B56&quot;&gt;业务域&lt;/text&gt;&#10;        &lt;rect x=&quot;800&quot; y=&quot;56&quot; width=&quot;160&quot; height=&quot;42&quot; rx=&quot;8&quot; fill=&quot;rgba(34,57,94,0.08)&quot; stroke=&quot;#22395E&quot; strokeWidth=&quot;1.5&quot; /&gt;&#10;        &lt;text x=&quot;880&quot; y=&quot;81&quot; textAnchor=&quot;middle&quot; fontSize=&quot;13&quot; fontWeight=&quot;bold&quot; fill=&quot;#172133&quot;&gt;repair_order ×50&lt;/text&gt;&#10;        &lt;line x1=&quot;880&quot; y1=&quot;98&quot; x2=&quot;880&quot; y2=&quot;110&quot; stroke=&quot;#BD9B56&quot; strokeWidth=&quot;1.2&quot; /&gt;&#10;        &lt;rect x=&quot;800&quot; y=&quot;114&quot; width=&quot;160&quot; height=&quot;38&quot; rx=&quot;8&quot; fill=&quot;rgba(34,57,94,0.06)&quot; stroke=&quot;#22395E&quot; strokeWidth=&quot;1.5&quot; /&gt;&#10;        &lt;text x=&quot;880&quot; y=&quot;137&quot; textAnchor=&quot;middle&quot; fontSize=&quot;12&quot; fontWeight=&quot;bold&quot; fill=&quot;#172133&quot;&gt;repair_record&lt;/text&gt;&#10;        &lt;rect x=&quot;980&quot; y=&quot;56&quot; width=&quot;140&quot; height=&quot;38&quot; rx=&quot;8&quot; fill=&quot;rgba(34,57,94,0.06)&quot; stroke=&quot;#22395E&quot; strokeWidth=&quot;1.5&quot; /&gt;&#10;        &lt;text x=&quot;1050&quot; y=&quot;79&quot; textAnchor=&quot;middle&quot; fontSize=&quot;13&quot; fontWeight=&quot;bold&quot; fill=&quot;#172133&quot;&gt;fee_bill ×746&lt;/text&gt;&#10;        &lt;rect x=&quot;980&quot; y=&quot;104&quot; width=&quot;140&quot; height=&quot;38&quot; rx=&quot;8&quot; fill=&quot;rgba(34,57,94,0.06)&quot; stroke=&quot;#22395E&quot; strokeWidth=&quot;1.5&quot; /&gt;&#10;        &lt;text x=&quot;1050&quot; y=&quot;127&quot; textAnchor=&quot;middle&quot; fontSize=&quot;13&quot; fontWeight=&quot;bold&quot; fill=&quot;#172133&quot;&gt;notice ×24&lt;/text&gt;&#10;        &lt;rect x=&quot;980&quot; y=&quot;152&quot; width=&quot;140&quot; height=&quot;38&quot; rx=&quot;8&quot; fill=&quot;rgba(34,57,94,0.06)&quot; stroke=&quot;#22395E&quot; strokeWidth=&quot;1.5&quot; /&gt;&#10;        &lt;text x=&quot;1050&quot; y=&quot;175&quot; textAnchor=&quot;middle&quot; fontSize=&quot;12&quot; fontWeight=&quot;bold&quot; fill=&quot;#172133&quot;&gt;issue_report&lt;/text&gt;&#10;        &lt;text x=&quot;880&quot; y=&quot;188&quot; textAnchor=&quot;middle&quot; fontSize=&quot;10&quot; fill=&quot;#5F5E5A&quot;&gt;order → user/house/worker&lt;/text&gt;&#10;&#10;        {/* ===== AI / 知识域 ===== */}&#10;        &lt;rect x=&quot;14&quot; y=&quot;244&quot; width=&quot;560&quot; height=&quot;210&quot; rx=&quot;10&quot; fill=&quot;rgba(34,57,94,0.04)&quot; stroke=&quot;#22395E&quot; strokeWidth=&quot;1&quot; /&gt;&#10;        &lt;text x=&quot;30&quot; y=&quot;268&quot; fontSize=&quot;12&quot; fontWeight=&quot;bold&quot; fill=&quot;#BD9B56&quot;&gt;AI / 知识域&lt;/text&gt;&#10;        &lt;rect x=&quot;60&quot; y=&quot;282&quot; width=&quot;180&quot; height=&quot;42&quot; rx=&quot;8&quot; fill=&quot;rgba(34,57,94,0.06)&quot; stroke=&quot;#22395E&quot; strokeWidth=&quot;1.5&quot; /&gt;&#10;        &lt;text x=&quot;150&quot; y=&quot;307&quot; textAnchor=&quot;middle&quot; fontSize=&quot;13&quot; fontWeight=&quot;bold&quot; fill=&quot;#172133&quot;&gt;conversation&lt;/text&gt;&#10;        &lt;line x1=&quot;150&quot; y1=&quot;324&quot; x2=&quot;150&quot; y2=&quot;336&quot; stroke=&quot;#BD9B56&quot; strokeWidth=&quot;1.2&quot; /&gt;&#10;        &lt;line x1=&quot;80&quot; y1=&quot;336&quot; x2=&quot;310&quot; y2=&quot;336&quot; stroke=&quot;#BD9B56&quot; strokeWidth=&quot;1.2&quot; /&gt;&#10;        &lt;rect x=&quot;60&quot; y=&quot;340&quot; width=&quot;80&quot; height=&quot;38&quot; rx=&quot;6&quot; fill=&quot;rgba(34,57,94,0.06)&quot; stroke=&quot;#22395E&quot; strokeWidth=&quot;1.5&quot; /&gt;&#10;        &lt;text x=&quot;100&quot; y=&quot;363&quot; textAnchor=&quot;middle&quot; fontSize=&quot;11&quot; fontWeight=&quot;bold&quot; fill=&quot;#172133&quot;&gt;message&lt;/text&gt;&#10;        &lt;rect x=&quot;150&quot; y=&quot;340&quot; width=&quot;80&quot; height=&quot;38&quot; rx=&quot;6&quot; fill=&quot;rgba(34,57,94,0.06)&quot; stroke=&quot;#22395E&quot; strokeWidth=&quot;1.5&quot; /&gt;&#10;        &lt;text x=&quot;190&quot; y=&quot;363&quot; textAnchor=&quot;middle&quot; fontSize=&quot;11&quot; fontWeight=&quot;bold&quot; fill=&quot;#172133&quot;&gt;agent_trace&lt;/text&gt;&#10;        &lt;rect x=&quot;240&quot; y=&quot;340&quot; width=&quot;90&quot; height=&quot;38&quot; rx=&quot;6&quot; fill=&quot;rgba(34,57,94,0.06)&quot; stroke=&quot;#22395E&quot; strokeWidth=&quot;1.5&quot; /&gt;&#10;        &lt;text x=&quot;285&quot; y=&quot;363&quot; textAnchor=&quot;middle&quot; fontSize=&quot;10&quot; fontWeight=&quot;bold&quot; fill=&quot;#172133&quot;&gt;msg_feedback&lt;/text&gt;&#10;        &lt;rect x=&quot;380&quot; y=&quot;282&quot; width=&quot;180&quot; height=&quot;42&quot; rx=&quot;8&quot; fill=&quot;#22395E&quot; /&gt;&#10;        &lt;text x=&quot;470&quot; y=&quot;307&quot; textAnchor=&quot;middle&quot; fontSize=&quot;13&quot; fontWeight=&quot;bold&quot; fill=&quot;#FBFCFA&quot;&gt;knowledge_document ×22&lt;/text&gt;&#10;        &lt;line x1=&quot;470&quot; y1=&quot;324&quot; x2=&quot;470&quot; y2=&quot;340&quot; stroke=&quot;#BD9B56&quot; strokeWidth=&quot;1.2&quot; /&gt;&#10;        &lt;rect x=&quot;380&quot; y=&quot;340&quot; width=&quot;180&quot; height=&quot;42&quot; rx=&quot;8&quot; fill=&quot;rgba(34,57,94,0.06)&quot; stroke=&quot;#BD9B56&quot; strokeWidth=&quot;1.5&quot; /&gt;&#10;        &lt;text x=&quot;470&quot; y=&quot;365&quot; textAnchor=&quot;middle&quot; fontSize=&quot;13&quot; fontWeight=&quot;bold&quot; fill=&quot;#172133&quot;&gt;knowledge_chunk ×99&lt;/text&gt;&#10;&#10;        {/* ===== 巡检 / 通知域 ===== */}&#10;        &lt;rect x=&quot;590&quot; y=&quot;244&quot; width=&quot;546&quot; height=&quot;210&quot; rx=&quot;10&quot; fill=&quot;rgba(189,155,86,0.06)&quot; stroke=&quot;#BD9B56&quot; strokeWidth=&quot;1&quot; /&gt;&#10;        &lt;text x=&quot;606&quot; y=&quot;268&quot; fontSize=&quot;12&quot; fontWeight=&quot;bold&quot; fill=&quot;#BD9B56&quot;&gt;巡检 / 通知域&lt;/text&gt;&#10;        &lt;rect x=&quot;640&quot; y=&quot;282&quot; width=&quot;180&quot; height=&quot;42&quot; rx=&quot;8&quot; fill=&quot;rgba(189,155,86,0.10)&quot; stroke=&quot;#BD9B56&quot; strokeWidth=&quot;1.5&quot; /&gt;&#10;        &lt;text x=&quot;730&quot; y=&quot;307&quot; textAnchor=&quot;middle&quot; fontSize=&quot;13&quot; fontWeight=&quot;bold&quot; fill=&quot;#172133&quot;&gt;inspection_camera&lt;/text&gt;&#10;        &lt;line x1=&quot;730&quot; y1=&quot;324&quot; x2=&quot;730&quot; y2=&quot;340&quot; stroke=&quot;#BD9B56&quot; strokeWidth=&quot;1.2&quot; /&gt;&#10;        &lt;rect x=&quot;640&quot; y=&quot;340&quot; width=&quot;180&quot; height=&quot;42&quot; rx=&quot;8&quot; fill=&quot;rgba(189,155,86,0.10)&quot; stroke=&quot;#BD9B56&quot; strokeWidth=&quot;1.5&quot; /&gt;&#10;        &lt;text x=&quot;730&quot; y=&quot;365&quot; textAnchor=&quot;middle&quot; fontSize=&quot;12&quot; fontWeight=&quot;bold&quot; fill=&quot;#172133&quot;&gt;inspection_record&lt;/text&gt;&#10;        &lt;rect x=&quot;850&quot; y=&quot;282&quot; width=&quot;160&quot; height=&quot;42&quot; rx=&quot;8&quot; fill=&quot;rgba(189,155,86,0.10)&quot; stroke=&quot;#BD9B56&quot; strokeWidth=&quot;1.5&quot; /&gt;&#10;        &lt;text x=&quot;930&quot; y=&quot;307&quot; textAnchor=&quot;middle&quot; fontSize=&quot;13&quot; fontWeight=&quot;bold&quot; fill=&quot;#172133&quot;&gt;notification&lt;/text&gt;&#10;        &lt;rect x=&quot;850&quot; y=&quot;340&quot; width=&quot;160&quot; height=&quot;42&quot; rx=&quot;8&quot; fill=&quot;rgba(189,155,86,0.10)&quot; stroke=&quot;#BD9B56&quot; strokeWidth=&quot;1.5&quot; /&gt;&#10;        &lt;text x=&quot;930&quot; y=&quot;365&quot; textAnchor=&quot;middle&quot; fontSize=&quot;12&quot; fontWeight=&quot;bold&quot; fill=&quot;#172133&quot;&gt;knowledge_gap&lt;/text&gt;&#10;&#10;        {/* ===== 跨域关系（关键外键）===== */}&#10;        &lt;line x1=&quot;270&quot; y1=&quot;197&quot; x2=&quot;800&quot; y2=&quot;77&quot; stroke=&quot;#BD9B56&quot; strokeWidth=&quot;1&quot; strokeDasharray=&quot;3 3&quot; /&gt;&#10;        &lt;line x1=&quot;607&quot; y1=&quot;116&quot; x2=&quot;607&quot; y2=&quot;77&quot; stroke=&quot;#BD9B56&quot; strokeWidth=&quot;0&quot; /&gt;&#10;        &lt;text x=&quot;520&quot; y=&quot;100&quot; fontSize=&quot;9&quot; fill=&quot;#a09b8c&quot;&gt;house → repair_order / fee_bill&lt;/text&gt;&#10;      &lt;/g&gt;&#10;    &lt;/svg&gt;&#10;  &lt;/div&gt;&#10;  &lt;div style={{ flexShrink: 0, height: 40, display: 'flex', alignItems: 'flex-end', justifyContent: 'space-between' }}&gt;&#10;    &lt;span style={{ color: '#BD9B56', fontSize: 12, letterSpacing: '0.1em' }}&gt;云溪花园 · 智慧社区&lt;/span&gt;&#10;    &lt;span style={{ color: '#a09b8c', fontSize: 12 }}&gt;2 / 2&lt;/span&gt;&#10;  &lt;/div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CFA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虚拟社区</a:t>
            </a:r>
            <a:r>
              <a:rPr lang="en-US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75" spc="-9223372036854775808">
                <a:solidFill>
                  <a:srgbClr val="BD9B56"/>
                </a:solidFill>
                <a:latin typeface="Microsoft YaHei"/>
                <a:ea typeface="Microsoft YaHei"/>
              </a:rPr>
              <a:t>数据库设计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数据库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ER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图（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21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张表</a:t>
            </a:r>
            <a:r>
              <a:rPr lang="en-US" sz="2250" b="1">
                <a:solidFill>
                  <a:srgbClr val="172133"/>
                </a:solidFill>
                <a:latin typeface="Microsoft YaHei"/>
                <a:ea typeface="Microsoft YaHei"/>
              </a:rPr>
              <a:t> · 5 </a:t>
            </a:r>
            <a:r>
              <a:rPr lang="zh-CN" sz="2250" b="1">
                <a:solidFill>
                  <a:srgbClr val="172133"/>
                </a:solidFill>
                <a:latin typeface="Microsoft YaHei"/>
                <a:ea typeface="Microsoft YaHei"/>
              </a:rPr>
              <a:t>个业务域）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箭头表示外键关系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灰底为空间链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金底为人员</a:t>
            </a:r>
            <a:r>
              <a:rPr lang="en-US" sz="1050">
                <a:solidFill>
                  <a:srgbClr val="6B70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075"/>
                </a:solidFill>
                <a:latin typeface="Microsoft YaHei"/>
                <a:ea typeface="Microsoft YaHei"/>
              </a:rPr>
              <a:t>深蓝为知识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1438275"/>
            <a:ext cx="10953750" cy="44767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云溪花园</a:t>
            </a:r>
            <a:r>
              <a:rPr lang="en-US" sz="900">
                <a:solidFill>
                  <a:srgbClr val="BD9B56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BD9B56"/>
                </a:solidFill>
                <a:latin typeface="Microsoft YaHei"/>
                <a:ea typeface="Microsoft YaHei"/>
              </a:rPr>
              <a:t>智慧社区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325225" y="6410325"/>
            <a:ext cx="257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9B8C"/>
                </a:solidFill>
                <a:latin typeface="Microsoft YaHei"/>
                <a:ea typeface="Microsoft YaHei"/>
              </a:rPr>
              <a:t>2 / 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2026-08-19T15:11:05Z</dcterms:created>
  <dcterms:modified xsi:type="dcterms:W3CDTF">2026-08-19T15:11:05Z</dcterms:modified>
</cp:coreProperties>
</file>